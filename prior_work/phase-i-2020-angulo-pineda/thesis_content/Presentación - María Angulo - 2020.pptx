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1"/>
  </p:sldMasterIdLst>
  <p:notesMasterIdLst>
    <p:notesMasterId r:id="rId30"/>
  </p:notesMasterIdLst>
  <p:handoutMasterIdLst>
    <p:handoutMasterId r:id="rId31"/>
  </p:handoutMasterIdLst>
  <p:sldIdLst>
    <p:sldId id="2549" r:id="rId2"/>
    <p:sldId id="2552" r:id="rId3"/>
    <p:sldId id="2537" r:id="rId4"/>
    <p:sldId id="2538" r:id="rId5"/>
    <p:sldId id="2570" r:id="rId6"/>
    <p:sldId id="2583" r:id="rId7"/>
    <p:sldId id="2586" r:id="rId8"/>
    <p:sldId id="2571" r:id="rId9"/>
    <p:sldId id="2568" r:id="rId10"/>
    <p:sldId id="2584" r:id="rId11"/>
    <p:sldId id="2582" r:id="rId12"/>
    <p:sldId id="2562" r:id="rId13"/>
    <p:sldId id="2573" r:id="rId14"/>
    <p:sldId id="2585" r:id="rId15"/>
    <p:sldId id="2559" r:id="rId16"/>
    <p:sldId id="2575" r:id="rId17"/>
    <p:sldId id="2561" r:id="rId18"/>
    <p:sldId id="2577" r:id="rId19"/>
    <p:sldId id="2556" r:id="rId20"/>
    <p:sldId id="2579" r:id="rId21"/>
    <p:sldId id="2563" r:id="rId22"/>
    <p:sldId id="2566" r:id="rId23"/>
    <p:sldId id="2578" r:id="rId24"/>
    <p:sldId id="2564" r:id="rId25"/>
    <p:sldId id="2567" r:id="rId26"/>
    <p:sldId id="2574" r:id="rId27"/>
    <p:sldId id="2560" r:id="rId28"/>
    <p:sldId id="2565" r:id="rId29"/>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AE76"/>
    <a:srgbClr val="ABBAD3"/>
    <a:srgbClr val="DDE5F5"/>
    <a:srgbClr val="EFB18A"/>
    <a:srgbClr val="FDE7D9"/>
    <a:srgbClr val="1F2D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4" autoAdjust="0"/>
  </p:normalViewPr>
  <p:slideViewPr>
    <p:cSldViewPr snapToGrid="0">
      <p:cViewPr varScale="1">
        <p:scale>
          <a:sx n="81" d="100"/>
          <a:sy n="81" d="100"/>
        </p:scale>
        <p:origin x="754" y="62"/>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6E8FA38E-9F41-1A45-879F-0B93BA5093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4" name="Marcador de pie de página 3">
            <a:extLst>
              <a:ext uri="{FF2B5EF4-FFF2-40B4-BE49-F238E27FC236}">
                <a16:creationId xmlns:a16="http://schemas.microsoft.com/office/drawing/2014/main" id="{6F016A96-BC72-0640-9AEE-870574F38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9B0B091C-A27C-3C4B-82F1-DDBD9A0282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801FC8B-EC93-C64D-BBD2-37E30DAF45BC}" type="slidenum">
              <a:rPr lang="es-ES" smtClean="0"/>
              <a:t>‹Nº›</a:t>
            </a:fld>
            <a:endParaRPr lang="es-ES" dirty="0"/>
          </a:p>
        </p:txBody>
      </p:sp>
      <p:sp>
        <p:nvSpPr>
          <p:cNvPr id="3" name="Marcador de fecha 2">
            <a:extLst>
              <a:ext uri="{FF2B5EF4-FFF2-40B4-BE49-F238E27FC236}">
                <a16:creationId xmlns:a16="http://schemas.microsoft.com/office/drawing/2014/main" id="{587D4734-4CAE-4B5B-A5BF-2204F73025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B19C2A2-3DDA-4132-9AD9-C6DE057D1346}" type="datetime1">
              <a:rPr lang="es-ES" smtClean="0"/>
              <a:t>14/01/2021</a:t>
            </a:fld>
            <a:endParaRPr lang="es-ES" dirty="0"/>
          </a:p>
        </p:txBody>
      </p:sp>
    </p:spTree>
    <p:extLst>
      <p:ext uri="{BB962C8B-B14F-4D97-AF65-F5344CB8AC3E}">
        <p14:creationId xmlns:p14="http://schemas.microsoft.com/office/powerpoint/2010/main" val="39608117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C22218-7B42-4B43-ACDA-4F847E72FA71}" type="datetime1">
              <a:rPr lang="es-ES" smtClean="0"/>
              <a:pPr/>
              <a:t>14/01/2021</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7D111EE-B1CE-3F40-8B0E-AB6A92B85452}" type="slidenum">
              <a:rPr lang="es-ES" noProof="0" smtClean="0"/>
              <a:t>‹Nº›</a:t>
            </a:fld>
            <a:endParaRPr lang="es-ES" noProof="0" dirty="0"/>
          </a:p>
        </p:txBody>
      </p:sp>
    </p:spTree>
    <p:extLst>
      <p:ext uri="{BB962C8B-B14F-4D97-AF65-F5344CB8AC3E}">
        <p14:creationId xmlns:p14="http://schemas.microsoft.com/office/powerpoint/2010/main" val="165684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La epilepsia se define como un trastorno neuronal crónico, que consiste en episodios de descargas eléctricas bruscas, espontáneas, recurrentes e incontrolables en el cerebro, llamados convulsiones o crisis epilépticas. </a:t>
            </a:r>
            <a:endParaRPr lang="es-ES" dirty="0"/>
          </a:p>
        </p:txBody>
      </p:sp>
      <p:sp>
        <p:nvSpPr>
          <p:cNvPr id="4" name="Marcador de posición de número de diapositiva 3"/>
          <p:cNvSpPr>
            <a:spLocks noGrp="1"/>
          </p:cNvSpPr>
          <p:nvPr>
            <p:ph type="sldNum" sz="quarter" idx="10"/>
          </p:nvPr>
        </p:nvSpPr>
        <p:spPr/>
        <p:txBody>
          <a:bodyPr rtlCol="0"/>
          <a:lstStyle/>
          <a:p>
            <a:pPr rtl="0"/>
            <a:fld id="{07D111EE-B1CE-3F40-8B0E-AB6A92B85452}" type="slidenum">
              <a:rPr lang="es-ES" smtClean="0"/>
              <a:t>1</a:t>
            </a:fld>
            <a:endParaRPr lang="es-ES" dirty="0"/>
          </a:p>
        </p:txBody>
      </p:sp>
    </p:spTree>
    <p:extLst>
      <p:ext uri="{BB962C8B-B14F-4D97-AF65-F5344CB8AC3E}">
        <p14:creationId xmlns:p14="http://schemas.microsoft.com/office/powerpoint/2010/main" val="1850348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El siguiente trabajo de graduación tiene como objetivo analizar señales biomédicas de pacientes con epilepsia con el fin de encontrar características y patrones que detecten la presencia de crisis en estas señales.</a:t>
            </a:r>
          </a:p>
          <a:p>
            <a:pPr rtl="0"/>
            <a:endParaRPr lang="es-MX" dirty="0"/>
          </a:p>
          <a:p>
            <a:pPr rtl="0"/>
            <a:r>
              <a:rPr lang="es-MX" dirty="0"/>
              <a:t>Para ello se utilizan dos bases de datos de señales EEG de dominio público y una base de datos que contiene señales de pacientes del centro de epilepsia y </a:t>
            </a:r>
            <a:r>
              <a:rPr lang="es-MX" dirty="0" err="1"/>
              <a:t>neurocirugia</a:t>
            </a:r>
            <a:r>
              <a:rPr lang="es-MX" dirty="0"/>
              <a:t> funcional HUMANA. </a:t>
            </a:r>
            <a:r>
              <a:rPr lang="es-MX" dirty="0" err="1"/>
              <a:t>Adicionalmente,se</a:t>
            </a:r>
            <a:r>
              <a:rPr lang="es-MX" dirty="0"/>
              <a:t> desarrolló una herramienta de software para facilitar la manipulación de las señales  y la implementación de los algoritmos de clasificación utilizados. El algoritmo de predicción obtuvo rendimientos por encima del 90%, llegando al 100 % en algunos casos.</a:t>
            </a:r>
            <a:endParaRPr lang="es-ES" dirty="0"/>
          </a:p>
        </p:txBody>
      </p:sp>
      <p:sp>
        <p:nvSpPr>
          <p:cNvPr id="4" name="Marcador de posición de número de diapositiva 3"/>
          <p:cNvSpPr>
            <a:spLocks noGrp="1"/>
          </p:cNvSpPr>
          <p:nvPr>
            <p:ph type="sldNum" sz="quarter" idx="10"/>
          </p:nvPr>
        </p:nvSpPr>
        <p:spPr/>
        <p:txBody>
          <a:bodyPr rtlCol="0"/>
          <a:lstStyle/>
          <a:p>
            <a:pPr rtl="0"/>
            <a:fld id="{07D111EE-B1CE-3F40-8B0E-AB6A92B85452}" type="slidenum">
              <a:rPr lang="es-ES" smtClean="0"/>
              <a:t>2</a:t>
            </a:fld>
            <a:endParaRPr lang="es-ES" dirty="0"/>
          </a:p>
        </p:txBody>
      </p:sp>
    </p:spTree>
    <p:extLst>
      <p:ext uri="{BB962C8B-B14F-4D97-AF65-F5344CB8AC3E}">
        <p14:creationId xmlns:p14="http://schemas.microsoft.com/office/powerpoint/2010/main" val="2787363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10"/>
          </p:nvPr>
        </p:nvSpPr>
        <p:spPr/>
        <p:txBody>
          <a:bodyPr rtlCol="0"/>
          <a:lstStyle/>
          <a:p>
            <a:pPr rtl="0"/>
            <a:fld id="{07D111EE-B1CE-3F40-8B0E-AB6A92B85452}" type="slidenum">
              <a:rPr lang="es-ES" smtClean="0"/>
              <a:t>3</a:t>
            </a:fld>
            <a:endParaRPr lang="es-ES" dirty="0"/>
          </a:p>
        </p:txBody>
      </p:sp>
    </p:spTree>
    <p:extLst>
      <p:ext uri="{BB962C8B-B14F-4D97-AF65-F5344CB8AC3E}">
        <p14:creationId xmlns:p14="http://schemas.microsoft.com/office/powerpoint/2010/main" val="163923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Para la realización de este proyecto se integraron dos partes principales: La elaboración de una base de datos con señales proporcionadas por el Centro HUMANA, a cargo de la estudiante María Fernanda Pineda, y mi parte del proyecto consistió en el análisis y desarrollo del sistema de detección de crisis epilépticas.</a:t>
            </a:r>
            <a:endParaRPr lang="es-ES" dirty="0"/>
          </a:p>
        </p:txBody>
      </p:sp>
      <p:sp>
        <p:nvSpPr>
          <p:cNvPr id="4" name="Marcador de posición de número de diapositiva 3"/>
          <p:cNvSpPr>
            <a:spLocks noGrp="1"/>
          </p:cNvSpPr>
          <p:nvPr>
            <p:ph type="sldNum" sz="quarter" idx="10"/>
          </p:nvPr>
        </p:nvSpPr>
        <p:spPr/>
        <p:txBody>
          <a:bodyPr rtlCol="0"/>
          <a:lstStyle/>
          <a:p>
            <a:pPr rtl="0"/>
            <a:fld id="{07D111EE-B1CE-3F40-8B0E-AB6A92B85452}" type="slidenum">
              <a:rPr lang="es-ES" smtClean="0"/>
              <a:t>4</a:t>
            </a:fld>
            <a:endParaRPr lang="es-ES" dirty="0"/>
          </a:p>
        </p:txBody>
      </p:sp>
    </p:spTree>
    <p:extLst>
      <p:ext uri="{BB962C8B-B14F-4D97-AF65-F5344CB8AC3E}">
        <p14:creationId xmlns:p14="http://schemas.microsoft.com/office/powerpoint/2010/main" val="427248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Para extraer características de las señales EEG es necesario dividir la señal en pequeños segmentos que </a:t>
            </a:r>
            <a:r>
              <a:rPr lang="es-MX" dirty="0" err="1"/>
              <a:t>contendran</a:t>
            </a:r>
            <a:r>
              <a:rPr lang="es-MX" dirty="0"/>
              <a:t> cierto número de muestras. Estos segmentos los denominaremos ventanas. En cada ventana se </a:t>
            </a:r>
          </a:p>
          <a:p>
            <a:r>
              <a:rPr lang="es-MX" dirty="0"/>
              <a:t>calculan las características escogidas a fin de generar un </a:t>
            </a:r>
          </a:p>
          <a:p>
            <a:r>
              <a:rPr lang="es-MX" dirty="0"/>
              <a:t>vector que describa la señal a analizar, este vector se conoce como vector de características el cual será utilizado en la implementación de los algoritmos de clasificación.</a:t>
            </a:r>
          </a:p>
          <a:p>
            <a:endParaRPr lang="es-MX" dirty="0"/>
          </a:p>
          <a:p>
            <a:r>
              <a:rPr lang="es-MX" dirty="0"/>
              <a:t>A continuación mostraré unas gráficas generadas con el toolbox creado en este trabajo, donde se muestran segmentos de señales EEG con crisis y sin crisis para observar claramente como estas características se ven alteradas en la presencia de crisis epilépticas. Las gráficas representan 50s de señal EEG en un canal específico muestreado a 256Hz. </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7</a:t>
            </a:fld>
            <a:endParaRPr lang="es-ES" noProof="0" dirty="0"/>
          </a:p>
        </p:txBody>
      </p:sp>
    </p:spTree>
    <p:extLst>
      <p:ext uri="{BB962C8B-B14F-4D97-AF65-F5344CB8AC3E}">
        <p14:creationId xmlns:p14="http://schemas.microsoft.com/office/powerpoint/2010/main" val="603941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aprendizaje de máquina o comúnmente conocido como machine </a:t>
            </a:r>
            <a:r>
              <a:rPr lang="es-MX" dirty="0" err="1"/>
              <a:t>learning</a:t>
            </a:r>
            <a:r>
              <a:rPr lang="es-MX" dirty="0"/>
              <a:t> es una rama de la inteligencia artificial, cuyo objetivo es desarrollar técnicas que permitan que las máquinas aprendan sin ser expresamente programadas, esto se logra mediante diversos algoritmos. Para implementarlos se utilizan dos diferentes modalidades: aprendizaje supervisado y aprendizaje no supervisado. Este proyecto se enfoca en la primer modalidad. Sin embargo, se realizaron pruebas preliminares de aprendizaje no supervisado para que pueda seguir </a:t>
            </a:r>
            <a:r>
              <a:rPr lang="es-MX" dirty="0" err="1"/>
              <a:t>desarrollandose</a:t>
            </a:r>
            <a:r>
              <a:rPr lang="es-MX" dirty="0"/>
              <a:t> en trabajos futuros.</a:t>
            </a:r>
          </a:p>
          <a:p>
            <a:endParaRPr lang="es-MX" dirty="0"/>
          </a:p>
          <a:p>
            <a:r>
              <a:rPr lang="es-MX" dirty="0"/>
              <a:t>Para cumplir con el objetivo general del proyecto, se utilizaron algoritmos de clasificación binarios con la finalidad de clasificar dos diferentes clases: muestras con crisis epilépticas que denominaremos registro ictal y muestras sin crisis epilépticas serán los registros normales. En el aprendizaje supervisado, para entrenar los clasificadores </a:t>
            </a:r>
            <a:r>
              <a:rPr lang="es-MX" dirty="0" err="1"/>
              <a:t>binaros</a:t>
            </a:r>
            <a:r>
              <a:rPr lang="es-MX" dirty="0"/>
              <a:t> se necesita un vector de características y un vector de etiquetas. Este último, se refiere a un vector que describe la clase a la cual pertenece cada muestra.</a:t>
            </a:r>
          </a:p>
          <a:p>
            <a:endParaRPr lang="es-MX" dirty="0"/>
          </a:p>
          <a:p>
            <a:r>
              <a:rPr lang="es-MX" dirty="0"/>
              <a:t>En este proyecto se utilizaron dos diferentes clasificadores binarios máquinas de vectores de soporte comúnmente conocidas como </a:t>
            </a:r>
            <a:r>
              <a:rPr lang="es-MX" dirty="0" err="1"/>
              <a:t>SVM's</a:t>
            </a:r>
            <a:r>
              <a:rPr lang="es-MX" dirty="0"/>
              <a:t> y redes neuronales </a:t>
            </a:r>
            <a:r>
              <a:rPr lang="es-MX" dirty="0" err="1"/>
              <a:t>aritificales</a:t>
            </a:r>
            <a:r>
              <a:rPr lang="es-MX" dirty="0"/>
              <a:t>, específicamente la red perceptrón multicapa.</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9</a:t>
            </a:fld>
            <a:endParaRPr lang="es-ES" noProof="0" dirty="0"/>
          </a:p>
        </p:txBody>
      </p:sp>
    </p:spTree>
    <p:extLst>
      <p:ext uri="{BB962C8B-B14F-4D97-AF65-F5344CB8AC3E}">
        <p14:creationId xmlns:p14="http://schemas.microsoft.com/office/powerpoint/2010/main" val="1925709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Dependiendo de la complejidad de los datos las </a:t>
            </a:r>
            <a:r>
              <a:rPr lang="es-MX" dirty="0" err="1"/>
              <a:t>SVM's</a:t>
            </a:r>
            <a:r>
              <a:rPr lang="es-MX" dirty="0"/>
              <a:t> pueden ser lineales o no lineales. Al ser lineales, es posible encontrar un hiperplano óptimo en el espacio de los datos de entrada. En la mayoría de los casos de la vida real esto no es posible por lo que se utilizan las </a:t>
            </a:r>
            <a:r>
              <a:rPr lang="es-MX" dirty="0" err="1"/>
              <a:t>SVM's</a:t>
            </a:r>
            <a:r>
              <a:rPr lang="es-MX" dirty="0"/>
              <a:t> no lineales, la diferencia de estas </a:t>
            </a:r>
            <a:r>
              <a:rPr lang="es-MX" dirty="0" err="1"/>
              <a:t>esque</a:t>
            </a:r>
            <a:r>
              <a:rPr lang="es-MX" dirty="0"/>
              <a:t> utilizan funciones núcleo o kernel las cuales transforman el espacio de entrada a un espacio de mayor dimensión en donde sí pueda encontrarse un hiperplano óptimo fácilmente.</a:t>
            </a:r>
          </a:p>
          <a:p>
            <a:endParaRPr lang="es-MX" dirty="0"/>
          </a:p>
          <a:p>
            <a:r>
              <a:rPr lang="es-MX" dirty="0"/>
              <a:t>*** Las redes neuronales artificiales conocidas por sus siglas en ingles ANN son algoritmos basados en el comportamiento de nuestras neuronas. Se caracterizan por tener una capa de entradas, capa de salidas y pesos sinápticos que relacionan a las </a:t>
            </a:r>
            <a:r>
              <a:rPr lang="es-MX" dirty="0" err="1"/>
              <a:t>neruonas</a:t>
            </a:r>
            <a:r>
              <a:rPr lang="es-MX" dirty="0"/>
              <a:t> entre sí. La red neuronal perceptrón multicapa permite clasificar datos que no son linealmente separables. Además de sus entradas, salidas y pesos sinápticos posee  capas ocultas de procesamiento, las cuales ´buscan el hiperplano de óptimo. Las neuronas de las capas ocultas, adquieren un valor de las neuronas de entrada el cual se va modificando de acuerdo a que conexiones sean más o menos significativas. Posteriormente, la red ajustará los valores en los nodos de forma iterativa tomando en cuenta los patrones de entrada en el vector de características y en los patrones de salida en el vector de etiquetas hasta conseguir una respuesta satisfactoria. Este proceso se denomina aprendizaje y entrenamiento de la red neuronal. </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10</a:t>
            </a:fld>
            <a:endParaRPr lang="es-ES" noProof="0" dirty="0"/>
          </a:p>
        </p:txBody>
      </p:sp>
    </p:spTree>
    <p:extLst>
      <p:ext uri="{BB962C8B-B14F-4D97-AF65-F5344CB8AC3E}">
        <p14:creationId xmlns:p14="http://schemas.microsoft.com/office/powerpoint/2010/main" val="1430360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**preprocesamiento</a:t>
            </a:r>
          </a:p>
          <a:p>
            <a:pPr rtl="0"/>
            <a:r>
              <a:rPr lang="es-MX" dirty="0"/>
              <a:t>En el bloque de preprocesamiento y selección de señales se aplico filtrado digital  para eliminar el ruido introducido por la frecuencia </a:t>
            </a:r>
            <a:r>
              <a:rPr lang="es-MX" dirty="0" err="1"/>
              <a:t>electrica</a:t>
            </a:r>
            <a:r>
              <a:rPr lang="es-MX" dirty="0"/>
              <a:t> y un filtro pasa bandas de 0.5Hz-70Hz para limitar las señales. Posteriormente, se realizó una selección de datos. Para esto se balancearon las señales de forma que los datos a analizar tuvieran el mismo porcentaje de muestras con crisis y de muestras sin crisis. </a:t>
            </a:r>
          </a:p>
          <a:p>
            <a:pPr rtl="0"/>
            <a:endParaRPr lang="es-MX" dirty="0"/>
          </a:p>
          <a:p>
            <a:pPr rtl="0"/>
            <a:r>
              <a:rPr lang="es-MX" dirty="0"/>
              <a:t>Para el caso de la base de </a:t>
            </a:r>
            <a:r>
              <a:rPr lang="es-MX" dirty="0" err="1"/>
              <a:t>de</a:t>
            </a:r>
            <a:r>
              <a:rPr lang="es-MX" dirty="0"/>
              <a:t> datos de la Universidad de Bonn, se escogieron los sets de datos A,D que contienen segmentos EEG de 1 canal de grabaciones de 5 pacientes sanos y set E que contiene señales de 5 pacientes con epilepsia durante una crisis. En la base de datos CHB-</a:t>
            </a:r>
            <a:r>
              <a:rPr lang="es-MX" dirty="0" err="1"/>
              <a:t>mit</a:t>
            </a:r>
            <a:r>
              <a:rPr lang="es-MX" dirty="0"/>
              <a:t> </a:t>
            </a:r>
            <a:r>
              <a:rPr lang="es-MX" dirty="0" err="1"/>
              <a:t>scalp</a:t>
            </a:r>
            <a:r>
              <a:rPr lang="es-MX" dirty="0"/>
              <a:t> las grabaciones EEG son multicanal y a diferencia de la anterior es bastante extensa, contiene 129 grabaciones de 22 pacientes epilépticos en donde cada grabación contiene anotaciones médicas que indican en que períodos de tiempos el paciente sufrió crisis epilépticas. Se seleccionaron diferentes grabaciones de 5 pacientes a modo de tener la misma cantidad de muestras con crisis y sin crisis.</a:t>
            </a:r>
          </a:p>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11</a:t>
            </a:fld>
            <a:endParaRPr lang="es-ES" dirty="0"/>
          </a:p>
        </p:txBody>
      </p:sp>
    </p:spTree>
    <p:extLst>
      <p:ext uri="{BB962C8B-B14F-4D97-AF65-F5344CB8AC3E}">
        <p14:creationId xmlns:p14="http://schemas.microsoft.com/office/powerpoint/2010/main" val="2504029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12</a:t>
            </a:fld>
            <a:endParaRPr lang="es-ES" dirty="0"/>
          </a:p>
        </p:txBody>
      </p:sp>
    </p:spTree>
    <p:extLst>
      <p:ext uri="{BB962C8B-B14F-4D97-AF65-F5344CB8AC3E}">
        <p14:creationId xmlns:p14="http://schemas.microsoft.com/office/powerpoint/2010/main" val="1960197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Explicaré brevemente como funciona la descomposición wavelet y porque resulta útil en la extracción de características del EEG. Las ondas wavelets son familias de funciones que tienen forma  irregular y asimétrica de duración finita y valor medio cero. Entre las familias más conocidas se encuentran las ondas wavelet de </a:t>
            </a:r>
            <a:r>
              <a:rPr lang="es-MX" dirty="0" err="1"/>
              <a:t>MOrlet</a:t>
            </a:r>
            <a:r>
              <a:rPr lang="es-MX" dirty="0"/>
              <a:t>, </a:t>
            </a:r>
            <a:r>
              <a:rPr lang="es-MX" dirty="0" err="1"/>
              <a:t>daubechies</a:t>
            </a:r>
            <a:r>
              <a:rPr lang="es-MX" dirty="0"/>
              <a:t> y de </a:t>
            </a:r>
            <a:r>
              <a:rPr lang="es-MX" dirty="0" err="1"/>
              <a:t>meyer</a:t>
            </a:r>
            <a:r>
              <a:rPr lang="es-MX" dirty="0"/>
              <a:t>. Su forma </a:t>
            </a:r>
            <a:r>
              <a:rPr lang="es-MX" dirty="0" err="1"/>
              <a:t>caracterpistica</a:t>
            </a:r>
            <a:r>
              <a:rPr lang="es-MX" dirty="0"/>
              <a:t> se describe en la figura 6A. La </a:t>
            </a:r>
            <a:r>
              <a:rPr lang="es-MX" dirty="0" err="1"/>
              <a:t>trasnformada</a:t>
            </a:r>
            <a:r>
              <a:rPr lang="es-MX" dirty="0"/>
              <a:t> wavelet discreta, permite proyectar señales del dominio del tiempo al </a:t>
            </a:r>
            <a:r>
              <a:rPr lang="es-MX" dirty="0" err="1"/>
              <a:t>domiminio</a:t>
            </a:r>
            <a:r>
              <a:rPr lang="es-MX" dirty="0"/>
              <a:t> de frecuencia en el espacio de ondas wavelet esto se logra aplicando restricciones de traslación y escala usualmente utilizando potencias de dos. Se realiza un proceso de filtros y descomposición de la señal en coeficientes denominados </a:t>
            </a:r>
            <a:r>
              <a:rPr lang="es-MX" dirty="0" err="1"/>
              <a:t>coeficeintes</a:t>
            </a:r>
            <a:r>
              <a:rPr lang="es-MX" dirty="0"/>
              <a:t> de descomposición y de detalle. Esto resulta sumamente útil en el análisis de las señales EEG ya que se logra extraer información valiosa directamente de los ritmos cerebrales y además las ondas wavelets responden eficientemente a cambios abruptos en la señales, como los que se dan en las crisis epilépticas. </a:t>
            </a:r>
          </a:p>
          <a:p>
            <a:endParaRPr lang="es-MX" dirty="0"/>
          </a:p>
          <a:p>
            <a:endParaRPr lang="es-MX" dirty="0"/>
          </a:p>
          <a:p>
            <a:r>
              <a:rPr lang="es-MX" dirty="0"/>
              <a:t>En la figura 6B pueden observarse los coeficientes de detalle que describen la </a:t>
            </a:r>
            <a:r>
              <a:rPr lang="es-MX" dirty="0" err="1"/>
              <a:t>descomposicion</a:t>
            </a:r>
            <a:r>
              <a:rPr lang="es-MX" dirty="0"/>
              <a:t> de una señal EEG en sus 5 ritmos </a:t>
            </a:r>
            <a:r>
              <a:rPr lang="es-MX" dirty="0" err="1"/>
              <a:t>cerebreales</a:t>
            </a:r>
            <a:r>
              <a:rPr lang="es-MX" dirty="0"/>
              <a:t>. La señal corresponde a los set A y E de la base de datos de la universidad de Bonn.</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13</a:t>
            </a:fld>
            <a:endParaRPr lang="es-ES" noProof="0" dirty="0"/>
          </a:p>
        </p:txBody>
      </p:sp>
    </p:spTree>
    <p:extLst>
      <p:ext uri="{BB962C8B-B14F-4D97-AF65-F5344CB8AC3E}">
        <p14:creationId xmlns:p14="http://schemas.microsoft.com/office/powerpoint/2010/main" val="2812229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err="1"/>
              <a:t>Despues</a:t>
            </a:r>
            <a:r>
              <a:rPr lang="es-MX" dirty="0"/>
              <a:t> de generar el vector de características con ambas metodologías se realiza la clasificación utilizando </a:t>
            </a:r>
            <a:r>
              <a:rPr lang="es-MX" dirty="0" err="1"/>
              <a:t>SVM's</a:t>
            </a:r>
            <a:r>
              <a:rPr lang="es-MX" dirty="0"/>
              <a:t> y redes neuronales. Ambos algoritmos de clasificación reciben como entrada el vector de características y el vector de etiquetas. Una porción de estas entradas pertenecerá al conjunto de entrenamiento y otra porción menor será destinada el conjunto de prueba y validación del algoritmo. A la salida de ambos clasificadores se generará un vector de etiquetas que indicaran si las muestras de la señal son </a:t>
            </a:r>
            <a:r>
              <a:rPr lang="es-MX" dirty="0" err="1"/>
              <a:t>resgistros</a:t>
            </a:r>
            <a:r>
              <a:rPr lang="es-MX" dirty="0"/>
              <a:t> normales, es decir sin crisis epilépticas o registros </a:t>
            </a:r>
            <a:r>
              <a:rPr lang="es-MX" dirty="0" err="1"/>
              <a:t>ictales</a:t>
            </a:r>
            <a:r>
              <a:rPr lang="es-MX" dirty="0"/>
              <a:t>, con crisis epilépticas.</a:t>
            </a:r>
          </a:p>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15</a:t>
            </a:fld>
            <a:endParaRPr lang="es-ES" dirty="0"/>
          </a:p>
        </p:txBody>
      </p:sp>
    </p:spTree>
    <p:extLst>
      <p:ext uri="{BB962C8B-B14F-4D97-AF65-F5344CB8AC3E}">
        <p14:creationId xmlns:p14="http://schemas.microsoft.com/office/powerpoint/2010/main" val="1968933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caso de la SVM, los conjuntos de entrenamiento y prueba se generaron mediante la </a:t>
            </a:r>
            <a:r>
              <a:rPr lang="es-MX" dirty="0" err="1"/>
              <a:t>ténica</a:t>
            </a:r>
            <a:r>
              <a:rPr lang="es-MX" dirty="0"/>
              <a:t> de validación cruzada (k-</a:t>
            </a:r>
            <a:r>
              <a:rPr lang="es-MX" dirty="0" err="1"/>
              <a:t>fold</a:t>
            </a:r>
            <a:r>
              <a:rPr lang="es-MX" dirty="0"/>
              <a:t>) en donde el conjunto de muestras se dividen en k subgrupos o particiones. Uno de los subgrupos se utiliza como datos de prueba dejando al resto como datos de entrenamiento y este proceso se repite k veces cambiando cada vez el subgrupo de prueba. Adicionalmente  se utilizaron dos tipos de kernel para encontrar el hiperplano óptimo: kernel lineal y radial.</a:t>
            </a:r>
          </a:p>
          <a:p>
            <a:endParaRPr lang="es-MX" dirty="0"/>
          </a:p>
          <a:p>
            <a:endParaRPr lang="es-MX" dirty="0"/>
          </a:p>
          <a:p>
            <a:r>
              <a:rPr lang="es-MX" dirty="0"/>
              <a:t>En el caso de las redes neuronales, la división de datos se generó a forma de porcentaje, utilizando 70% del conjunto de muestras para entrenamiento y 30% para validación y prueba con muestras escogidas aleatoriamente. </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16</a:t>
            </a:fld>
            <a:endParaRPr lang="es-ES" noProof="0" dirty="0"/>
          </a:p>
        </p:txBody>
      </p:sp>
    </p:spTree>
    <p:extLst>
      <p:ext uri="{BB962C8B-B14F-4D97-AF65-F5344CB8AC3E}">
        <p14:creationId xmlns:p14="http://schemas.microsoft.com/office/powerpoint/2010/main" val="4272698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**Validación</a:t>
            </a:r>
          </a:p>
          <a:p>
            <a:pPr rtl="0"/>
            <a:r>
              <a:rPr lang="es-MX" dirty="0"/>
              <a:t>Para medir el rendimiento de los clasificadores y cumplimiento del objetivo general se utilizaron matrices de confusión. Estas matrices permiten visualizar las 4 posibles salidas en un clasificador binario:</a:t>
            </a:r>
          </a:p>
          <a:p>
            <a:pPr rtl="0"/>
            <a:r>
              <a:rPr lang="es-MX" dirty="0"/>
              <a:t>Positivo </a:t>
            </a:r>
            <a:r>
              <a:rPr lang="es-MX" dirty="0" err="1"/>
              <a:t>verdado</a:t>
            </a:r>
            <a:r>
              <a:rPr lang="es-MX" dirty="0"/>
              <a:t> (true positive): instancia positiva, clasificada como positiva. Falso negativo (False </a:t>
            </a:r>
            <a:r>
              <a:rPr lang="es-MX" dirty="0" err="1"/>
              <a:t>negative</a:t>
            </a:r>
            <a:r>
              <a:rPr lang="es-MX" dirty="0"/>
              <a:t>): instancias positivas, clasificadas como negativas. Negativo </a:t>
            </a:r>
            <a:r>
              <a:rPr lang="es-MX" dirty="0" err="1"/>
              <a:t>Verdaro</a:t>
            </a:r>
            <a:r>
              <a:rPr lang="es-MX" dirty="0"/>
              <a:t> (true </a:t>
            </a:r>
            <a:r>
              <a:rPr lang="es-MX" dirty="0" err="1"/>
              <a:t>negative</a:t>
            </a:r>
            <a:r>
              <a:rPr lang="es-MX" dirty="0"/>
              <a:t>)instancias negativas clasificadas como negativa y falso positivo (false positive) son las instancias negativas clasificadas como positivas.</a:t>
            </a:r>
          </a:p>
          <a:p>
            <a:pPr rtl="0"/>
            <a:endParaRPr lang="es-MX" dirty="0"/>
          </a:p>
          <a:p>
            <a:pPr rtl="0"/>
            <a:r>
              <a:rPr lang="es-MX" dirty="0"/>
              <a:t>Estos resultados se colocan en forma de matriz lo cual facilita la visualización. El clasificador ideal tendrá todos los datos en su diagonal principal la cual esta marcada con </a:t>
            </a:r>
            <a:r>
              <a:rPr lang="es-MX" dirty="0" err="1"/>
              <a:t>checks</a:t>
            </a:r>
            <a:r>
              <a:rPr lang="es-MX" dirty="0"/>
              <a:t> en la figura 7. La exactitud del clasificador puede encontrarse a forma de porcentaje siguiendo la ecuación descrita.</a:t>
            </a:r>
          </a:p>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17</a:t>
            </a:fld>
            <a:endParaRPr lang="es-ES" dirty="0"/>
          </a:p>
        </p:txBody>
      </p:sp>
    </p:spTree>
    <p:extLst>
      <p:ext uri="{BB962C8B-B14F-4D97-AF65-F5344CB8AC3E}">
        <p14:creationId xmlns:p14="http://schemas.microsoft.com/office/powerpoint/2010/main" val="2795704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este ejemplo se detalla la matriz de confusión de las señales seleccionadas de la base de datos CHB-</a:t>
            </a:r>
            <a:r>
              <a:rPr lang="es-MX" dirty="0" err="1"/>
              <a:t>mit</a:t>
            </a:r>
            <a:r>
              <a:rPr lang="es-MX" dirty="0"/>
              <a:t> utilizando el clasificador SVM. El conjunto de prueba es de 203 muestras. 102 de ellas fueron </a:t>
            </a:r>
            <a:r>
              <a:rPr lang="es-MX" dirty="0" err="1"/>
              <a:t>clasifcadas</a:t>
            </a:r>
            <a:r>
              <a:rPr lang="es-MX" dirty="0"/>
              <a:t> como verdadero positivo y 101 como verdadero negativo. 1 de las muestra totales se clasificó incorrectamente como falso positivo . En términos de porcentaje se alcanzó el 99.5% de exactitud en la clasificación de este ejemplo.</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18</a:t>
            </a:fld>
            <a:endParaRPr lang="es-ES" noProof="0" dirty="0"/>
          </a:p>
        </p:txBody>
      </p:sp>
    </p:spTree>
    <p:extLst>
      <p:ext uri="{BB962C8B-B14F-4D97-AF65-F5344CB8AC3E}">
        <p14:creationId xmlns:p14="http://schemas.microsoft.com/office/powerpoint/2010/main" val="2288180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Ahora veremos los mejores resultados de las pruebas realizadas con ambas bases de datos y ambos clasificadores. En la tabla de la </a:t>
            </a:r>
            <a:r>
              <a:rPr lang="es-MX" dirty="0" err="1"/>
              <a:t>izquiera</a:t>
            </a:r>
            <a:r>
              <a:rPr lang="es-MX" dirty="0"/>
              <a:t> se describen las pruebas realizadas con SVM y en la tabla de la derecha utilizando redes neuronales artificiales. Las pruebas se realizaron usando el </a:t>
            </a:r>
            <a:r>
              <a:rPr lang="es-MX" dirty="0" err="1"/>
              <a:t>analisis</a:t>
            </a:r>
            <a:r>
              <a:rPr lang="es-MX" dirty="0"/>
              <a:t> directo y el </a:t>
            </a:r>
            <a:r>
              <a:rPr lang="es-MX" dirty="0" err="1"/>
              <a:t>analisis</a:t>
            </a:r>
            <a:r>
              <a:rPr lang="es-MX" dirty="0"/>
              <a:t> wavelet para realizar comparaciones. De las tablas destacan 2 aspectos: las redes neuronales </a:t>
            </a:r>
            <a:r>
              <a:rPr lang="es-MX" dirty="0" err="1"/>
              <a:t>artificales</a:t>
            </a:r>
            <a:r>
              <a:rPr lang="es-MX" dirty="0"/>
              <a:t> presentaron un mejor rendimiento en la mayoría de los casos en comparación a las </a:t>
            </a:r>
            <a:r>
              <a:rPr lang="es-MX" dirty="0" err="1"/>
              <a:t>svms's</a:t>
            </a:r>
            <a:r>
              <a:rPr lang="es-MX" dirty="0"/>
              <a:t> y las señales de UBonn </a:t>
            </a:r>
            <a:r>
              <a:rPr lang="es-MX" dirty="0" err="1"/>
              <a:t>dataset</a:t>
            </a:r>
            <a:r>
              <a:rPr lang="es-MX" dirty="0"/>
              <a:t> obtuvieron mejores resultados que las señales de la base de datos </a:t>
            </a:r>
            <a:r>
              <a:rPr lang="es-MX" dirty="0" err="1"/>
              <a:t>chbmit</a:t>
            </a:r>
            <a:r>
              <a:rPr lang="es-MX" dirty="0"/>
              <a:t>. Esto se debió a que estas señales son más simplificadas ya que no tienen artefactos como ruido por actividad muscular, parpadeo de ojos, </a:t>
            </a:r>
            <a:r>
              <a:rPr lang="es-MX" dirty="0" err="1"/>
              <a:t>etc.y</a:t>
            </a:r>
            <a:r>
              <a:rPr lang="es-MX" dirty="0"/>
              <a:t> solo tienen canal de información.</a:t>
            </a:r>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19</a:t>
            </a:fld>
            <a:endParaRPr lang="es-ES" dirty="0"/>
          </a:p>
        </p:txBody>
      </p:sp>
    </p:spTree>
    <p:extLst>
      <p:ext uri="{BB962C8B-B14F-4D97-AF65-F5344CB8AC3E}">
        <p14:creationId xmlns:p14="http://schemas.microsoft.com/office/powerpoint/2010/main" val="2294548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Otro resultado de esta tesis fue la </a:t>
            </a:r>
            <a:r>
              <a:rPr lang="es-MX" dirty="0" err="1"/>
              <a:t>herrmaineta</a:t>
            </a:r>
            <a:r>
              <a:rPr lang="es-MX" dirty="0"/>
              <a:t> de software </a:t>
            </a:r>
            <a:r>
              <a:rPr lang="es-MX" dirty="0" err="1"/>
              <a:t>eeg</a:t>
            </a:r>
            <a:r>
              <a:rPr lang="es-MX" dirty="0"/>
              <a:t> </a:t>
            </a:r>
            <a:r>
              <a:rPr lang="es-MX" dirty="0" err="1"/>
              <a:t>analysis</a:t>
            </a:r>
            <a:r>
              <a:rPr lang="es-MX" dirty="0"/>
              <a:t> toolbox,  la funcionalidad de esta herramienta es facilitar  la implementación de algoritmos de clasificación y el </a:t>
            </a:r>
            <a:r>
              <a:rPr lang="es-MX" dirty="0" err="1"/>
              <a:t>analisis</a:t>
            </a:r>
            <a:r>
              <a:rPr lang="es-MX" dirty="0"/>
              <a:t> de señales EEG de pacientes con epilepsia para detectar la presencia de crisis en dichas señales y encontrar </a:t>
            </a:r>
            <a:r>
              <a:rPr lang="es-MX" dirty="0" err="1"/>
              <a:t>caracteristicas</a:t>
            </a:r>
            <a:r>
              <a:rPr lang="es-MX" dirty="0"/>
              <a:t> relevantes. El toolbox se creo en conjunto con mi compañera María Fernanda Pineda, quien realizó la base de datos con señales proporcionadas por el centro HUMANA. La conexión y el manejo de esta base de datos se encuentra disponible en el toolbox para poder utilizar las señales del centro HUMANA y en un futuro realizar pruebas y análisis con estas señales. </a:t>
            </a:r>
          </a:p>
          <a:p>
            <a:pPr rtl="0"/>
            <a:endParaRPr lang="es-ES" dirty="0"/>
          </a:p>
          <a:p>
            <a:pPr rtl="0"/>
            <a:r>
              <a:rPr lang="es-MX" dirty="0"/>
              <a:t>La estructura de la interfaz gráfica cuenta con un </a:t>
            </a:r>
            <a:r>
              <a:rPr lang="es-MX" dirty="0" err="1"/>
              <a:t>menu</a:t>
            </a:r>
            <a:r>
              <a:rPr lang="es-MX" dirty="0"/>
              <a:t> principal, el acceso a la base de datos HUMANA, la selección de señales y extracción de características y finalmente la implementación de algoritmos de clasificación. El toolbox fue realizado en la plataforma MATLAB. Sin embargo, no es necesario tener descargado este software para utilizarse ya que se generó un programa .exe ejecutable en </a:t>
            </a:r>
            <a:r>
              <a:rPr lang="es-MX" dirty="0" err="1"/>
              <a:t>windows</a:t>
            </a:r>
            <a:r>
              <a:rPr lang="es-MX" dirty="0"/>
              <a:t>.</a:t>
            </a:r>
            <a:endParaRPr lang="es-ES" dirty="0"/>
          </a:p>
        </p:txBody>
      </p:sp>
      <p:sp>
        <p:nvSpPr>
          <p:cNvPr id="4" name="Marcador de posición de número de diapositiva 3"/>
          <p:cNvSpPr>
            <a:spLocks noGrp="1"/>
          </p:cNvSpPr>
          <p:nvPr>
            <p:ph type="sldNum" sz="quarter" idx="10"/>
          </p:nvPr>
        </p:nvSpPr>
        <p:spPr/>
        <p:txBody>
          <a:bodyPr rtlCol="0"/>
          <a:lstStyle/>
          <a:p>
            <a:pPr rtl="0"/>
            <a:fld id="{07D111EE-B1CE-3F40-8B0E-AB6A92B85452}" type="slidenum">
              <a:rPr lang="es-ES" smtClean="0"/>
              <a:t>20</a:t>
            </a:fld>
            <a:endParaRPr lang="es-ES" dirty="0"/>
          </a:p>
        </p:txBody>
      </p:sp>
    </p:spTree>
    <p:extLst>
      <p:ext uri="{BB962C8B-B14F-4D97-AF65-F5344CB8AC3E}">
        <p14:creationId xmlns:p14="http://schemas.microsoft.com/office/powerpoint/2010/main" val="833817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En la figura 9 se describe la ventana de visualización de señales. EN esta ventana puede cargarse la señal EEG deseada o seleccionar alguna existente en la base datos. Pueden visualizarse las señales indicando el número de canal y el período de tiempo deseado y adicionalmente puede graficarse características típicas de la señal.</a:t>
            </a:r>
          </a:p>
          <a:p>
            <a:pPr rtl="0"/>
            <a:endParaRPr lang="es-MX" dirty="0"/>
          </a:p>
          <a:p>
            <a:pPr rtl="0"/>
            <a:r>
              <a:rPr lang="es-MX" dirty="0"/>
              <a:t>En la figura 10 se describe la ventana para generar el vector de características y posteriormente indicar que algoritmo de clasificación se desea utilizar. </a:t>
            </a:r>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21</a:t>
            </a:fld>
            <a:endParaRPr lang="es-ES" dirty="0"/>
          </a:p>
        </p:txBody>
      </p:sp>
    </p:spTree>
    <p:extLst>
      <p:ext uri="{BB962C8B-B14F-4D97-AF65-F5344CB8AC3E}">
        <p14:creationId xmlns:p14="http://schemas.microsoft.com/office/powerpoint/2010/main" val="486508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MX" dirty="0"/>
              <a:t>En ambas opciones disponibles, se </a:t>
            </a:r>
            <a:r>
              <a:rPr lang="es-MX" dirty="0" err="1"/>
              <a:t>debera</a:t>
            </a:r>
            <a:r>
              <a:rPr lang="es-MX" dirty="0"/>
              <a:t> especificar como </a:t>
            </a:r>
            <a:r>
              <a:rPr lang="es-MX" dirty="0" err="1"/>
              <a:t>sera</a:t>
            </a:r>
            <a:r>
              <a:rPr lang="es-MX" dirty="0"/>
              <a:t> la partición de los datos para generar los conjuntos entrenamiento y prueba y que tipo de análisis se utilizó al extraer el vector de </a:t>
            </a:r>
            <a:r>
              <a:rPr lang="es-MX" dirty="0" err="1"/>
              <a:t>característcas</a:t>
            </a:r>
            <a:r>
              <a:rPr lang="es-MX" dirty="0"/>
              <a:t>, si fue análisis directo o análisis wavelet. El toolbox genera los resultados de la clasificación e indica la exactitud del algoritmo. Cuando el usuario este satisfecho con los resultados puede utilizar la opción generar la cual guarda un archivo MAT que puede abrirse con el software MATLAB en donde se encontrará el vector de etiquetas de salida del clasificador, la señal analizada, el vector de características e información útil para el usuario.</a:t>
            </a:r>
          </a:p>
          <a:p>
            <a:pPr rtl="0"/>
            <a:endParaRPr lang="es-MX" dirty="0"/>
          </a:p>
          <a:p>
            <a:pPr rtl="0"/>
            <a:r>
              <a:rPr lang="es-MX" dirty="0"/>
              <a:t>Al finalizar la presentación mostraré un video utilizando el toolbox para mostrar como funciona la interfaz gráfica.</a:t>
            </a:r>
            <a:endParaRPr lang="es-ES" dirty="0"/>
          </a:p>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22</a:t>
            </a:fld>
            <a:endParaRPr lang="es-ES" dirty="0"/>
          </a:p>
        </p:txBody>
      </p:sp>
    </p:spTree>
    <p:extLst>
      <p:ext uri="{BB962C8B-B14F-4D97-AF65-F5344CB8AC3E}">
        <p14:creationId xmlns:p14="http://schemas.microsoft.com/office/powerpoint/2010/main" val="1036426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Adicionalmente al toolbox se realizaron pruebas preliminares de aprendizaje no </a:t>
            </a:r>
            <a:r>
              <a:rPr lang="es-MX" dirty="0" err="1"/>
              <a:t>sueprvisado</a:t>
            </a:r>
            <a:r>
              <a:rPr lang="es-MX" dirty="0"/>
              <a:t> conocido también como agrupación o su término en inglés </a:t>
            </a:r>
            <a:r>
              <a:rPr lang="es-MX" dirty="0" err="1"/>
              <a:t>clustering</a:t>
            </a:r>
            <a:r>
              <a:rPr lang="es-MX" dirty="0"/>
              <a:t>. Esto es necesario con señales EEG donde no se conoce el vector de etiquetas como es el caso de las señales proporcionadas por el centro HUMANA. Lo que se busca es por medio de algoritmos encontrar una posible agrupación de los datos a forma de encontrar este vector de etiquetas. En este caso se utilizo el algoritmo k medias o k-</a:t>
            </a:r>
            <a:r>
              <a:rPr lang="es-MX" dirty="0" err="1"/>
              <a:t>means</a:t>
            </a:r>
            <a:r>
              <a:rPr lang="es-MX" dirty="0"/>
              <a:t> y el algoritmo c-medias difuso o </a:t>
            </a:r>
            <a:r>
              <a:rPr lang="es-MX" dirty="0" err="1"/>
              <a:t>fuzzy</a:t>
            </a:r>
            <a:r>
              <a:rPr lang="es-MX" dirty="0"/>
              <a:t> c-</a:t>
            </a:r>
            <a:r>
              <a:rPr lang="es-MX" dirty="0" err="1"/>
              <a:t>means</a:t>
            </a:r>
            <a:r>
              <a:rPr lang="es-MX" dirty="0"/>
              <a:t>.</a:t>
            </a:r>
          </a:p>
          <a:p>
            <a:endParaRPr lang="es-MX" dirty="0"/>
          </a:p>
          <a:p>
            <a:r>
              <a:rPr lang="es-MX" dirty="0"/>
              <a:t>En las figuras 13 y 14 se muestra los resultados de </a:t>
            </a:r>
            <a:r>
              <a:rPr lang="es-MX" dirty="0" err="1"/>
              <a:t>agrupacion</a:t>
            </a:r>
            <a:r>
              <a:rPr lang="es-MX" dirty="0"/>
              <a:t> de una señal de la base de datos HUMANA. La parte coloreada en azul fueron las muestras que el algoritmo asigno a la clase 1 registros normales y la parte coloreada en rojo las muestras que asigno a la clase 2 registros </a:t>
            </a:r>
            <a:r>
              <a:rPr lang="es-MX" dirty="0" err="1"/>
              <a:t>ictales</a:t>
            </a:r>
            <a:r>
              <a:rPr lang="es-MX" dirty="0"/>
              <a:t>. Al implementar ambos algoritmos, no se llego a obtener la división esperada de los datos, por lo cual los vectores de características generados en estas pruebas no se sometieron a los algoritmos de clasificación, ya que los segmentos etiquetados como registros </a:t>
            </a:r>
            <a:r>
              <a:rPr lang="es-MX" dirty="0" err="1"/>
              <a:t>ictales</a:t>
            </a:r>
            <a:r>
              <a:rPr lang="es-MX" dirty="0"/>
              <a:t> no representaban verdadera presencia </a:t>
            </a:r>
            <a:r>
              <a:rPr lang="es-MX" dirty="0" err="1"/>
              <a:t>decrisis</a:t>
            </a:r>
            <a:r>
              <a:rPr lang="es-MX" dirty="0"/>
              <a:t> epiléptica. Esto se comprobó al implementar estos algoritmos con las señales de las bases de datos de CHB-MIT y UBonn comparando los vectores de etiquetas generados por </a:t>
            </a:r>
            <a:r>
              <a:rPr lang="es-MX" dirty="0" err="1"/>
              <a:t>clustering</a:t>
            </a:r>
            <a:r>
              <a:rPr lang="es-MX" dirty="0"/>
              <a:t> y los vectores de etiquetas reales.</a:t>
            </a:r>
            <a:endParaRPr lang="es-GT" dirty="0"/>
          </a:p>
        </p:txBody>
      </p:sp>
      <p:sp>
        <p:nvSpPr>
          <p:cNvPr id="4" name="Marcador de número de diapositiva 3"/>
          <p:cNvSpPr>
            <a:spLocks noGrp="1"/>
          </p:cNvSpPr>
          <p:nvPr>
            <p:ph type="sldNum" sz="quarter" idx="5"/>
          </p:nvPr>
        </p:nvSpPr>
        <p:spPr/>
        <p:txBody>
          <a:bodyPr/>
          <a:lstStyle/>
          <a:p>
            <a:pPr rtl="0"/>
            <a:fld id="{07D111EE-B1CE-3F40-8B0E-AB6A92B85452}" type="slidenum">
              <a:rPr lang="es-ES" noProof="0" smtClean="0"/>
              <a:t>23</a:t>
            </a:fld>
            <a:endParaRPr lang="es-ES" noProof="0" dirty="0"/>
          </a:p>
        </p:txBody>
      </p:sp>
    </p:spTree>
    <p:extLst>
      <p:ext uri="{BB962C8B-B14F-4D97-AF65-F5344CB8AC3E}">
        <p14:creationId xmlns:p14="http://schemas.microsoft.com/office/powerpoint/2010/main" val="2477366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24</a:t>
            </a:fld>
            <a:endParaRPr lang="es-ES" dirty="0"/>
          </a:p>
        </p:txBody>
      </p:sp>
    </p:spTree>
    <p:extLst>
      <p:ext uri="{BB962C8B-B14F-4D97-AF65-F5344CB8AC3E}">
        <p14:creationId xmlns:p14="http://schemas.microsoft.com/office/powerpoint/2010/main" val="1296726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07D111EE-B1CE-3F40-8B0E-AB6A92B85452}" type="slidenum">
              <a:rPr lang="es-ES" smtClean="0"/>
              <a:t>25</a:t>
            </a:fld>
            <a:endParaRPr lang="es-ES" dirty="0"/>
          </a:p>
        </p:txBody>
      </p:sp>
    </p:spTree>
    <p:extLst>
      <p:ext uri="{BB962C8B-B14F-4D97-AF65-F5344CB8AC3E}">
        <p14:creationId xmlns:p14="http://schemas.microsoft.com/office/powerpoint/2010/main" val="480887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99CAC06A-4905-4B1A-83C1-3B011A8CF04B}" type="slidenum">
              <a:rPr lang="es-ES" smtClean="0"/>
              <a:t>27</a:t>
            </a:fld>
            <a:endParaRPr lang="es-ES" dirty="0"/>
          </a:p>
        </p:txBody>
      </p:sp>
    </p:spTree>
    <p:extLst>
      <p:ext uri="{BB962C8B-B14F-4D97-AF65-F5344CB8AC3E}">
        <p14:creationId xmlns:p14="http://schemas.microsoft.com/office/powerpoint/2010/main" val="1880310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99CAC06A-4905-4B1A-83C1-3B011A8CF04B}" type="slidenum">
              <a:rPr lang="es-ES" smtClean="0"/>
              <a:t>28</a:t>
            </a:fld>
            <a:endParaRPr lang="es-ES" dirty="0"/>
          </a:p>
        </p:txBody>
      </p:sp>
    </p:spTree>
    <p:extLst>
      <p:ext uri="{BB962C8B-B14F-4D97-AF65-F5344CB8AC3E}">
        <p14:creationId xmlns:p14="http://schemas.microsoft.com/office/powerpoint/2010/main" val="50286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bg>
      <p:bgPr>
        <a:solidFill>
          <a:schemeClr val="tx1"/>
        </a:solid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0B5C8ED9-4E32-4EBB-BD83-38980E4E32A2}" type="datetime1">
              <a:rPr lang="es-ES" noProof="0" smtClean="0"/>
              <a:t>14/01/2021</a:t>
            </a:fld>
            <a:endParaRPr lang="es-ES" noProof="0" dirty="0"/>
          </a:p>
        </p:txBody>
      </p:sp>
      <p:sp>
        <p:nvSpPr>
          <p:cNvPr id="5" name="Marcador de pie de página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2" name="Título 1"/>
          <p:cNvSpPr>
            <a:spLocks noGrp="1"/>
          </p:cNvSpPr>
          <p:nvPr>
            <p:ph type="ctrTitle"/>
          </p:nvPr>
        </p:nvSpPr>
        <p:spPr>
          <a:xfrm>
            <a:off x="1058669" y="854538"/>
            <a:ext cx="4567608" cy="3566160"/>
          </a:xfrm>
        </p:spPr>
        <p:txBody>
          <a:bodyPr rtlCol="0" anchor="b">
            <a:normAutofit/>
          </a:bodyPr>
          <a:lstStyle>
            <a:lvl1pPr algn="l">
              <a:lnSpc>
                <a:spcPct val="90000"/>
              </a:lnSpc>
              <a:defRPr sz="5400" spc="-50" baseline="0">
                <a:solidFill>
                  <a:schemeClr val="bg1"/>
                </a:solidFill>
              </a:defRPr>
            </a:lvl1pPr>
          </a:lstStyle>
          <a:p>
            <a:pPr rtl="0"/>
            <a:r>
              <a:rPr lang="es-ES" noProof="0"/>
              <a:t>Haga clic para modificar el estilo de título del patrón</a:t>
            </a:r>
            <a:endParaRPr lang="es-ES" noProof="0" dirty="0"/>
          </a:p>
        </p:txBody>
      </p:sp>
      <p:sp>
        <p:nvSpPr>
          <p:cNvPr id="3" name="Subtítulo 2"/>
          <p:cNvSpPr>
            <a:spLocks noGrp="1"/>
          </p:cNvSpPr>
          <p:nvPr>
            <p:ph type="subTitle" idx="1" hasCustomPrompt="1"/>
          </p:nvPr>
        </p:nvSpPr>
        <p:spPr>
          <a:xfrm>
            <a:off x="1061440" y="4429842"/>
            <a:ext cx="4567608" cy="1143000"/>
          </a:xfrm>
        </p:spPr>
        <p:txBody>
          <a:bodyPr lIns="91440" rIns="91440" rtlCol="0">
            <a:normAutofit/>
          </a:bodyPr>
          <a:lstStyle>
            <a:lvl1pPr marL="0" indent="0" algn="l">
              <a:buNone/>
              <a:defRPr sz="16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s-ES" noProof="0" dirty="0"/>
              <a:t>Haga clic para editar el subtítulo</a:t>
            </a:r>
          </a:p>
        </p:txBody>
      </p:sp>
      <p:sp>
        <p:nvSpPr>
          <p:cNvPr id="12" name="Marcador de posición de imagen 11">
            <a:extLst>
              <a:ext uri="{FF2B5EF4-FFF2-40B4-BE49-F238E27FC236}">
                <a16:creationId xmlns:a16="http://schemas.microsoft.com/office/drawing/2014/main" id="{C28A7DB8-FEA5-5A4A-85DF-FA1ADFB3EFC5}"/>
              </a:ext>
            </a:extLst>
          </p:cNvPr>
          <p:cNvSpPr>
            <a:spLocks noGrp="1"/>
          </p:cNvSpPr>
          <p:nvPr>
            <p:ph type="pic" sz="quarter" idx="13"/>
          </p:nvPr>
        </p:nvSpPr>
        <p:spPr>
          <a:xfrm>
            <a:off x="4933721" y="-19458"/>
            <a:ext cx="7261837" cy="6877457"/>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0 w 8464509"/>
              <a:gd name="connsiteY6" fmla="*/ 6858000 h 6858000"/>
              <a:gd name="connsiteX7" fmla="*/ 3426278 w 8464509"/>
              <a:gd name="connsiteY7" fmla="*/ 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426278 w 8464509"/>
              <a:gd name="connsiteY6" fmla="*/ 0 h 6858000"/>
              <a:gd name="connsiteX0" fmla="*/ 3993491 w 8464509"/>
              <a:gd name="connsiteY0" fmla="*/ 19455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993491 w 8464509"/>
              <a:gd name="connsiteY6" fmla="*/ 19455 h 6858000"/>
              <a:gd name="connsiteX0" fmla="*/ 3993491 w 8464509"/>
              <a:gd name="connsiteY0" fmla="*/ 19455 h 6858000"/>
              <a:gd name="connsiteX1" fmla="*/ 3440072 w 8464509"/>
              <a:gd name="connsiteY1" fmla="*/ 37000 h 6858000"/>
              <a:gd name="connsiteX2" fmla="*/ 8464509 w 8464509"/>
              <a:gd name="connsiteY2" fmla="*/ 0 h 6858000"/>
              <a:gd name="connsiteX3" fmla="*/ 8464509 w 8464509"/>
              <a:gd name="connsiteY3" fmla="*/ 6858000 h 6858000"/>
              <a:gd name="connsiteX4" fmla="*/ 0 w 8464509"/>
              <a:gd name="connsiteY4" fmla="*/ 6858000 h 6858000"/>
              <a:gd name="connsiteX5" fmla="*/ 3993491 w 8464509"/>
              <a:gd name="connsiteY5" fmla="*/ 19455 h 6858000"/>
              <a:gd name="connsiteX0" fmla="*/ 3993491 w 8464509"/>
              <a:gd name="connsiteY0" fmla="*/ 19455 h 6858000"/>
              <a:gd name="connsiteX1" fmla="*/ 8464509 w 8464509"/>
              <a:gd name="connsiteY1" fmla="*/ 0 h 6858000"/>
              <a:gd name="connsiteX2" fmla="*/ 8464509 w 8464509"/>
              <a:gd name="connsiteY2" fmla="*/ 6858000 h 6858000"/>
              <a:gd name="connsiteX3" fmla="*/ 0 w 8464509"/>
              <a:gd name="connsiteY3" fmla="*/ 6858000 h 6858000"/>
              <a:gd name="connsiteX4" fmla="*/ 3993491 w 8464509"/>
              <a:gd name="connsiteY4" fmla="*/ 19455 h 6858000"/>
              <a:gd name="connsiteX0" fmla="*/ 4061557 w 8464509"/>
              <a:gd name="connsiteY0" fmla="*/ 0 h 6858001"/>
              <a:gd name="connsiteX1" fmla="*/ 8464509 w 8464509"/>
              <a:gd name="connsiteY1" fmla="*/ 1 h 6858001"/>
              <a:gd name="connsiteX2" fmla="*/ 8464509 w 8464509"/>
              <a:gd name="connsiteY2" fmla="*/ 6858001 h 6858001"/>
              <a:gd name="connsiteX3" fmla="*/ 0 w 8464509"/>
              <a:gd name="connsiteY3" fmla="*/ 6858001 h 6858001"/>
              <a:gd name="connsiteX4" fmla="*/ 4061557 w 8464509"/>
              <a:gd name="connsiteY4" fmla="*/ 0 h 6858001"/>
              <a:gd name="connsiteX0" fmla="*/ 5059852 w 8464509"/>
              <a:gd name="connsiteY0" fmla="*/ 19454 h 6858000"/>
              <a:gd name="connsiteX1" fmla="*/ 8464509 w 8464509"/>
              <a:gd name="connsiteY1" fmla="*/ 0 h 6858000"/>
              <a:gd name="connsiteX2" fmla="*/ 8464509 w 8464509"/>
              <a:gd name="connsiteY2" fmla="*/ 6858000 h 6858000"/>
              <a:gd name="connsiteX3" fmla="*/ 0 w 8464509"/>
              <a:gd name="connsiteY3" fmla="*/ 6858000 h 6858000"/>
              <a:gd name="connsiteX4" fmla="*/ 5059852 w 8464509"/>
              <a:gd name="connsiteY4" fmla="*/ 19454 h 6858000"/>
              <a:gd name="connsiteX0" fmla="*/ 4061557 w 8464509"/>
              <a:gd name="connsiteY0" fmla="*/ 0 h 6877457"/>
              <a:gd name="connsiteX1" fmla="*/ 8464509 w 8464509"/>
              <a:gd name="connsiteY1" fmla="*/ 19457 h 6877457"/>
              <a:gd name="connsiteX2" fmla="*/ 8464509 w 8464509"/>
              <a:gd name="connsiteY2" fmla="*/ 6877457 h 6877457"/>
              <a:gd name="connsiteX3" fmla="*/ 0 w 8464509"/>
              <a:gd name="connsiteY3" fmla="*/ 6877457 h 6877457"/>
              <a:gd name="connsiteX4" fmla="*/ 4061557 w 8464509"/>
              <a:gd name="connsiteY4" fmla="*/ 0 h 6877457"/>
              <a:gd name="connsiteX0" fmla="*/ 4040810 w 8464509"/>
              <a:gd name="connsiteY0" fmla="*/ 0 h 6877457"/>
              <a:gd name="connsiteX1" fmla="*/ 8464509 w 8464509"/>
              <a:gd name="connsiteY1" fmla="*/ 19457 h 6877457"/>
              <a:gd name="connsiteX2" fmla="*/ 8464509 w 8464509"/>
              <a:gd name="connsiteY2" fmla="*/ 6877457 h 6877457"/>
              <a:gd name="connsiteX3" fmla="*/ 0 w 8464509"/>
              <a:gd name="connsiteY3" fmla="*/ 6877457 h 6877457"/>
              <a:gd name="connsiteX4" fmla="*/ 4040810 w 8464509"/>
              <a:gd name="connsiteY4" fmla="*/ 0 h 6877457"/>
              <a:gd name="connsiteX0" fmla="*/ 4040810 w 8464509"/>
              <a:gd name="connsiteY0" fmla="*/ 0 h 6877457"/>
              <a:gd name="connsiteX1" fmla="*/ 8464509 w 8464509"/>
              <a:gd name="connsiteY1" fmla="*/ 143986 h 6877457"/>
              <a:gd name="connsiteX2" fmla="*/ 8464509 w 8464509"/>
              <a:gd name="connsiteY2" fmla="*/ 6877457 h 6877457"/>
              <a:gd name="connsiteX3" fmla="*/ 0 w 8464509"/>
              <a:gd name="connsiteY3" fmla="*/ 6877457 h 6877457"/>
              <a:gd name="connsiteX4" fmla="*/ 4040810 w 8464509"/>
              <a:gd name="connsiteY4" fmla="*/ 0 h 6877457"/>
              <a:gd name="connsiteX0" fmla="*/ 4040810 w 8468658"/>
              <a:gd name="connsiteY0" fmla="*/ 0 h 6877457"/>
              <a:gd name="connsiteX1" fmla="*/ 8468658 w 8468658"/>
              <a:gd name="connsiteY1" fmla="*/ 12341 h 6877457"/>
              <a:gd name="connsiteX2" fmla="*/ 8464509 w 8468658"/>
              <a:gd name="connsiteY2" fmla="*/ 6877457 h 6877457"/>
              <a:gd name="connsiteX3" fmla="*/ 0 w 8468658"/>
              <a:gd name="connsiteY3" fmla="*/ 6877457 h 6877457"/>
              <a:gd name="connsiteX4" fmla="*/ 4040810 w 8468658"/>
              <a:gd name="connsiteY4" fmla="*/ 0 h 6877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8658" h="6877457">
                <a:moveTo>
                  <a:pt x="4040810" y="0"/>
                </a:moveTo>
                <a:lnTo>
                  <a:pt x="8468658" y="12341"/>
                </a:lnTo>
                <a:lnTo>
                  <a:pt x="8464509" y="6877457"/>
                </a:lnTo>
                <a:lnTo>
                  <a:pt x="0" y="6877457"/>
                </a:lnTo>
                <a:lnTo>
                  <a:pt x="4040810" y="0"/>
                </a:lnTo>
                <a:close/>
              </a:path>
            </a:pathLst>
          </a:custGeom>
          <a:solidFill>
            <a:schemeClr val="accent4"/>
          </a:solidFill>
        </p:spPr>
        <p:txBody>
          <a:bodyPr wrap="square" rtlCol="0">
            <a:noAutofit/>
          </a:bodyPr>
          <a:lstStyle/>
          <a:p>
            <a:pPr rtl="0"/>
            <a:r>
              <a:rPr lang="es-ES" noProof="0"/>
              <a:t>Haga clic en el icono para agregar una imagen</a:t>
            </a:r>
            <a:endParaRPr lang="es-ES" noProof="0" dirty="0"/>
          </a:p>
        </p:txBody>
      </p:sp>
      <p:sp>
        <p:nvSpPr>
          <p:cNvPr id="14" name="Triángulo 13">
            <a:extLst>
              <a:ext uri="{FF2B5EF4-FFF2-40B4-BE49-F238E27FC236}">
                <a16:creationId xmlns:a16="http://schemas.microsoft.com/office/drawing/2014/main" id="{6A021AF7-4044-A644-8DB8-495F263390D0}"/>
              </a:ext>
            </a:extLst>
          </p:cNvPr>
          <p:cNvSpPr/>
          <p:nvPr userDrawn="1"/>
        </p:nvSpPr>
        <p:spPr>
          <a:xfrm rot="10800000">
            <a:off x="4933721" y="267867"/>
            <a:ext cx="3031755" cy="3031755"/>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5" name="Triángulo 14">
            <a:extLst>
              <a:ext uri="{FF2B5EF4-FFF2-40B4-BE49-F238E27FC236}">
                <a16:creationId xmlns:a16="http://schemas.microsoft.com/office/drawing/2014/main" id="{D2DFDB14-A8D5-F944-A91C-960A5C2F22AF}"/>
              </a:ext>
            </a:extLst>
          </p:cNvPr>
          <p:cNvSpPr/>
          <p:nvPr userDrawn="1"/>
        </p:nvSpPr>
        <p:spPr>
          <a:xfrm>
            <a:off x="-22175" y="5596959"/>
            <a:ext cx="1261040" cy="1261040"/>
          </a:xfrm>
          <a:prstGeom prst="triangle">
            <a:avLst/>
          </a:prstGeom>
          <a:pattFill prst="lgGrid">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6" name="Triángulo 15">
            <a:extLst>
              <a:ext uri="{FF2B5EF4-FFF2-40B4-BE49-F238E27FC236}">
                <a16:creationId xmlns:a16="http://schemas.microsoft.com/office/drawing/2014/main" id="{B7735FBC-8FBF-9947-B380-14D44D2206B1}"/>
              </a:ext>
            </a:extLst>
          </p:cNvPr>
          <p:cNvSpPr/>
          <p:nvPr userDrawn="1"/>
        </p:nvSpPr>
        <p:spPr>
          <a:xfrm rot="10800000">
            <a:off x="184302" y="236698"/>
            <a:ext cx="519337" cy="519337"/>
          </a:xfrm>
          <a:prstGeom prst="triangle">
            <a:avLst/>
          </a:prstGeom>
          <a:pattFill prst="dkVert">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7" name="Triángulo 16">
            <a:extLst>
              <a:ext uri="{FF2B5EF4-FFF2-40B4-BE49-F238E27FC236}">
                <a16:creationId xmlns:a16="http://schemas.microsoft.com/office/drawing/2014/main" id="{17B7C303-8734-B141-AF0D-2945DA349FBD}"/>
              </a:ext>
            </a:extLst>
          </p:cNvPr>
          <p:cNvSpPr/>
          <p:nvPr userDrawn="1"/>
        </p:nvSpPr>
        <p:spPr>
          <a:xfrm>
            <a:off x="4414384" y="5795386"/>
            <a:ext cx="519337" cy="519337"/>
          </a:xfrm>
          <a:prstGeom prst="triangle">
            <a:avLst/>
          </a:prstGeom>
          <a:pattFill prst="wdUpDiag">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8" name="Triángulo 17">
            <a:extLst>
              <a:ext uri="{FF2B5EF4-FFF2-40B4-BE49-F238E27FC236}">
                <a16:creationId xmlns:a16="http://schemas.microsoft.com/office/drawing/2014/main" id="{67914AE0-93F2-8346-B885-5734D2B694B2}"/>
              </a:ext>
            </a:extLst>
          </p:cNvPr>
          <p:cNvSpPr/>
          <p:nvPr userDrawn="1"/>
        </p:nvSpPr>
        <p:spPr>
          <a:xfrm rot="5400000">
            <a:off x="-48606" y="3035784"/>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310166772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os objetos horizontales ">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3FFCAC17-2511-3D4F-A318-B241447A2C02}"/>
              </a:ext>
            </a:extLst>
          </p:cNvPr>
          <p:cNvSpPr/>
          <p:nvPr userDrawn="1"/>
        </p:nvSpPr>
        <p:spPr>
          <a:xfrm>
            <a:off x="413825" y="2941613"/>
            <a:ext cx="11364350" cy="34326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5" name="Marcador de contenido 2">
            <a:extLst>
              <a:ext uri="{FF2B5EF4-FFF2-40B4-BE49-F238E27FC236}">
                <a16:creationId xmlns:a16="http://schemas.microsoft.com/office/drawing/2014/main" id="{C13F5538-7999-A74B-BCB7-A96C8DBCCD06}"/>
              </a:ext>
            </a:extLst>
          </p:cNvPr>
          <p:cNvSpPr>
            <a:spLocks noGrp="1"/>
          </p:cNvSpPr>
          <p:nvPr>
            <p:ph idx="1"/>
          </p:nvPr>
        </p:nvSpPr>
        <p:spPr>
          <a:xfrm>
            <a:off x="932329" y="4280546"/>
            <a:ext cx="10452848" cy="1791071"/>
          </a:xfrm>
        </p:spPr>
        <p:txBody>
          <a:bodyPr rtlCol="0"/>
          <a:lstStyle>
            <a:lvl1pPr marL="342900" indent="-342900">
              <a:buClr>
                <a:schemeClr val="accent1"/>
              </a:buClr>
              <a:buFont typeface="Arial" panose="020B0604020202020204" pitchFamily="34" charset="0"/>
              <a:buChar char="•"/>
              <a:defRPr>
                <a:solidFill>
                  <a:schemeClr val="bg1"/>
                </a:solidFill>
              </a:defRPr>
            </a:lvl1pPr>
            <a:lvl2pPr marL="486918" indent="-285750">
              <a:buClr>
                <a:schemeClr val="accent1"/>
              </a:buClr>
              <a:buFont typeface="Arial" panose="020B0604020202020204" pitchFamily="34" charset="0"/>
              <a:buChar char="•"/>
              <a:defRPr>
                <a:solidFill>
                  <a:schemeClr val="bg1"/>
                </a:solidFill>
              </a:defRPr>
            </a:lvl2pPr>
            <a:lvl3pPr marL="669798" indent="-285750">
              <a:buClr>
                <a:schemeClr val="accent1"/>
              </a:buClr>
              <a:buFont typeface="Arial" panose="020B0604020202020204" pitchFamily="34" charset="0"/>
              <a:buChar char="•"/>
              <a:defRPr>
                <a:solidFill>
                  <a:schemeClr val="bg1"/>
                </a:solidFill>
              </a:defRPr>
            </a:lvl3pPr>
            <a:lvl4pPr marL="852678" indent="-285750">
              <a:buClr>
                <a:schemeClr val="accent1"/>
              </a:buClr>
              <a:buFont typeface="Arial" panose="020B0604020202020204" pitchFamily="34" charset="0"/>
              <a:buChar char="•"/>
              <a:defRPr>
                <a:solidFill>
                  <a:schemeClr val="bg1"/>
                </a:solidFill>
              </a:defRPr>
            </a:lvl4pPr>
            <a:lvl5pPr marL="1035558" indent="-285750">
              <a:buClr>
                <a:schemeClr val="accent1"/>
              </a:buClr>
              <a:buFont typeface="Arial" panose="020B0604020202020204" pitchFamily="34" charset="0"/>
              <a:buChar char="•"/>
              <a:defRPr>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16" name="Marcador de fecha 6">
            <a:extLst>
              <a:ext uri="{FF2B5EF4-FFF2-40B4-BE49-F238E27FC236}">
                <a16:creationId xmlns:a16="http://schemas.microsoft.com/office/drawing/2014/main" id="{DE5056B4-56A3-6E40-92E1-FA33B5C8F807}"/>
              </a:ext>
            </a:extLst>
          </p:cNvPr>
          <p:cNvSpPr>
            <a:spLocks noGrp="1"/>
          </p:cNvSpPr>
          <p:nvPr>
            <p:ph type="dt" sz="half" idx="10"/>
          </p:nvPr>
        </p:nvSpPr>
        <p:spPr>
          <a:xfrm>
            <a:off x="8218426" y="6446838"/>
            <a:ext cx="2584850" cy="365125"/>
          </a:xfrm>
        </p:spPr>
        <p:txBody>
          <a:bodyPr rtlCol="0"/>
          <a:lstStyle/>
          <a:p>
            <a:pPr rtl="0"/>
            <a:fld id="{9E26F449-4091-4CB1-9E22-E4FD1EFB0F65}" type="datetime1">
              <a:rPr lang="es-ES" noProof="0" smtClean="0"/>
              <a:t>14/01/2021</a:t>
            </a:fld>
            <a:endParaRPr lang="es-ES" noProof="0" dirty="0"/>
          </a:p>
        </p:txBody>
      </p:sp>
      <p:sp>
        <p:nvSpPr>
          <p:cNvPr id="17" name="Marcador de pie de página 7">
            <a:extLst>
              <a:ext uri="{FF2B5EF4-FFF2-40B4-BE49-F238E27FC236}">
                <a16:creationId xmlns:a16="http://schemas.microsoft.com/office/drawing/2014/main" id="{A47DE6D7-793F-C846-8A00-3061847B66B0}"/>
              </a:ext>
            </a:extLst>
          </p:cNvPr>
          <p:cNvSpPr>
            <a:spLocks noGrp="1"/>
          </p:cNvSpPr>
          <p:nvPr>
            <p:ph type="ftr" sz="quarter" idx="11"/>
          </p:nvPr>
        </p:nvSpPr>
        <p:spPr>
          <a:xfrm>
            <a:off x="1097279" y="6446838"/>
            <a:ext cx="6818262" cy="365125"/>
          </a:xfrm>
        </p:spPr>
        <p:txBody>
          <a:bodyPr rtlCol="0"/>
          <a:lstStyle/>
          <a:p>
            <a:pPr rtl="0"/>
            <a:endParaRPr lang="es-ES" noProof="0" dirty="0"/>
          </a:p>
        </p:txBody>
      </p:sp>
      <p:sp>
        <p:nvSpPr>
          <p:cNvPr id="18" name="Marcador de número de diapositiva 8">
            <a:extLst>
              <a:ext uri="{FF2B5EF4-FFF2-40B4-BE49-F238E27FC236}">
                <a16:creationId xmlns:a16="http://schemas.microsoft.com/office/drawing/2014/main" id="{B4C61174-2D39-E640-8A16-DCE655544212}"/>
              </a:ext>
            </a:extLst>
          </p:cNvPr>
          <p:cNvSpPr>
            <a:spLocks noGrp="1"/>
          </p:cNvSpPr>
          <p:nvPr>
            <p:ph type="sldNum" sz="quarter" idx="12"/>
          </p:nvPr>
        </p:nvSpPr>
        <p:spPr>
          <a:xfrm>
            <a:off x="10993582" y="6446838"/>
            <a:ext cx="780010" cy="365125"/>
          </a:xfrm>
        </p:spPr>
        <p:txBody>
          <a:bodyPr rtlCol="0"/>
          <a:lstStyle/>
          <a:p>
            <a:pPr rtl="0"/>
            <a:fld id="{3A98EE3D-8CD1-4C3F-BD1C-C98C9596463C}" type="slidenum">
              <a:rPr lang="es-ES" noProof="0" smtClean="0"/>
              <a:t>‹Nº›</a:t>
            </a:fld>
            <a:endParaRPr lang="es-ES" noProof="0" dirty="0"/>
          </a:p>
        </p:txBody>
      </p:sp>
      <p:sp>
        <p:nvSpPr>
          <p:cNvPr id="19" name="Título 9">
            <a:extLst>
              <a:ext uri="{FF2B5EF4-FFF2-40B4-BE49-F238E27FC236}">
                <a16:creationId xmlns:a16="http://schemas.microsoft.com/office/drawing/2014/main" id="{13596EE0-A679-3B49-BA9A-D5C79B0C8381}"/>
              </a:ext>
            </a:extLst>
          </p:cNvPr>
          <p:cNvSpPr>
            <a:spLocks noGrp="1"/>
          </p:cNvSpPr>
          <p:nvPr>
            <p:ph type="title"/>
          </p:nvPr>
        </p:nvSpPr>
        <p:spPr>
          <a:xfrm>
            <a:off x="932329" y="3143154"/>
            <a:ext cx="10452849" cy="910492"/>
          </a:xfrm>
        </p:spPr>
        <p:txBody>
          <a:bodyPr rtlCol="0" anchor="ctr"/>
          <a:lstStyle>
            <a:lvl1pPr algn="l">
              <a:defRPr>
                <a:solidFill>
                  <a:schemeClr val="bg1"/>
                </a:solidFill>
              </a:defRPr>
            </a:lvl1pPr>
          </a:lstStyle>
          <a:p>
            <a:pPr rtl="0"/>
            <a:r>
              <a:rPr lang="es-ES" noProof="0"/>
              <a:t>Haga clic para modificar el estilo de título del patrón</a:t>
            </a:r>
            <a:endParaRPr lang="es-ES" noProof="0" dirty="0"/>
          </a:p>
        </p:txBody>
      </p:sp>
      <p:sp>
        <p:nvSpPr>
          <p:cNvPr id="20" name="Triángulo 19">
            <a:extLst>
              <a:ext uri="{FF2B5EF4-FFF2-40B4-BE49-F238E27FC236}">
                <a16:creationId xmlns:a16="http://schemas.microsoft.com/office/drawing/2014/main" id="{3E931B03-E301-6D48-8377-B08DA6C95F0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1" name="Triángulo 20">
            <a:extLst>
              <a:ext uri="{FF2B5EF4-FFF2-40B4-BE49-F238E27FC236}">
                <a16:creationId xmlns:a16="http://schemas.microsoft.com/office/drawing/2014/main" id="{249401AC-F116-8B4C-A1A0-CF88B63E549B}"/>
              </a:ext>
            </a:extLst>
          </p:cNvPr>
          <p:cNvSpPr/>
          <p:nvPr userDrawn="1"/>
        </p:nvSpPr>
        <p:spPr>
          <a:xfrm rot="5400000">
            <a:off x="-48606" y="333456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4" name="Marcador de posición de imagen 3">
            <a:extLst>
              <a:ext uri="{FF2B5EF4-FFF2-40B4-BE49-F238E27FC236}">
                <a16:creationId xmlns:a16="http://schemas.microsoft.com/office/drawing/2014/main" id="{8A3226FF-244B-B540-ABAC-5C0E3DE3103C}"/>
              </a:ext>
            </a:extLst>
          </p:cNvPr>
          <p:cNvSpPr>
            <a:spLocks noGrp="1"/>
          </p:cNvSpPr>
          <p:nvPr>
            <p:ph type="pic" sz="quarter" idx="13"/>
          </p:nvPr>
        </p:nvSpPr>
        <p:spPr>
          <a:xfrm>
            <a:off x="413824" y="483782"/>
            <a:ext cx="11365992" cy="2457856"/>
          </a:xfrm>
          <a:solidFill>
            <a:schemeClr val="accent1"/>
          </a:solidFill>
        </p:spPr>
        <p:txBody>
          <a:bodyPr rtlCol="0"/>
          <a:lstStyle/>
          <a:p>
            <a:pPr rtl="0"/>
            <a:r>
              <a:rPr lang="es-ES" noProof="0"/>
              <a:t>Haga clic en el icono para agregar una imagen</a:t>
            </a:r>
            <a:endParaRPr lang="es-ES" noProof="0" dirty="0"/>
          </a:p>
        </p:txBody>
      </p:sp>
    </p:spTree>
    <p:extLst>
      <p:ext uri="{BB962C8B-B14F-4D97-AF65-F5344CB8AC3E}">
        <p14:creationId xmlns:p14="http://schemas.microsoft.com/office/powerpoint/2010/main" val="427644867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s contenidos">
    <p:bg>
      <p:bgPr>
        <a:solidFill>
          <a:schemeClr val="bg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3" name="Marcador de contenido 2"/>
          <p:cNvSpPr>
            <a:spLocks noGrp="1"/>
          </p:cNvSpPr>
          <p:nvPr>
            <p:ph idx="1"/>
          </p:nvPr>
        </p:nvSpPr>
        <p:spPr>
          <a:xfrm>
            <a:off x="932329" y="2031121"/>
            <a:ext cx="4534616" cy="3933150"/>
          </a:xfrm>
        </p:spPr>
        <p:txBody>
          <a:bodyPr rtlCol="0"/>
          <a:lstStyle>
            <a:lvl1pPr marL="342900" indent="-342900">
              <a:buClr>
                <a:schemeClr val="accent1"/>
              </a:buClr>
              <a:buFont typeface="Arial" panose="020B0604020202020204" pitchFamily="34" charset="0"/>
              <a:buChar char="•"/>
              <a:defRPr>
                <a:solidFill>
                  <a:schemeClr val="bg1"/>
                </a:solidFill>
              </a:defRPr>
            </a:lvl1pPr>
            <a:lvl2pPr marL="486918" indent="-285750">
              <a:buClr>
                <a:schemeClr val="accent1"/>
              </a:buClr>
              <a:buFont typeface="Arial" panose="020B0604020202020204" pitchFamily="34" charset="0"/>
              <a:buChar char="•"/>
              <a:defRPr>
                <a:solidFill>
                  <a:schemeClr val="bg1"/>
                </a:solidFill>
              </a:defRPr>
            </a:lvl2pPr>
            <a:lvl3pPr marL="669798" indent="-285750">
              <a:buClr>
                <a:schemeClr val="accent1"/>
              </a:buClr>
              <a:buFont typeface="Arial" panose="020B0604020202020204" pitchFamily="34" charset="0"/>
              <a:buChar char="•"/>
              <a:defRPr>
                <a:solidFill>
                  <a:schemeClr val="bg1"/>
                </a:solidFill>
              </a:defRPr>
            </a:lvl3pPr>
            <a:lvl4pPr marL="852678" indent="-285750">
              <a:buClr>
                <a:schemeClr val="accent1"/>
              </a:buClr>
              <a:buFont typeface="Arial" panose="020B0604020202020204" pitchFamily="34" charset="0"/>
              <a:buChar char="•"/>
              <a:defRPr>
                <a:solidFill>
                  <a:schemeClr val="bg1"/>
                </a:solidFill>
              </a:defRPr>
            </a:lvl4pPr>
            <a:lvl5pPr marL="1035558" indent="-285750">
              <a:buClr>
                <a:schemeClr val="accent1"/>
              </a:buClr>
              <a:buFont typeface="Arial" panose="020B0604020202020204" pitchFamily="34" charset="0"/>
              <a:buChar char="•"/>
              <a:defRPr>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4EFDDAC6-87DD-4DD1-B670-3D8F5793DB86}" type="datetime1">
              <a:rPr lang="es-ES" noProof="0" smtClean="0"/>
              <a:t>14/01/2021</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a:xfrm>
            <a:off x="1097279" y="6446838"/>
            <a:ext cx="6818262" cy="365125"/>
          </a:xfrm>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10" name="Título 9">
            <a:extLst>
              <a:ext uri="{FF2B5EF4-FFF2-40B4-BE49-F238E27FC236}">
                <a16:creationId xmlns:a16="http://schemas.microsoft.com/office/drawing/2014/main" id="{E885CA99-382D-3E4B-9C4E-B250026EF32E}"/>
              </a:ext>
            </a:extLst>
          </p:cNvPr>
          <p:cNvSpPr>
            <a:spLocks noGrp="1"/>
          </p:cNvSpPr>
          <p:nvPr>
            <p:ph type="title"/>
          </p:nvPr>
        </p:nvSpPr>
        <p:spPr>
          <a:xfrm>
            <a:off x="932330" y="893729"/>
            <a:ext cx="4534616" cy="910492"/>
          </a:xfrm>
        </p:spPr>
        <p:txBody>
          <a:bodyPr rtlCol="0" anchor="ctr"/>
          <a:lstStyle>
            <a:lvl1pPr algn="l">
              <a:defRPr>
                <a:solidFill>
                  <a:schemeClr val="bg1"/>
                </a:solidFill>
              </a:defRPr>
            </a:lvl1pPr>
          </a:lstStyle>
          <a:p>
            <a:pPr rtl="0"/>
            <a:r>
              <a:rPr lang="es-ES" noProof="0"/>
              <a:t>Haga clic para modificar el estilo de título del patrón</a:t>
            </a:r>
            <a:endParaRPr lang="es-ES" noProof="0" dirty="0"/>
          </a:p>
        </p:txBody>
      </p:sp>
      <p:sp>
        <p:nvSpPr>
          <p:cNvPr id="11" name="Triángulo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rgbClr val="C5AE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2" name="Triángulo 11">
            <a:extLst>
              <a:ext uri="{FF2B5EF4-FFF2-40B4-BE49-F238E27FC236}">
                <a16:creationId xmlns:a16="http://schemas.microsoft.com/office/drawing/2014/main" id="{653A8DFA-7BAB-7F45-AC35-E4D26BDBC78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7" name="Marcador de posición de imagen 16">
            <a:extLst>
              <a:ext uri="{FF2B5EF4-FFF2-40B4-BE49-F238E27FC236}">
                <a16:creationId xmlns:a16="http://schemas.microsoft.com/office/drawing/2014/main" id="{F5D5DA7E-149B-BB4E-918D-C5FF23087FF1}"/>
              </a:ext>
            </a:extLst>
          </p:cNvPr>
          <p:cNvSpPr>
            <a:spLocks noGrp="1"/>
          </p:cNvSpPr>
          <p:nvPr>
            <p:ph type="pic" sz="quarter" idx="13"/>
          </p:nvPr>
        </p:nvSpPr>
        <p:spPr>
          <a:xfrm>
            <a:off x="3727491" y="0"/>
            <a:ext cx="8464509" cy="6858000"/>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0 w 8464509"/>
              <a:gd name="connsiteY6" fmla="*/ 6858000 h 6858000"/>
              <a:gd name="connsiteX7" fmla="*/ 3426278 w 8464509"/>
              <a:gd name="connsiteY7" fmla="*/ 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426278 w 8464509"/>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4509" h="6858000">
                <a:moveTo>
                  <a:pt x="3426278" y="0"/>
                </a:moveTo>
                <a:lnTo>
                  <a:pt x="3440072" y="37000"/>
                </a:lnTo>
                <a:lnTo>
                  <a:pt x="3440072" y="0"/>
                </a:lnTo>
                <a:lnTo>
                  <a:pt x="8464509" y="0"/>
                </a:lnTo>
                <a:lnTo>
                  <a:pt x="8464509" y="6858000"/>
                </a:lnTo>
                <a:lnTo>
                  <a:pt x="0" y="6858000"/>
                </a:lnTo>
                <a:lnTo>
                  <a:pt x="3426278" y="0"/>
                </a:lnTo>
                <a:close/>
              </a:path>
            </a:pathLst>
          </a:custGeom>
          <a:solidFill>
            <a:schemeClr val="accent4"/>
          </a:solidFill>
        </p:spPr>
        <p:txBody>
          <a:bodyPr wrap="square" rtlCol="0">
            <a:noAutofit/>
          </a:bodyPr>
          <a:lstStyle/>
          <a:p>
            <a:pPr rtl="0"/>
            <a:r>
              <a:rPr lang="es-ES" noProof="0"/>
              <a:t>Haga clic en el icono para agregar una imagen</a:t>
            </a:r>
            <a:endParaRPr lang="es-ES" noProof="0" dirty="0"/>
          </a:p>
        </p:txBody>
      </p:sp>
      <p:sp>
        <p:nvSpPr>
          <p:cNvPr id="19" name="Triángulo 18">
            <a:extLst>
              <a:ext uri="{FF2B5EF4-FFF2-40B4-BE49-F238E27FC236}">
                <a16:creationId xmlns:a16="http://schemas.microsoft.com/office/drawing/2014/main" id="{BEBB0DCE-DD71-FF40-B471-A617514321E6}"/>
              </a:ext>
            </a:extLst>
          </p:cNvPr>
          <p:cNvSpPr/>
          <p:nvPr userDrawn="1"/>
        </p:nvSpPr>
        <p:spPr>
          <a:xfrm rot="10800000">
            <a:off x="5869115" y="4530"/>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85633777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contenido_negro">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3" name="Marcador de contenido 2"/>
          <p:cNvSpPr>
            <a:spLocks noGrp="1"/>
          </p:cNvSpPr>
          <p:nvPr>
            <p:ph idx="1"/>
          </p:nvPr>
        </p:nvSpPr>
        <p:spPr>
          <a:xfrm>
            <a:off x="932329" y="2031121"/>
            <a:ext cx="10452848" cy="3933150"/>
          </a:xfrm>
        </p:spPr>
        <p:txBody>
          <a:bodyPr rtlCol="0"/>
          <a:lstStyle>
            <a:lvl1pPr marL="342900" indent="-342900">
              <a:buClr>
                <a:schemeClr val="accent1"/>
              </a:buClr>
              <a:buFont typeface="Arial" panose="020B0604020202020204" pitchFamily="34" charset="0"/>
              <a:buChar char="•"/>
              <a:defRPr>
                <a:solidFill>
                  <a:schemeClr val="bg1"/>
                </a:solidFill>
              </a:defRPr>
            </a:lvl1pPr>
            <a:lvl2pPr marL="486918" indent="-285750">
              <a:buClr>
                <a:schemeClr val="accent1"/>
              </a:buClr>
              <a:buFont typeface="Arial" panose="020B0604020202020204" pitchFamily="34" charset="0"/>
              <a:buChar char="•"/>
              <a:defRPr>
                <a:solidFill>
                  <a:schemeClr val="bg1"/>
                </a:solidFill>
              </a:defRPr>
            </a:lvl2pPr>
            <a:lvl3pPr marL="669798" indent="-285750">
              <a:buClr>
                <a:schemeClr val="accent1"/>
              </a:buClr>
              <a:buFont typeface="Arial" panose="020B0604020202020204" pitchFamily="34" charset="0"/>
              <a:buChar char="•"/>
              <a:defRPr>
                <a:solidFill>
                  <a:schemeClr val="bg1"/>
                </a:solidFill>
              </a:defRPr>
            </a:lvl3pPr>
            <a:lvl4pPr marL="852678" indent="-285750">
              <a:buClr>
                <a:schemeClr val="accent1"/>
              </a:buClr>
              <a:buFont typeface="Arial" panose="020B0604020202020204" pitchFamily="34" charset="0"/>
              <a:buChar char="•"/>
              <a:defRPr>
                <a:solidFill>
                  <a:schemeClr val="bg1"/>
                </a:solidFill>
              </a:defRPr>
            </a:lvl4pPr>
            <a:lvl5pPr marL="1035558" indent="-285750">
              <a:buClr>
                <a:schemeClr val="accent1"/>
              </a:buClr>
              <a:buFont typeface="Arial" panose="020B0604020202020204" pitchFamily="34" charset="0"/>
              <a:buChar char="•"/>
              <a:defRPr>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78D23D98-9656-4439-8C57-7795032792C9}" type="datetime1">
              <a:rPr lang="es-ES" noProof="0" smtClean="0"/>
              <a:t>14/01/2021</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10" name="Título 9">
            <a:extLst>
              <a:ext uri="{FF2B5EF4-FFF2-40B4-BE49-F238E27FC236}">
                <a16:creationId xmlns:a16="http://schemas.microsoft.com/office/drawing/2014/main" id="{E885CA99-382D-3E4B-9C4E-B250026EF32E}"/>
              </a:ext>
            </a:extLst>
          </p:cNvPr>
          <p:cNvSpPr>
            <a:spLocks noGrp="1"/>
          </p:cNvSpPr>
          <p:nvPr>
            <p:ph type="title"/>
          </p:nvPr>
        </p:nvSpPr>
        <p:spPr>
          <a:xfrm>
            <a:off x="932329" y="893729"/>
            <a:ext cx="10452849" cy="910492"/>
          </a:xfrm>
        </p:spPr>
        <p:txBody>
          <a:bodyPr rtlCol="0" anchor="ctr"/>
          <a:lstStyle>
            <a:lvl1pPr algn="l">
              <a:defRPr>
                <a:solidFill>
                  <a:schemeClr val="bg1"/>
                </a:solidFill>
              </a:defRPr>
            </a:lvl1pPr>
          </a:lstStyle>
          <a:p>
            <a:pPr rtl="0"/>
            <a:r>
              <a:rPr lang="es-ES" noProof="0"/>
              <a:t>Haga clic para modificar el estilo de título del patrón</a:t>
            </a:r>
            <a:endParaRPr lang="es-ES" noProof="0" dirty="0"/>
          </a:p>
        </p:txBody>
      </p:sp>
      <p:sp>
        <p:nvSpPr>
          <p:cNvPr id="11" name="Triángulo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2" name="Triángulo 11">
            <a:extLst>
              <a:ext uri="{FF2B5EF4-FFF2-40B4-BE49-F238E27FC236}">
                <a16:creationId xmlns:a16="http://schemas.microsoft.com/office/drawing/2014/main" id="{653A8DFA-7BAB-7F45-AC35-E4D26BDBC78A}"/>
              </a:ext>
            </a:extLst>
          </p:cNvPr>
          <p:cNvSpPr/>
          <p:nvPr userDrawn="1"/>
        </p:nvSpPr>
        <p:spPr>
          <a:xfrm rot="5400000">
            <a:off x="-48606" y="1085138"/>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79293382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lo título negro">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F57E3888-C14D-4A0C-BC27-216F85308D57}" type="datetime1">
              <a:rPr lang="es-ES" noProof="0" smtClean="0"/>
              <a:t>14/01/2021</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10" name="Título 9">
            <a:extLst>
              <a:ext uri="{FF2B5EF4-FFF2-40B4-BE49-F238E27FC236}">
                <a16:creationId xmlns:a16="http://schemas.microsoft.com/office/drawing/2014/main" id="{E885CA99-382D-3E4B-9C4E-B250026EF32E}"/>
              </a:ext>
            </a:extLst>
          </p:cNvPr>
          <p:cNvSpPr>
            <a:spLocks noGrp="1"/>
          </p:cNvSpPr>
          <p:nvPr>
            <p:ph type="title"/>
          </p:nvPr>
        </p:nvSpPr>
        <p:spPr>
          <a:xfrm>
            <a:off x="932329" y="893729"/>
            <a:ext cx="10452849" cy="910492"/>
          </a:xfrm>
        </p:spPr>
        <p:txBody>
          <a:bodyPr rtlCol="0" anchor="ctr"/>
          <a:lstStyle>
            <a:lvl1pPr algn="l">
              <a:defRPr>
                <a:solidFill>
                  <a:schemeClr val="bg1"/>
                </a:solidFill>
              </a:defRPr>
            </a:lvl1pPr>
          </a:lstStyle>
          <a:p>
            <a:pPr rtl="0"/>
            <a:r>
              <a:rPr lang="es-ES" noProof="0"/>
              <a:t>Haga clic para modificar el estilo de título del patrón</a:t>
            </a:r>
            <a:endParaRPr lang="es-ES" noProof="0" dirty="0"/>
          </a:p>
        </p:txBody>
      </p:sp>
      <p:sp>
        <p:nvSpPr>
          <p:cNvPr id="11" name="Triángulo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2" name="Triángulo 11">
            <a:extLst>
              <a:ext uri="{FF2B5EF4-FFF2-40B4-BE49-F238E27FC236}">
                <a16:creationId xmlns:a16="http://schemas.microsoft.com/office/drawing/2014/main" id="{653A8DFA-7BAB-7F45-AC35-E4D26BDBC78A}"/>
              </a:ext>
            </a:extLst>
          </p:cNvPr>
          <p:cNvSpPr/>
          <p:nvPr userDrawn="1"/>
        </p:nvSpPr>
        <p:spPr>
          <a:xfrm rot="5400000">
            <a:off x="-48606" y="1085138"/>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420723674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y contenido_blanco">
    <p:bg>
      <p:bgPr>
        <a:solidFill>
          <a:schemeClr val="tx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12351154-E7FA-442C-9C80-FC63B8EDBF7F}" type="datetime1">
              <a:rPr lang="es-ES" noProof="0" smtClean="0"/>
              <a:t>14/01/2021</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11" name="Triángulo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2" name="Triángulo 11">
            <a:extLst>
              <a:ext uri="{FF2B5EF4-FFF2-40B4-BE49-F238E27FC236}">
                <a16:creationId xmlns:a16="http://schemas.microsoft.com/office/drawing/2014/main" id="{653A8DFA-7BAB-7F45-AC35-E4D26BDBC78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6" name="Marcador de contenido 2">
            <a:extLst>
              <a:ext uri="{FF2B5EF4-FFF2-40B4-BE49-F238E27FC236}">
                <a16:creationId xmlns:a16="http://schemas.microsoft.com/office/drawing/2014/main" id="{913F7CD6-7F0D-1C4F-AE97-8E76514EED57}"/>
              </a:ext>
            </a:extLst>
          </p:cNvPr>
          <p:cNvSpPr>
            <a:spLocks noGrp="1"/>
          </p:cNvSpPr>
          <p:nvPr>
            <p:ph idx="1"/>
          </p:nvPr>
        </p:nvSpPr>
        <p:spPr>
          <a:xfrm>
            <a:off x="932329" y="2031121"/>
            <a:ext cx="10452848" cy="3933150"/>
          </a:xfrm>
        </p:spPr>
        <p:txBody>
          <a:bodyPr rtlCol="0"/>
          <a:lstStyle>
            <a:lvl1pPr marL="342900" indent="-342900">
              <a:buClr>
                <a:schemeClr val="accent1"/>
              </a:buClr>
              <a:buFont typeface="Arial" panose="020B0604020202020204" pitchFamily="34" charset="0"/>
              <a:buChar char="•"/>
              <a:defRPr>
                <a:solidFill>
                  <a:schemeClr val="tx1"/>
                </a:solidFill>
              </a:defRPr>
            </a:lvl1pPr>
            <a:lvl2pPr marL="486918" indent="-285750">
              <a:buClr>
                <a:schemeClr val="accent1"/>
              </a:buClr>
              <a:buFont typeface="Arial" panose="020B0604020202020204" pitchFamily="34" charset="0"/>
              <a:buChar char="•"/>
              <a:defRPr>
                <a:solidFill>
                  <a:schemeClr val="tx1"/>
                </a:solidFill>
              </a:defRPr>
            </a:lvl2pPr>
            <a:lvl3pPr marL="669798" indent="-285750">
              <a:buClr>
                <a:schemeClr val="accent1"/>
              </a:buClr>
              <a:buFont typeface="Arial" panose="020B0604020202020204" pitchFamily="34" charset="0"/>
              <a:buChar char="•"/>
              <a:defRPr>
                <a:solidFill>
                  <a:schemeClr val="tx1"/>
                </a:solidFill>
              </a:defRPr>
            </a:lvl3pPr>
            <a:lvl4pPr marL="852678" indent="-285750">
              <a:buClr>
                <a:schemeClr val="accent1"/>
              </a:buClr>
              <a:buFont typeface="Arial" panose="020B0604020202020204" pitchFamily="34" charset="0"/>
              <a:buChar char="•"/>
              <a:defRPr>
                <a:solidFill>
                  <a:schemeClr val="tx1"/>
                </a:solidFill>
              </a:defRPr>
            </a:lvl4pPr>
            <a:lvl5pPr marL="1035558" indent="-285750">
              <a:buClr>
                <a:schemeClr val="accent1"/>
              </a:buClr>
              <a:buFont typeface="Arial" panose="020B0604020202020204" pitchFamily="34" charset="0"/>
              <a:buChar char="•"/>
              <a:defRPr>
                <a:solidFill>
                  <a:schemeClr val="tx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17" name="Título 9">
            <a:extLst>
              <a:ext uri="{FF2B5EF4-FFF2-40B4-BE49-F238E27FC236}">
                <a16:creationId xmlns:a16="http://schemas.microsoft.com/office/drawing/2014/main" id="{FC3934F6-C727-0048-AD31-76E16E779680}"/>
              </a:ext>
            </a:extLst>
          </p:cNvPr>
          <p:cNvSpPr>
            <a:spLocks noGrp="1"/>
          </p:cNvSpPr>
          <p:nvPr>
            <p:ph type="title"/>
          </p:nvPr>
        </p:nvSpPr>
        <p:spPr>
          <a:xfrm>
            <a:off x="932329" y="893729"/>
            <a:ext cx="10452849" cy="910492"/>
          </a:xfrm>
        </p:spPr>
        <p:txBody>
          <a:bodyPr rtlCol="0" anchor="ctr"/>
          <a:lstStyle>
            <a:lvl1pPr algn="l">
              <a:defRPr>
                <a:solidFill>
                  <a:schemeClr val="tx1"/>
                </a:solidFill>
              </a:defRPr>
            </a:lvl1pPr>
          </a:lstStyle>
          <a:p>
            <a:pPr rtl="0"/>
            <a:r>
              <a:rPr lang="es-ES" noProof="0"/>
              <a:t>Haga clic para modificar el estilo de título del patrón</a:t>
            </a:r>
            <a:endParaRPr lang="es-ES" noProof="0" dirty="0"/>
          </a:p>
        </p:txBody>
      </p:sp>
    </p:spTree>
    <p:extLst>
      <p:ext uri="{BB962C8B-B14F-4D97-AF65-F5344CB8AC3E}">
        <p14:creationId xmlns:p14="http://schemas.microsoft.com/office/powerpoint/2010/main" val="34380297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ítulo_blanco">
    <p:bg>
      <p:bgPr>
        <a:solidFill>
          <a:schemeClr val="tx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A8E07F05-75F3-4704-9BB6-BE9A2017CBB9}" type="datetime1">
              <a:rPr lang="es-ES" noProof="0" smtClean="0"/>
              <a:t>14/01/2021</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11" name="Triángulo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2" name="Triángulo 11">
            <a:extLst>
              <a:ext uri="{FF2B5EF4-FFF2-40B4-BE49-F238E27FC236}">
                <a16:creationId xmlns:a16="http://schemas.microsoft.com/office/drawing/2014/main" id="{653A8DFA-7BAB-7F45-AC35-E4D26BDBC78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7" name="Título 9">
            <a:extLst>
              <a:ext uri="{FF2B5EF4-FFF2-40B4-BE49-F238E27FC236}">
                <a16:creationId xmlns:a16="http://schemas.microsoft.com/office/drawing/2014/main" id="{FC3934F6-C727-0048-AD31-76E16E779680}"/>
              </a:ext>
            </a:extLst>
          </p:cNvPr>
          <p:cNvSpPr>
            <a:spLocks noGrp="1"/>
          </p:cNvSpPr>
          <p:nvPr>
            <p:ph type="title"/>
          </p:nvPr>
        </p:nvSpPr>
        <p:spPr>
          <a:xfrm>
            <a:off x="932329" y="893729"/>
            <a:ext cx="10452849" cy="910492"/>
          </a:xfrm>
        </p:spPr>
        <p:txBody>
          <a:bodyPr rtlCol="0" anchor="ctr"/>
          <a:lstStyle>
            <a:lvl1pPr algn="l">
              <a:defRPr>
                <a:solidFill>
                  <a:schemeClr val="tx1"/>
                </a:solidFill>
              </a:defRPr>
            </a:lvl1pPr>
          </a:lstStyle>
          <a:p>
            <a:pPr rtl="0"/>
            <a:r>
              <a:rPr lang="es-ES" noProof="0"/>
              <a:t>Haga clic para modificar el estilo de título del patrón</a:t>
            </a:r>
            <a:endParaRPr lang="es-ES" noProof="0" dirty="0"/>
          </a:p>
        </p:txBody>
      </p:sp>
    </p:spTree>
    <p:extLst>
      <p:ext uri="{BB962C8B-B14F-4D97-AF65-F5344CB8AC3E}">
        <p14:creationId xmlns:p14="http://schemas.microsoft.com/office/powerpoint/2010/main" val="55943207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ción">
    <p:bg>
      <p:bgPr>
        <a:solidFill>
          <a:schemeClr val="tx1"/>
        </a:solidFill>
        <a:effectLst/>
      </p:bgPr>
    </p:bg>
    <p:spTree>
      <p:nvGrpSpPr>
        <p:cNvPr id="1" name=""/>
        <p:cNvGrpSpPr/>
        <p:nvPr/>
      </p:nvGrpSpPr>
      <p:grpSpPr>
        <a:xfrm>
          <a:off x="0" y="0"/>
          <a:ext cx="0" cy="0"/>
          <a:chOff x="0" y="0"/>
          <a:chExt cx="0" cy="0"/>
        </a:xfrm>
      </p:grpSpPr>
      <p:sp>
        <p:nvSpPr>
          <p:cNvPr id="25" name="Rectángulo 24">
            <a:extLst>
              <a:ext uri="{FF2B5EF4-FFF2-40B4-BE49-F238E27FC236}">
                <a16:creationId xmlns:a16="http://schemas.microsoft.com/office/drawing/2014/main" id="{298B14A3-A5A4-2F4A-95D8-651E4818BB24}"/>
              </a:ext>
            </a:extLst>
          </p:cNvPr>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6" name="Triángulo 25">
            <a:extLst>
              <a:ext uri="{FF2B5EF4-FFF2-40B4-BE49-F238E27FC236}">
                <a16:creationId xmlns:a16="http://schemas.microsoft.com/office/drawing/2014/main" id="{FA21A50F-6662-5046-B75A-1261DC14ABF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grpSp>
        <p:nvGrpSpPr>
          <p:cNvPr id="13" name="Grupo 12">
            <a:extLst>
              <a:ext uri="{FF2B5EF4-FFF2-40B4-BE49-F238E27FC236}">
                <a16:creationId xmlns:a16="http://schemas.microsoft.com/office/drawing/2014/main" id="{2FDC47F2-EE1F-4644-989A-72996AC94A96}"/>
              </a:ext>
            </a:extLst>
          </p:cNvPr>
          <p:cNvGrpSpPr/>
          <p:nvPr userDrawn="1"/>
        </p:nvGrpSpPr>
        <p:grpSpPr>
          <a:xfrm>
            <a:off x="401408" y="1983214"/>
            <a:ext cx="5127171" cy="979022"/>
            <a:chOff x="417597" y="1992086"/>
            <a:chExt cx="5127171" cy="979022"/>
          </a:xfrm>
        </p:grpSpPr>
        <p:sp>
          <p:nvSpPr>
            <p:cNvPr id="14" name="Rectángulo 13">
              <a:extLst>
                <a:ext uri="{FF2B5EF4-FFF2-40B4-BE49-F238E27FC236}">
                  <a16:creationId xmlns:a16="http://schemas.microsoft.com/office/drawing/2014/main" id="{386ED203-5311-5B45-870D-8D058E718B91}"/>
                </a:ext>
              </a:extLst>
            </p:cNvPr>
            <p:cNvSpPr/>
            <p:nvPr/>
          </p:nvSpPr>
          <p:spPr>
            <a:xfrm>
              <a:off x="417597" y="1992086"/>
              <a:ext cx="5127171" cy="704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2400" noProof="0" dirty="0"/>
            </a:p>
          </p:txBody>
        </p:sp>
        <p:sp>
          <p:nvSpPr>
            <p:cNvPr id="15" name="Triángulo 14">
              <a:extLst>
                <a:ext uri="{FF2B5EF4-FFF2-40B4-BE49-F238E27FC236}">
                  <a16:creationId xmlns:a16="http://schemas.microsoft.com/office/drawing/2014/main" id="{DE2C0F56-426C-5F4D-AAFD-DF53CA60DB1F}"/>
                </a:ext>
              </a:extLst>
            </p:cNvPr>
            <p:cNvSpPr>
              <a:spLocks noChangeAspect="1"/>
            </p:cNvSpPr>
            <p:nvPr/>
          </p:nvSpPr>
          <p:spPr>
            <a:xfrm rot="10800000">
              <a:off x="2821824" y="2696788"/>
              <a:ext cx="318212" cy="27432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400" noProof="0" dirty="0"/>
            </a:p>
          </p:txBody>
        </p:sp>
      </p:grpSp>
      <p:sp>
        <p:nvSpPr>
          <p:cNvPr id="3" name="Marcador de texto 2"/>
          <p:cNvSpPr>
            <a:spLocks noGrp="1"/>
          </p:cNvSpPr>
          <p:nvPr>
            <p:ph type="body" idx="1"/>
          </p:nvPr>
        </p:nvSpPr>
        <p:spPr>
          <a:xfrm>
            <a:off x="645125" y="1984781"/>
            <a:ext cx="4639736" cy="703135"/>
          </a:xfrm>
        </p:spPr>
        <p:txBody>
          <a:bodyPr lIns="91440" rIns="91440" rtlCol="0" anchor="ctr">
            <a:normAutofit/>
          </a:bodyPr>
          <a:lstStyle>
            <a:lvl1pPr marL="0" indent="0" algn="ctr">
              <a:buNone/>
              <a:defRPr sz="2000" b="0"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645125" y="3154858"/>
            <a:ext cx="4639736" cy="2870009"/>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2" name="Marcador de fecha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2B3812C7-2FB5-4FBA-8D2F-B9AC9FB9DCF1}" type="datetime1">
              <a:rPr lang="es-ES" noProof="0" smtClean="0"/>
              <a:t>14/01/2021</a:t>
            </a:fld>
            <a:endParaRPr lang="es-ES" noProof="0" dirty="0"/>
          </a:p>
        </p:txBody>
      </p:sp>
      <p:sp>
        <p:nvSpPr>
          <p:cNvPr id="11" name="Marcador de pie de página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p:spPr>
        <p:txBody>
          <a:bodyPr rtlCol="0"/>
          <a:lstStyle/>
          <a:p>
            <a:pPr rtl="0"/>
            <a:endParaRPr lang="es-ES" noProof="0" dirty="0"/>
          </a:p>
        </p:txBody>
      </p:sp>
      <p:sp>
        <p:nvSpPr>
          <p:cNvPr id="12" name="Marcador de número de diapositiva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grpSp>
        <p:nvGrpSpPr>
          <p:cNvPr id="19" name="Grupo 18">
            <a:extLst>
              <a:ext uri="{FF2B5EF4-FFF2-40B4-BE49-F238E27FC236}">
                <a16:creationId xmlns:a16="http://schemas.microsoft.com/office/drawing/2014/main" id="{0EC9B82D-42A0-2549-AF1A-BB955578D14E}"/>
              </a:ext>
            </a:extLst>
          </p:cNvPr>
          <p:cNvGrpSpPr/>
          <p:nvPr userDrawn="1"/>
        </p:nvGrpSpPr>
        <p:grpSpPr>
          <a:xfrm>
            <a:off x="6663674" y="1983214"/>
            <a:ext cx="5127171" cy="979022"/>
            <a:chOff x="417597" y="1992086"/>
            <a:chExt cx="5127171" cy="979022"/>
          </a:xfrm>
        </p:grpSpPr>
        <p:sp>
          <p:nvSpPr>
            <p:cNvPr id="20" name="Rectángulo 19">
              <a:extLst>
                <a:ext uri="{FF2B5EF4-FFF2-40B4-BE49-F238E27FC236}">
                  <a16:creationId xmlns:a16="http://schemas.microsoft.com/office/drawing/2014/main" id="{6F986011-7709-A448-BC93-37507571BAF8}"/>
                </a:ext>
              </a:extLst>
            </p:cNvPr>
            <p:cNvSpPr/>
            <p:nvPr/>
          </p:nvSpPr>
          <p:spPr>
            <a:xfrm>
              <a:off x="417597" y="1992086"/>
              <a:ext cx="5127171" cy="704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2400" noProof="0" dirty="0"/>
            </a:p>
          </p:txBody>
        </p:sp>
        <p:sp>
          <p:nvSpPr>
            <p:cNvPr id="21" name="Triángulo 20">
              <a:extLst>
                <a:ext uri="{FF2B5EF4-FFF2-40B4-BE49-F238E27FC236}">
                  <a16:creationId xmlns:a16="http://schemas.microsoft.com/office/drawing/2014/main" id="{97EFE62B-D2C4-6147-8593-BDB17D7FB781}"/>
                </a:ext>
              </a:extLst>
            </p:cNvPr>
            <p:cNvSpPr>
              <a:spLocks noChangeAspect="1"/>
            </p:cNvSpPr>
            <p:nvPr/>
          </p:nvSpPr>
          <p:spPr>
            <a:xfrm rot="10800000">
              <a:off x="2822076" y="2696788"/>
              <a:ext cx="318212" cy="27432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400" noProof="0" dirty="0"/>
            </a:p>
          </p:txBody>
        </p:sp>
      </p:grpSp>
      <p:sp>
        <p:nvSpPr>
          <p:cNvPr id="22" name="Marcador de texto 2">
            <a:extLst>
              <a:ext uri="{FF2B5EF4-FFF2-40B4-BE49-F238E27FC236}">
                <a16:creationId xmlns:a16="http://schemas.microsoft.com/office/drawing/2014/main" id="{A343E295-0EB5-2B45-8B07-FB33A0D549D9}"/>
              </a:ext>
            </a:extLst>
          </p:cNvPr>
          <p:cNvSpPr>
            <a:spLocks noGrp="1"/>
          </p:cNvSpPr>
          <p:nvPr>
            <p:ph type="body" idx="13"/>
          </p:nvPr>
        </p:nvSpPr>
        <p:spPr>
          <a:xfrm>
            <a:off x="6907391" y="1984781"/>
            <a:ext cx="4639736" cy="703135"/>
          </a:xfrm>
        </p:spPr>
        <p:txBody>
          <a:bodyPr lIns="91440" rIns="91440" rtlCol="0" anchor="ctr">
            <a:normAutofit/>
          </a:bodyPr>
          <a:lstStyle>
            <a:lvl1pPr marL="0" indent="0" algn="ctr">
              <a:buNone/>
              <a:defRPr sz="2000" b="0"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3" name="Marcador de posición de contenido 3">
            <a:extLst>
              <a:ext uri="{FF2B5EF4-FFF2-40B4-BE49-F238E27FC236}">
                <a16:creationId xmlns:a16="http://schemas.microsoft.com/office/drawing/2014/main" id="{86411A82-4B2C-2345-940D-003FAE95661B}"/>
              </a:ext>
            </a:extLst>
          </p:cNvPr>
          <p:cNvSpPr>
            <a:spLocks noGrp="1"/>
          </p:cNvSpPr>
          <p:nvPr>
            <p:ph sz="half" idx="14"/>
          </p:nvPr>
        </p:nvSpPr>
        <p:spPr>
          <a:xfrm>
            <a:off x="6907391" y="3154858"/>
            <a:ext cx="4639736" cy="2870009"/>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cxnSp>
        <p:nvCxnSpPr>
          <p:cNvPr id="9" name="Conector recto 8">
            <a:extLst>
              <a:ext uri="{FF2B5EF4-FFF2-40B4-BE49-F238E27FC236}">
                <a16:creationId xmlns:a16="http://schemas.microsoft.com/office/drawing/2014/main" id="{E81638DF-1560-0147-9FCE-648610243627}"/>
              </a:ext>
            </a:extLst>
          </p:cNvPr>
          <p:cNvCxnSpPr/>
          <p:nvPr userDrawn="1"/>
        </p:nvCxnSpPr>
        <p:spPr>
          <a:xfrm>
            <a:off x="6096000" y="2055833"/>
            <a:ext cx="0" cy="38132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7" name="Título 9">
            <a:extLst>
              <a:ext uri="{FF2B5EF4-FFF2-40B4-BE49-F238E27FC236}">
                <a16:creationId xmlns:a16="http://schemas.microsoft.com/office/drawing/2014/main" id="{6500C466-2C7C-0F41-ADF8-F36158F8BCB7}"/>
              </a:ext>
            </a:extLst>
          </p:cNvPr>
          <p:cNvSpPr>
            <a:spLocks noGrp="1"/>
          </p:cNvSpPr>
          <p:nvPr>
            <p:ph type="title"/>
          </p:nvPr>
        </p:nvSpPr>
        <p:spPr>
          <a:xfrm>
            <a:off x="932330" y="893729"/>
            <a:ext cx="10205573" cy="910492"/>
          </a:xfrm>
        </p:spPr>
        <p:txBody>
          <a:bodyPr rtlCol="0" anchor="ctr"/>
          <a:lstStyle>
            <a:lvl1pPr algn="l">
              <a:defRPr>
                <a:solidFill>
                  <a:schemeClr val="tx1"/>
                </a:solidFill>
              </a:defRPr>
            </a:lvl1pPr>
          </a:lstStyle>
          <a:p>
            <a:pPr rtl="0"/>
            <a:r>
              <a:rPr lang="es-ES" noProof="0"/>
              <a:t>Haga clic para modificar el estilo de título del patrón</a:t>
            </a:r>
            <a:endParaRPr lang="es-ES" noProof="0" dirty="0"/>
          </a:p>
        </p:txBody>
      </p:sp>
    </p:spTree>
    <p:extLst>
      <p:ext uri="{BB962C8B-B14F-4D97-AF65-F5344CB8AC3E}">
        <p14:creationId xmlns:p14="http://schemas.microsoft.com/office/powerpoint/2010/main" val="290347312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70D13A46-E66B-4BFE-9F36-7E0DBA65A6AA}" type="datetime1">
              <a:rPr lang="es-ES" noProof="0" smtClean="0"/>
              <a:t>14/01/2021</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5" name="Rectángulo 4">
            <a:extLst>
              <a:ext uri="{FF2B5EF4-FFF2-40B4-BE49-F238E27FC236}">
                <a16:creationId xmlns:a16="http://schemas.microsoft.com/office/drawing/2014/main" id="{95E5791F-3F71-BF44-BA4E-0B7D386184DC}"/>
              </a:ext>
            </a:extLst>
          </p:cNvPr>
          <p:cNvSpPr/>
          <p:nvPr userDrawn="1"/>
        </p:nvSpPr>
        <p:spPr>
          <a:xfrm>
            <a:off x="0" y="467833"/>
            <a:ext cx="11729822"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Triángulo 6">
            <a:extLst>
              <a:ext uri="{FF2B5EF4-FFF2-40B4-BE49-F238E27FC236}">
                <a16:creationId xmlns:a16="http://schemas.microsoft.com/office/drawing/2014/main" id="{19AE2E01-52D8-994A-80AC-622260011952}"/>
              </a:ext>
            </a:extLst>
          </p:cNvPr>
          <p:cNvSpPr/>
          <p:nvPr userDrawn="1"/>
        </p:nvSpPr>
        <p:spPr>
          <a:xfrm>
            <a:off x="1915754" y="3684257"/>
            <a:ext cx="3112470"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Triángulo 7">
            <a:extLst>
              <a:ext uri="{FF2B5EF4-FFF2-40B4-BE49-F238E27FC236}">
                <a16:creationId xmlns:a16="http://schemas.microsoft.com/office/drawing/2014/main" id="{B8F16C36-FC88-9044-8303-4AAB2C148BA5}"/>
              </a:ext>
            </a:extLst>
          </p:cNvPr>
          <p:cNvSpPr/>
          <p:nvPr userDrawn="1"/>
        </p:nvSpPr>
        <p:spPr>
          <a:xfrm>
            <a:off x="4668946" y="522786"/>
            <a:ext cx="718556" cy="718556"/>
          </a:xfrm>
          <a:prstGeom prst="triangle">
            <a:avLst/>
          </a:prstGeom>
          <a:pattFill prst="dkHorz">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5" name="Marcador de posición de imagen 14">
            <a:extLst>
              <a:ext uri="{FF2B5EF4-FFF2-40B4-BE49-F238E27FC236}">
                <a16:creationId xmlns:a16="http://schemas.microsoft.com/office/drawing/2014/main" id="{7DA0D001-BFE9-164E-A088-53FE53ABF519}"/>
              </a:ext>
            </a:extLst>
          </p:cNvPr>
          <p:cNvSpPr>
            <a:spLocks noGrp="1"/>
          </p:cNvSpPr>
          <p:nvPr>
            <p:ph type="pic" sz="quarter" idx="13"/>
          </p:nvPr>
        </p:nvSpPr>
        <p:spPr>
          <a:xfrm>
            <a:off x="-1" y="0"/>
            <a:ext cx="5123378" cy="6864485"/>
          </a:xfrm>
          <a:custGeom>
            <a:avLst/>
            <a:gdLst>
              <a:gd name="connsiteX0" fmla="*/ 1602021 w 6096000"/>
              <a:gd name="connsiteY0" fmla="*/ 0 h 6858000"/>
              <a:gd name="connsiteX1" fmla="*/ 6096000 w 6096000"/>
              <a:gd name="connsiteY1" fmla="*/ 0 h 6858000"/>
              <a:gd name="connsiteX2" fmla="*/ 1612869 w 6096000"/>
              <a:gd name="connsiteY2" fmla="*/ 6841445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 fmla="*/ 1602021 w 6096000"/>
              <a:gd name="connsiteY0" fmla="*/ 0 h 6858000"/>
              <a:gd name="connsiteX1" fmla="*/ 6096000 w 6096000"/>
              <a:gd name="connsiteY1" fmla="*/ 0 h 6858000"/>
              <a:gd name="connsiteX2" fmla="*/ 2014112 w 6096000"/>
              <a:gd name="connsiteY2" fmla="*/ 6857657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 fmla="*/ 1602021 w 6096000"/>
              <a:gd name="connsiteY0" fmla="*/ 0 h 6864485"/>
              <a:gd name="connsiteX1" fmla="*/ 6096000 w 6096000"/>
              <a:gd name="connsiteY1" fmla="*/ 0 h 6864485"/>
              <a:gd name="connsiteX2" fmla="*/ 2014112 w 6096000"/>
              <a:gd name="connsiteY2" fmla="*/ 6857657 h 6864485"/>
              <a:gd name="connsiteX3" fmla="*/ 2033403 w 6096000"/>
              <a:gd name="connsiteY3" fmla="*/ 6864485 h 6864485"/>
              <a:gd name="connsiteX4" fmla="*/ 0 w 6096000"/>
              <a:gd name="connsiteY4" fmla="*/ 6858000 h 6864485"/>
              <a:gd name="connsiteX5" fmla="*/ 0 w 6096000"/>
              <a:gd name="connsiteY5" fmla="*/ 0 h 6864485"/>
              <a:gd name="connsiteX6" fmla="*/ 1602021 w 6096000"/>
              <a:gd name="connsiteY6" fmla="*/ 0 h 6864485"/>
              <a:gd name="connsiteX0" fmla="*/ 1602021 w 6096000"/>
              <a:gd name="connsiteY0" fmla="*/ 0 h 6864485"/>
              <a:gd name="connsiteX1" fmla="*/ 6096000 w 6096000"/>
              <a:gd name="connsiteY1" fmla="*/ 0 h 6864485"/>
              <a:gd name="connsiteX2" fmla="*/ 2014112 w 6096000"/>
              <a:gd name="connsiteY2" fmla="*/ 6857657 h 6864485"/>
              <a:gd name="connsiteX3" fmla="*/ 2002538 w 6096000"/>
              <a:gd name="connsiteY3" fmla="*/ 6864485 h 6864485"/>
              <a:gd name="connsiteX4" fmla="*/ 0 w 6096000"/>
              <a:gd name="connsiteY4" fmla="*/ 6858000 h 6864485"/>
              <a:gd name="connsiteX5" fmla="*/ 0 w 6096000"/>
              <a:gd name="connsiteY5" fmla="*/ 0 h 6864485"/>
              <a:gd name="connsiteX6" fmla="*/ 1602021 w 6096000"/>
              <a:gd name="connsiteY6" fmla="*/ 0 h 686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4485">
                <a:moveTo>
                  <a:pt x="1602021" y="0"/>
                </a:moveTo>
                <a:lnTo>
                  <a:pt x="6096000" y="0"/>
                </a:lnTo>
                <a:lnTo>
                  <a:pt x="2014112" y="6857657"/>
                </a:lnTo>
                <a:lnTo>
                  <a:pt x="2002538" y="6864485"/>
                </a:lnTo>
                <a:lnTo>
                  <a:pt x="0" y="6858000"/>
                </a:lnTo>
                <a:lnTo>
                  <a:pt x="0" y="0"/>
                </a:lnTo>
                <a:lnTo>
                  <a:pt x="1602021" y="0"/>
                </a:lnTo>
                <a:close/>
              </a:path>
            </a:pathLst>
          </a:custGeom>
          <a:solidFill>
            <a:schemeClr val="accent1"/>
          </a:solidFill>
        </p:spPr>
        <p:txBody>
          <a:bodyPr wrap="square" rtlCol="0">
            <a:noAutofit/>
          </a:bodyPr>
          <a:lstStyle/>
          <a:p>
            <a:pPr rtl="0"/>
            <a:r>
              <a:rPr lang="es-ES" noProof="0"/>
              <a:t>Haga clic en el icono para agregar una imagen</a:t>
            </a:r>
            <a:endParaRPr lang="es-ES" noProof="0" dirty="0"/>
          </a:p>
        </p:txBody>
      </p:sp>
      <p:sp>
        <p:nvSpPr>
          <p:cNvPr id="16" name="Título 1">
            <a:extLst>
              <a:ext uri="{FF2B5EF4-FFF2-40B4-BE49-F238E27FC236}">
                <a16:creationId xmlns:a16="http://schemas.microsoft.com/office/drawing/2014/main" id="{810C3D4C-012F-184D-B7D5-E89B7B9A726E}"/>
              </a:ext>
            </a:extLst>
          </p:cNvPr>
          <p:cNvSpPr>
            <a:spLocks noGrp="1"/>
          </p:cNvSpPr>
          <p:nvPr>
            <p:ph type="title" hasCustomPrompt="1"/>
          </p:nvPr>
        </p:nvSpPr>
        <p:spPr>
          <a:xfrm>
            <a:off x="4506410" y="2679259"/>
            <a:ext cx="2988860" cy="1395208"/>
          </a:xfrm>
        </p:spPr>
        <p:txBody>
          <a:bodyPr lIns="0" rtlCol="0" anchor="ctr">
            <a:normAutofit/>
          </a:bodyPr>
          <a:lstStyle>
            <a:lvl1pPr algn="ctr">
              <a:defRPr sz="3600">
                <a:solidFill>
                  <a:schemeClr val="bg1"/>
                </a:solidFill>
              </a:defRPr>
            </a:lvl1pPr>
          </a:lstStyle>
          <a:p>
            <a:pPr rtl="0"/>
            <a:r>
              <a:rPr lang="es-ES" noProof="0" dirty="0"/>
              <a:t>EL TÍTULO VA AQUÍ</a:t>
            </a:r>
          </a:p>
        </p:txBody>
      </p:sp>
      <p:sp>
        <p:nvSpPr>
          <p:cNvPr id="17" name="Marcador de texto 11">
            <a:extLst>
              <a:ext uri="{FF2B5EF4-FFF2-40B4-BE49-F238E27FC236}">
                <a16:creationId xmlns:a16="http://schemas.microsoft.com/office/drawing/2014/main" id="{D16862ED-2F5E-FE49-AB49-49CEC0EA332A}"/>
              </a:ext>
            </a:extLst>
          </p:cNvPr>
          <p:cNvSpPr>
            <a:spLocks noGrp="1"/>
          </p:cNvSpPr>
          <p:nvPr>
            <p:ph type="body" sz="quarter" idx="14" hasCustomPrompt="1"/>
          </p:nvPr>
        </p:nvSpPr>
        <p:spPr>
          <a:xfrm>
            <a:off x="8218426" y="793580"/>
            <a:ext cx="3304279" cy="5270839"/>
          </a:xfrm>
        </p:spPr>
        <p:txBody>
          <a:bodyPr lIns="0" rtlCol="0" anchor="ctr">
            <a:normAutofit/>
          </a:bodyPr>
          <a:lstStyle>
            <a:lvl1pPr marL="285750" indent="-285750">
              <a:lnSpc>
                <a:spcPct val="100000"/>
              </a:lnSpc>
              <a:spcBef>
                <a:spcPts val="0"/>
              </a:spcBef>
              <a:spcAft>
                <a:spcPts val="1500"/>
              </a:spcAft>
              <a:buClr>
                <a:schemeClr val="accent1"/>
              </a:buClr>
              <a:buFont typeface="Arial" panose="020B0604020202020204" pitchFamily="34" charset="0"/>
              <a:buChar char="•"/>
              <a:defRPr sz="1600" spc="0">
                <a:solidFill>
                  <a:schemeClr val="bg1"/>
                </a:solidFill>
              </a:defRPr>
            </a:lvl1pPr>
            <a:lvl2pPr>
              <a:lnSpc>
                <a:spcPct val="150000"/>
              </a:lnSpc>
              <a:defRPr sz="1200" spc="0">
                <a:solidFill>
                  <a:schemeClr val="tx2"/>
                </a:solidFill>
              </a:defRPr>
            </a:lvl2pPr>
            <a:lvl3pPr>
              <a:lnSpc>
                <a:spcPct val="150000"/>
              </a:lnSpc>
              <a:defRPr sz="1200" spc="0">
                <a:solidFill>
                  <a:schemeClr val="tx2"/>
                </a:solidFill>
              </a:defRPr>
            </a:lvl3pPr>
            <a:lvl4pPr>
              <a:lnSpc>
                <a:spcPct val="150000"/>
              </a:lnSpc>
              <a:defRPr sz="1200" spc="0">
                <a:solidFill>
                  <a:schemeClr val="tx2"/>
                </a:solidFill>
              </a:defRPr>
            </a:lvl4pPr>
            <a:lvl5pPr>
              <a:lnSpc>
                <a:spcPct val="150000"/>
              </a:lnSpc>
              <a:defRPr sz="1200" spc="0">
                <a:solidFill>
                  <a:schemeClr val="tx2"/>
                </a:solidFill>
              </a:defRPr>
            </a:lvl5pPr>
          </a:lstStyle>
          <a:p>
            <a:pPr lvl="0" rtl="0"/>
            <a:r>
              <a:rPr lang="es-ES" noProof="0" dirty="0"/>
              <a:t>El texto va aquí</a:t>
            </a:r>
          </a:p>
        </p:txBody>
      </p:sp>
    </p:spTree>
    <p:extLst>
      <p:ext uri="{BB962C8B-B14F-4D97-AF65-F5344CB8AC3E}">
        <p14:creationId xmlns:p14="http://schemas.microsoft.com/office/powerpoint/2010/main" val="415982550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ítulo y contenido con imagen">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73725CE9-8755-4DFE-9A6F-37195C0DB906}" type="datetime1">
              <a:rPr lang="es-ES" noProof="0" smtClean="0"/>
              <a:t>14/01/2021</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5" name="Rectángulo 4">
            <a:extLst>
              <a:ext uri="{FF2B5EF4-FFF2-40B4-BE49-F238E27FC236}">
                <a16:creationId xmlns:a16="http://schemas.microsoft.com/office/drawing/2014/main" id="{E872A5F6-5449-2840-B48F-2AA85FE272A3}"/>
              </a:ext>
            </a:extLst>
          </p:cNvPr>
          <p:cNvSpPr/>
          <p:nvPr userDrawn="1"/>
        </p:nvSpPr>
        <p:spPr>
          <a:xfrm>
            <a:off x="0" y="0"/>
            <a:ext cx="350259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6" name="Triángulo 5">
            <a:extLst>
              <a:ext uri="{FF2B5EF4-FFF2-40B4-BE49-F238E27FC236}">
                <a16:creationId xmlns:a16="http://schemas.microsoft.com/office/drawing/2014/main" id="{2B3A8339-6DA4-E549-AEA2-9512C53F064F}"/>
              </a:ext>
            </a:extLst>
          </p:cNvPr>
          <p:cNvSpPr/>
          <p:nvPr userDrawn="1"/>
        </p:nvSpPr>
        <p:spPr>
          <a:xfrm>
            <a:off x="3591475" y="5273069"/>
            <a:ext cx="1486666" cy="1486666"/>
          </a:xfrm>
          <a:prstGeom prst="triangle">
            <a:avLst/>
          </a:prstGeom>
          <a:pattFill prst="lgGrid">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Triángulo 6">
            <a:extLst>
              <a:ext uri="{FF2B5EF4-FFF2-40B4-BE49-F238E27FC236}">
                <a16:creationId xmlns:a16="http://schemas.microsoft.com/office/drawing/2014/main" id="{752EA775-82B0-BA48-8CA2-7A09D72EC958}"/>
              </a:ext>
            </a:extLst>
          </p:cNvPr>
          <p:cNvSpPr/>
          <p:nvPr userDrawn="1"/>
        </p:nvSpPr>
        <p:spPr>
          <a:xfrm>
            <a:off x="76559" y="597553"/>
            <a:ext cx="562863" cy="562863"/>
          </a:xfrm>
          <a:prstGeom prst="triangle">
            <a:avLst/>
          </a:prstGeom>
          <a:pattFill prst="ltVert">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Triángulo 7">
            <a:extLst>
              <a:ext uri="{FF2B5EF4-FFF2-40B4-BE49-F238E27FC236}">
                <a16:creationId xmlns:a16="http://schemas.microsoft.com/office/drawing/2014/main" id="{2C6B50B5-10C1-4A40-9531-4F8DC16892F8}"/>
              </a:ext>
            </a:extLst>
          </p:cNvPr>
          <p:cNvSpPr/>
          <p:nvPr userDrawn="1"/>
        </p:nvSpPr>
        <p:spPr>
          <a:xfrm>
            <a:off x="357990" y="3814571"/>
            <a:ext cx="2960808" cy="2960808"/>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6" name="Marcador de posición de imagen 25">
            <a:extLst>
              <a:ext uri="{FF2B5EF4-FFF2-40B4-BE49-F238E27FC236}">
                <a16:creationId xmlns:a16="http://schemas.microsoft.com/office/drawing/2014/main" id="{CAF18EC0-3F9F-6449-A2B2-A792B70BEA6E}"/>
              </a:ext>
            </a:extLst>
          </p:cNvPr>
          <p:cNvSpPr>
            <a:spLocks noGrp="1"/>
          </p:cNvSpPr>
          <p:nvPr>
            <p:ph type="pic" sz="quarter" idx="13"/>
          </p:nvPr>
        </p:nvSpPr>
        <p:spPr>
          <a:xfrm flipH="1">
            <a:off x="444819" y="597553"/>
            <a:ext cx="6063915" cy="6063915"/>
          </a:xfrm>
          <a:custGeom>
            <a:avLst/>
            <a:gdLst>
              <a:gd name="connsiteX0" fmla="*/ 0 w 6063915"/>
              <a:gd name="connsiteY0" fmla="*/ 0 h 6063915"/>
              <a:gd name="connsiteX1" fmla="*/ 6063915 w 6063915"/>
              <a:gd name="connsiteY1" fmla="*/ 0 h 6063915"/>
              <a:gd name="connsiteX2" fmla="*/ 3031957 w 6063915"/>
              <a:gd name="connsiteY2" fmla="*/ 6063915 h 6063915"/>
            </a:gdLst>
            <a:ahLst/>
            <a:cxnLst>
              <a:cxn ang="0">
                <a:pos x="connsiteX0" y="connsiteY0"/>
              </a:cxn>
              <a:cxn ang="0">
                <a:pos x="connsiteX1" y="connsiteY1"/>
              </a:cxn>
              <a:cxn ang="0">
                <a:pos x="connsiteX2" y="connsiteY2"/>
              </a:cxn>
            </a:cxnLst>
            <a:rect l="l" t="t" r="r" b="b"/>
            <a:pathLst>
              <a:path w="6063915" h="6063915">
                <a:moveTo>
                  <a:pt x="0" y="0"/>
                </a:moveTo>
                <a:lnTo>
                  <a:pt x="6063915" y="0"/>
                </a:lnTo>
                <a:lnTo>
                  <a:pt x="3031957" y="6063915"/>
                </a:lnTo>
                <a:close/>
              </a:path>
            </a:pathLst>
          </a:custGeom>
          <a:solidFill>
            <a:schemeClr val="accent1"/>
          </a:solidFill>
        </p:spPr>
        <p:txBody>
          <a:bodyPr wrap="square" rtlCol="0">
            <a:noAutofit/>
          </a:bodyPr>
          <a:lstStyle/>
          <a:p>
            <a:pPr rtl="0"/>
            <a:r>
              <a:rPr lang="es-ES" noProof="0"/>
              <a:t>Haga clic en el icono para agregar una imagen</a:t>
            </a:r>
            <a:endParaRPr lang="es-ES" noProof="0" dirty="0"/>
          </a:p>
        </p:txBody>
      </p:sp>
      <p:sp>
        <p:nvSpPr>
          <p:cNvPr id="28" name="Título 1">
            <a:extLst>
              <a:ext uri="{FF2B5EF4-FFF2-40B4-BE49-F238E27FC236}">
                <a16:creationId xmlns:a16="http://schemas.microsoft.com/office/drawing/2014/main" id="{68357860-E91C-1745-A5D1-921689BF47AE}"/>
              </a:ext>
            </a:extLst>
          </p:cNvPr>
          <p:cNvSpPr>
            <a:spLocks noGrp="1"/>
          </p:cNvSpPr>
          <p:nvPr>
            <p:ph type="title" hasCustomPrompt="1"/>
          </p:nvPr>
        </p:nvSpPr>
        <p:spPr>
          <a:xfrm>
            <a:off x="6876994" y="1535397"/>
            <a:ext cx="4845068" cy="1858617"/>
          </a:xfrm>
        </p:spPr>
        <p:txBody>
          <a:bodyPr rtlCol="0" anchor="b">
            <a:normAutofit/>
          </a:bodyPr>
          <a:lstStyle>
            <a:lvl1pPr algn="l">
              <a:defRPr sz="4800" i="0">
                <a:solidFill>
                  <a:schemeClr val="tx1">
                    <a:lumMod val="85000"/>
                    <a:lumOff val="15000"/>
                  </a:schemeClr>
                </a:solidFill>
                <a:latin typeface="+mj-lt"/>
              </a:defRPr>
            </a:lvl1pPr>
          </a:lstStyle>
          <a:p>
            <a:pPr rtl="0"/>
            <a:r>
              <a:rPr lang="es-ES" noProof="0" dirty="0"/>
              <a:t>El título va aquí</a:t>
            </a:r>
          </a:p>
        </p:txBody>
      </p:sp>
      <p:sp>
        <p:nvSpPr>
          <p:cNvPr id="29" name="Marcador de contenido 2">
            <a:extLst>
              <a:ext uri="{FF2B5EF4-FFF2-40B4-BE49-F238E27FC236}">
                <a16:creationId xmlns:a16="http://schemas.microsoft.com/office/drawing/2014/main" id="{094A3FA1-7F3F-2D41-ABE1-512FA9FC4843}"/>
              </a:ext>
            </a:extLst>
          </p:cNvPr>
          <p:cNvSpPr>
            <a:spLocks noGrp="1"/>
          </p:cNvSpPr>
          <p:nvPr>
            <p:ph idx="1"/>
          </p:nvPr>
        </p:nvSpPr>
        <p:spPr>
          <a:xfrm>
            <a:off x="6876996" y="3401899"/>
            <a:ext cx="4845066" cy="2107095"/>
          </a:xfrm>
        </p:spPr>
        <p:txBody>
          <a:bodyPr rtlCol="0"/>
          <a:lstStyle>
            <a:lvl1pPr marL="182880" indent="-182880" algn="l">
              <a:buClr>
                <a:srgbClr val="C5AE76"/>
              </a:buClr>
              <a:buFont typeface="Arial" panose="020B0604020202020204" pitchFamily="34" charset="0"/>
              <a:buChar char="•"/>
              <a:defRPr>
                <a:latin typeface="+mj-lt"/>
              </a:defRPr>
            </a:lvl1pPr>
            <a:lvl2pPr marL="384048" indent="-182880" algn="l">
              <a:buClr>
                <a:srgbClr val="C5AE76"/>
              </a:buClr>
              <a:buFont typeface="Arial" panose="020B0604020202020204" pitchFamily="34" charset="0"/>
              <a:buChar char="•"/>
              <a:defRPr>
                <a:latin typeface="+mj-lt"/>
              </a:defRPr>
            </a:lvl2pPr>
            <a:lvl3pPr marL="566928" indent="-182880" algn="l">
              <a:buClr>
                <a:srgbClr val="C5AE76"/>
              </a:buClr>
              <a:buFont typeface="Arial" panose="020B0604020202020204" pitchFamily="34" charset="0"/>
              <a:buChar char="•"/>
              <a:defRPr>
                <a:latin typeface="+mj-lt"/>
              </a:defRPr>
            </a:lvl3pPr>
            <a:lvl4pPr marL="749808" indent="-182880" algn="l">
              <a:buClr>
                <a:srgbClr val="C5AE76"/>
              </a:buClr>
              <a:buFont typeface="Arial" panose="020B0604020202020204" pitchFamily="34" charset="0"/>
              <a:buChar char="•"/>
              <a:defRPr>
                <a:latin typeface="+mj-lt"/>
              </a:defRPr>
            </a:lvl4pPr>
            <a:lvl5pPr marL="932688" indent="-182880" algn="l">
              <a:buClr>
                <a:srgbClr val="C5AE76"/>
              </a:buClr>
              <a:buFont typeface="Arial" panose="020B0604020202020204" pitchFamily="34" charset="0"/>
              <a:buChar char="•"/>
              <a:defRPr>
                <a:latin typeface="+mj-lt"/>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Tree>
    <p:extLst>
      <p:ext uri="{BB962C8B-B14F-4D97-AF65-F5344CB8AC3E}">
        <p14:creationId xmlns:p14="http://schemas.microsoft.com/office/powerpoint/2010/main" val="49798578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ítulo estrecho y contenido con imagen">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3F84D945-42DB-4C83-B075-F190E4707439}" type="datetime1">
              <a:rPr lang="es-ES" noProof="0" smtClean="0"/>
              <a:t>14/01/2021</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5" name="Rectángulo 3">
            <a:extLst>
              <a:ext uri="{FF2B5EF4-FFF2-40B4-BE49-F238E27FC236}">
                <a16:creationId xmlns:a16="http://schemas.microsoft.com/office/drawing/2014/main" id="{B4D4881A-F72E-2D4F-BC41-5D2839D87000}"/>
              </a:ext>
            </a:extLst>
          </p:cNvPr>
          <p:cNvSpPr/>
          <p:nvPr userDrawn="1"/>
        </p:nvSpPr>
        <p:spPr>
          <a:xfrm>
            <a:off x="4997302" y="0"/>
            <a:ext cx="7194698" cy="6879265"/>
          </a:xfrm>
          <a:custGeom>
            <a:avLst/>
            <a:gdLst>
              <a:gd name="connsiteX0" fmla="*/ 0 w 5004391"/>
              <a:gd name="connsiteY0" fmla="*/ 0 h 6858000"/>
              <a:gd name="connsiteX1" fmla="*/ 5004391 w 5004391"/>
              <a:gd name="connsiteY1" fmla="*/ 0 h 6858000"/>
              <a:gd name="connsiteX2" fmla="*/ 5004391 w 5004391"/>
              <a:gd name="connsiteY2" fmla="*/ 6858000 h 6858000"/>
              <a:gd name="connsiteX3" fmla="*/ 0 w 5004391"/>
              <a:gd name="connsiteY3" fmla="*/ 6858000 h 6858000"/>
              <a:gd name="connsiteX4" fmla="*/ 0 w 5004391"/>
              <a:gd name="connsiteY4" fmla="*/ 0 h 6858000"/>
              <a:gd name="connsiteX0" fmla="*/ 1424763 w 5004391"/>
              <a:gd name="connsiteY0" fmla="*/ 0 h 6858000"/>
              <a:gd name="connsiteX1" fmla="*/ 5004391 w 5004391"/>
              <a:gd name="connsiteY1" fmla="*/ 0 h 6858000"/>
              <a:gd name="connsiteX2" fmla="*/ 5004391 w 5004391"/>
              <a:gd name="connsiteY2" fmla="*/ 6858000 h 6858000"/>
              <a:gd name="connsiteX3" fmla="*/ 0 w 5004391"/>
              <a:gd name="connsiteY3" fmla="*/ 6858000 h 6858000"/>
              <a:gd name="connsiteX4" fmla="*/ 1424763 w 5004391"/>
              <a:gd name="connsiteY4" fmla="*/ 0 h 6858000"/>
              <a:gd name="connsiteX0" fmla="*/ 1275907 w 5004391"/>
              <a:gd name="connsiteY0" fmla="*/ 21265 h 6858000"/>
              <a:gd name="connsiteX1" fmla="*/ 5004391 w 5004391"/>
              <a:gd name="connsiteY1" fmla="*/ 0 h 6858000"/>
              <a:gd name="connsiteX2" fmla="*/ 5004391 w 5004391"/>
              <a:gd name="connsiteY2" fmla="*/ 6858000 h 6858000"/>
              <a:gd name="connsiteX3" fmla="*/ 0 w 5004391"/>
              <a:gd name="connsiteY3" fmla="*/ 6858000 h 6858000"/>
              <a:gd name="connsiteX4" fmla="*/ 1275907 w 5004391"/>
              <a:gd name="connsiteY4" fmla="*/ 21265 h 6858000"/>
              <a:gd name="connsiteX0" fmla="*/ 3466214 w 7194698"/>
              <a:gd name="connsiteY0" fmla="*/ 21265 h 6879265"/>
              <a:gd name="connsiteX1" fmla="*/ 7194698 w 7194698"/>
              <a:gd name="connsiteY1" fmla="*/ 0 h 6879265"/>
              <a:gd name="connsiteX2" fmla="*/ 7194698 w 7194698"/>
              <a:gd name="connsiteY2" fmla="*/ 6858000 h 6879265"/>
              <a:gd name="connsiteX3" fmla="*/ 0 w 7194698"/>
              <a:gd name="connsiteY3" fmla="*/ 6879265 h 6879265"/>
              <a:gd name="connsiteX4" fmla="*/ 3466214 w 7194698"/>
              <a:gd name="connsiteY4" fmla="*/ 21265 h 6879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4698" h="6879265">
                <a:moveTo>
                  <a:pt x="3466214" y="21265"/>
                </a:moveTo>
                <a:lnTo>
                  <a:pt x="7194698" y="0"/>
                </a:lnTo>
                <a:lnTo>
                  <a:pt x="7194698" y="6858000"/>
                </a:lnTo>
                <a:lnTo>
                  <a:pt x="0" y="6879265"/>
                </a:lnTo>
                <a:lnTo>
                  <a:pt x="3466214" y="2126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6" name="Triángulo 5">
            <a:extLst>
              <a:ext uri="{FF2B5EF4-FFF2-40B4-BE49-F238E27FC236}">
                <a16:creationId xmlns:a16="http://schemas.microsoft.com/office/drawing/2014/main" id="{214CA4B6-21BC-234A-9FAD-E362D7F194C4}"/>
              </a:ext>
            </a:extLst>
          </p:cNvPr>
          <p:cNvSpPr/>
          <p:nvPr userDrawn="1"/>
        </p:nvSpPr>
        <p:spPr>
          <a:xfrm>
            <a:off x="2571311" y="3814571"/>
            <a:ext cx="2960808" cy="2960808"/>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Triángulo 6">
            <a:extLst>
              <a:ext uri="{FF2B5EF4-FFF2-40B4-BE49-F238E27FC236}">
                <a16:creationId xmlns:a16="http://schemas.microsoft.com/office/drawing/2014/main" id="{815F04B4-E3C0-0845-8DEC-98C63E21B466}"/>
              </a:ext>
            </a:extLst>
          </p:cNvPr>
          <p:cNvSpPr/>
          <p:nvPr userDrawn="1"/>
        </p:nvSpPr>
        <p:spPr>
          <a:xfrm rot="10800000">
            <a:off x="2277396" y="3814571"/>
            <a:ext cx="1360968" cy="1360968"/>
          </a:xfrm>
          <a:prstGeom prst="triangle">
            <a:avLst/>
          </a:prstGeom>
          <a:pattFill prst="dkHorz">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Marcador de posición de imagen 7">
            <a:extLst>
              <a:ext uri="{FF2B5EF4-FFF2-40B4-BE49-F238E27FC236}">
                <a16:creationId xmlns:a16="http://schemas.microsoft.com/office/drawing/2014/main" id="{6850A90A-EBB3-314C-9D98-A4220E2739EA}"/>
              </a:ext>
            </a:extLst>
          </p:cNvPr>
          <p:cNvSpPr>
            <a:spLocks noGrp="1"/>
          </p:cNvSpPr>
          <p:nvPr>
            <p:ph type="pic" sz="quarter" idx="13"/>
          </p:nvPr>
        </p:nvSpPr>
        <p:spPr>
          <a:xfrm flipH="1">
            <a:off x="2569281" y="330912"/>
            <a:ext cx="6217440" cy="6217440"/>
          </a:xfrm>
          <a:custGeom>
            <a:avLst/>
            <a:gdLst>
              <a:gd name="connsiteX0" fmla="*/ 0 w 6063915"/>
              <a:gd name="connsiteY0" fmla="*/ 0 h 6063915"/>
              <a:gd name="connsiteX1" fmla="*/ 6063915 w 6063915"/>
              <a:gd name="connsiteY1" fmla="*/ 0 h 6063915"/>
              <a:gd name="connsiteX2" fmla="*/ 3031957 w 6063915"/>
              <a:gd name="connsiteY2" fmla="*/ 6063915 h 6063915"/>
            </a:gdLst>
            <a:ahLst/>
            <a:cxnLst>
              <a:cxn ang="0">
                <a:pos x="connsiteX0" y="connsiteY0"/>
              </a:cxn>
              <a:cxn ang="0">
                <a:pos x="connsiteX1" y="connsiteY1"/>
              </a:cxn>
              <a:cxn ang="0">
                <a:pos x="connsiteX2" y="connsiteY2"/>
              </a:cxn>
            </a:cxnLst>
            <a:rect l="l" t="t" r="r" b="b"/>
            <a:pathLst>
              <a:path w="6063915" h="6063915">
                <a:moveTo>
                  <a:pt x="0" y="0"/>
                </a:moveTo>
                <a:lnTo>
                  <a:pt x="6063915" y="0"/>
                </a:lnTo>
                <a:lnTo>
                  <a:pt x="3031957" y="6063915"/>
                </a:lnTo>
                <a:close/>
              </a:path>
            </a:pathLst>
          </a:custGeom>
          <a:solidFill>
            <a:schemeClr val="accent1"/>
          </a:solidFill>
        </p:spPr>
        <p:txBody>
          <a:bodyPr wrap="square" rtlCol="0">
            <a:noAutofit/>
          </a:bodyPr>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D3001923-8460-C64B-A54B-3221B8A6B8C3}"/>
              </a:ext>
            </a:extLst>
          </p:cNvPr>
          <p:cNvSpPr>
            <a:spLocks noGrp="1"/>
          </p:cNvSpPr>
          <p:nvPr>
            <p:ph type="title" hasCustomPrompt="1"/>
          </p:nvPr>
        </p:nvSpPr>
        <p:spPr>
          <a:xfrm>
            <a:off x="7958108" y="1957888"/>
            <a:ext cx="3815484" cy="1858617"/>
          </a:xfrm>
        </p:spPr>
        <p:txBody>
          <a:bodyPr rtlCol="0" anchor="b">
            <a:normAutofit/>
          </a:bodyPr>
          <a:lstStyle>
            <a:lvl1pPr algn="ctr">
              <a:defRPr sz="4800" i="0">
                <a:solidFill>
                  <a:schemeClr val="bg1"/>
                </a:solidFill>
                <a:latin typeface="+mj-lt"/>
              </a:defRPr>
            </a:lvl1pPr>
          </a:lstStyle>
          <a:p>
            <a:pPr rtl="0"/>
            <a:r>
              <a:rPr lang="es-ES" noProof="0" dirty="0"/>
              <a:t>El título va aquí</a:t>
            </a:r>
          </a:p>
        </p:txBody>
      </p:sp>
      <p:sp>
        <p:nvSpPr>
          <p:cNvPr id="10" name="Marcador de contenido 2">
            <a:extLst>
              <a:ext uri="{FF2B5EF4-FFF2-40B4-BE49-F238E27FC236}">
                <a16:creationId xmlns:a16="http://schemas.microsoft.com/office/drawing/2014/main" id="{9E64A275-2629-244A-A66F-FC140850C6DA}"/>
              </a:ext>
            </a:extLst>
          </p:cNvPr>
          <p:cNvSpPr>
            <a:spLocks noGrp="1"/>
          </p:cNvSpPr>
          <p:nvPr>
            <p:ph idx="1"/>
          </p:nvPr>
        </p:nvSpPr>
        <p:spPr>
          <a:xfrm>
            <a:off x="7958110" y="3824390"/>
            <a:ext cx="3815482" cy="2107095"/>
          </a:xfrm>
        </p:spPr>
        <p:txBody>
          <a:bodyPr rtlCol="0"/>
          <a:lstStyle>
            <a:lvl1pPr marL="182880" indent="-182880" algn="ctr">
              <a:buClr>
                <a:srgbClr val="C5AE76"/>
              </a:buClr>
              <a:buFont typeface="Arial" panose="020B0604020202020204" pitchFamily="34" charset="0"/>
              <a:buChar char="•"/>
              <a:defRPr>
                <a:solidFill>
                  <a:schemeClr val="bg1"/>
                </a:solidFill>
                <a:latin typeface="+mj-lt"/>
              </a:defRPr>
            </a:lvl1pPr>
            <a:lvl2pPr marL="384048" indent="-182880" algn="ctr">
              <a:buClr>
                <a:srgbClr val="C5AE76"/>
              </a:buClr>
              <a:buFont typeface="Arial" panose="020B0604020202020204" pitchFamily="34" charset="0"/>
              <a:buChar char="•"/>
              <a:defRPr>
                <a:solidFill>
                  <a:schemeClr val="bg1"/>
                </a:solidFill>
                <a:latin typeface="+mj-lt"/>
              </a:defRPr>
            </a:lvl2pPr>
            <a:lvl3pPr marL="566928" indent="-182880" algn="ctr">
              <a:buClr>
                <a:srgbClr val="C5AE76"/>
              </a:buClr>
              <a:buFont typeface="Arial" panose="020B0604020202020204" pitchFamily="34" charset="0"/>
              <a:buChar char="•"/>
              <a:defRPr>
                <a:solidFill>
                  <a:schemeClr val="bg1"/>
                </a:solidFill>
                <a:latin typeface="+mj-lt"/>
              </a:defRPr>
            </a:lvl3pPr>
            <a:lvl4pPr marL="749808" indent="-182880" algn="ctr">
              <a:buClr>
                <a:srgbClr val="C5AE76"/>
              </a:buClr>
              <a:buFont typeface="Arial" panose="020B0604020202020204" pitchFamily="34" charset="0"/>
              <a:buChar char="•"/>
              <a:defRPr>
                <a:solidFill>
                  <a:schemeClr val="bg1"/>
                </a:solidFill>
                <a:latin typeface="+mj-lt"/>
              </a:defRPr>
            </a:lvl4pPr>
            <a:lvl5pPr marL="932688" indent="-182880" algn="ctr">
              <a:buClr>
                <a:srgbClr val="C5AE76"/>
              </a:buClr>
              <a:buFont typeface="Arial" panose="020B0604020202020204" pitchFamily="34" charset="0"/>
              <a:buChar char="•"/>
              <a:defRPr>
                <a:solidFill>
                  <a:schemeClr val="bg1"/>
                </a:solidFill>
                <a:latin typeface="+mj-lt"/>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12" name="Triángulo 11">
            <a:extLst>
              <a:ext uri="{FF2B5EF4-FFF2-40B4-BE49-F238E27FC236}">
                <a16:creationId xmlns:a16="http://schemas.microsoft.com/office/drawing/2014/main" id="{520102B5-5695-C743-B30E-C92897B48D89}"/>
              </a:ext>
            </a:extLst>
          </p:cNvPr>
          <p:cNvSpPr/>
          <p:nvPr userDrawn="1"/>
        </p:nvSpPr>
        <p:spPr>
          <a:xfrm rot="16200000">
            <a:off x="11604063" y="316289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46422014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ítulo con contenido estrecho e imagen">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81362E8B-2D31-4FC1-BFAB-BF2E01BB4A6A}" type="datetime1">
              <a:rPr lang="es-ES" noProof="0" smtClean="0"/>
              <a:t>14/01/2021</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5" name="Rectángulo 4">
            <a:extLst>
              <a:ext uri="{FF2B5EF4-FFF2-40B4-BE49-F238E27FC236}">
                <a16:creationId xmlns:a16="http://schemas.microsoft.com/office/drawing/2014/main" id="{BB0D84E6-6DEA-1D4E-92C3-A360785A027B}"/>
              </a:ext>
            </a:extLst>
          </p:cNvPr>
          <p:cNvSpPr/>
          <p:nvPr userDrawn="1"/>
        </p:nvSpPr>
        <p:spPr>
          <a:xfrm>
            <a:off x="0" y="1730829"/>
            <a:ext cx="8229600" cy="34779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6" name="Triángulo 5">
            <a:extLst>
              <a:ext uri="{FF2B5EF4-FFF2-40B4-BE49-F238E27FC236}">
                <a16:creationId xmlns:a16="http://schemas.microsoft.com/office/drawing/2014/main" id="{C28500E9-800B-C94A-B6F9-F73D37B2D301}"/>
              </a:ext>
            </a:extLst>
          </p:cNvPr>
          <p:cNvSpPr/>
          <p:nvPr userDrawn="1"/>
        </p:nvSpPr>
        <p:spPr>
          <a:xfrm rot="10800000">
            <a:off x="8749091" y="0"/>
            <a:ext cx="3442907"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Triángulo 6">
            <a:extLst>
              <a:ext uri="{FF2B5EF4-FFF2-40B4-BE49-F238E27FC236}">
                <a16:creationId xmlns:a16="http://schemas.microsoft.com/office/drawing/2014/main" id="{1EAD70A4-7AF0-7E4D-ABBC-34DD61D7B01E}"/>
              </a:ext>
            </a:extLst>
          </p:cNvPr>
          <p:cNvSpPr/>
          <p:nvPr userDrawn="1"/>
        </p:nvSpPr>
        <p:spPr>
          <a:xfrm rot="10800000">
            <a:off x="3727215" y="5551712"/>
            <a:ext cx="1424687" cy="1306288"/>
          </a:xfrm>
          <a:prstGeom prst="triangle">
            <a:avLst/>
          </a:prstGeom>
          <a:pattFill prst="lgGrid">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Título 9">
            <a:extLst>
              <a:ext uri="{FF2B5EF4-FFF2-40B4-BE49-F238E27FC236}">
                <a16:creationId xmlns:a16="http://schemas.microsoft.com/office/drawing/2014/main" id="{14C43A8B-650C-3B4B-9F8C-592CE9F269FB}"/>
              </a:ext>
            </a:extLst>
          </p:cNvPr>
          <p:cNvSpPr>
            <a:spLocks noGrp="1"/>
          </p:cNvSpPr>
          <p:nvPr>
            <p:ph type="title"/>
          </p:nvPr>
        </p:nvSpPr>
        <p:spPr>
          <a:xfrm>
            <a:off x="868625" y="2464270"/>
            <a:ext cx="5227376" cy="727700"/>
          </a:xfrm>
        </p:spPr>
        <p:txBody>
          <a:bodyPr rtlCol="0" anchor="t"/>
          <a:lstStyle>
            <a:lvl1pPr>
              <a:defRPr>
                <a:solidFill>
                  <a:schemeClr val="bg1"/>
                </a:solidFill>
              </a:defRPr>
            </a:lvl1pPr>
          </a:lstStyle>
          <a:p>
            <a:pPr rtl="0"/>
            <a:r>
              <a:rPr lang="es-ES" noProof="0"/>
              <a:t>Haga clic para modificar el estilo de título del patrón</a:t>
            </a:r>
            <a:endParaRPr lang="es-ES" noProof="0" dirty="0"/>
          </a:p>
        </p:txBody>
      </p:sp>
      <p:sp>
        <p:nvSpPr>
          <p:cNvPr id="9" name="Marcador de texto 2">
            <a:extLst>
              <a:ext uri="{FF2B5EF4-FFF2-40B4-BE49-F238E27FC236}">
                <a16:creationId xmlns:a16="http://schemas.microsoft.com/office/drawing/2014/main" id="{0345C704-9538-984E-8D14-D6AEC9A4C42E}"/>
              </a:ext>
            </a:extLst>
          </p:cNvPr>
          <p:cNvSpPr>
            <a:spLocks noGrp="1"/>
          </p:cNvSpPr>
          <p:nvPr>
            <p:ph type="body" idx="1" hasCustomPrompt="1"/>
          </p:nvPr>
        </p:nvSpPr>
        <p:spPr>
          <a:xfrm>
            <a:off x="868623" y="3265903"/>
            <a:ext cx="5227377" cy="1642386"/>
          </a:xfrm>
        </p:spPr>
        <p:txBody>
          <a:bodyPr lIns="91440" rIns="91440" rtlCol="0" anchor="t">
            <a:normAutofit/>
          </a:bodyPr>
          <a:lstStyle>
            <a:lvl1pPr marL="0" indent="0">
              <a:buNone/>
              <a:defRPr sz="2000" b="0" cap="none"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dirty="0"/>
              <a:t>Haga clic para modificar los estilos de texto del patrón</a:t>
            </a:r>
          </a:p>
        </p:txBody>
      </p:sp>
      <p:sp>
        <p:nvSpPr>
          <p:cNvPr id="13" name="Marcador de posición de imagen 11">
            <a:extLst>
              <a:ext uri="{FF2B5EF4-FFF2-40B4-BE49-F238E27FC236}">
                <a16:creationId xmlns:a16="http://schemas.microsoft.com/office/drawing/2014/main" id="{647B5AD0-4AD4-9843-9C08-DEF894490A97}"/>
              </a:ext>
            </a:extLst>
          </p:cNvPr>
          <p:cNvSpPr>
            <a:spLocks noGrp="1"/>
          </p:cNvSpPr>
          <p:nvPr>
            <p:ph type="pic" sz="quarter" idx="13"/>
          </p:nvPr>
        </p:nvSpPr>
        <p:spPr>
          <a:xfrm flipH="1">
            <a:off x="4593262" y="0"/>
            <a:ext cx="7598736" cy="6858000"/>
          </a:xfrm>
          <a:prstGeom prst="triangle">
            <a:avLst/>
          </a:prstGeom>
          <a:solidFill>
            <a:schemeClr val="accent1"/>
          </a:solidFill>
        </p:spPr>
        <p:txBody>
          <a:bodyPr rtlCol="0"/>
          <a:lstStyle/>
          <a:p>
            <a:pPr rtl="0"/>
            <a:r>
              <a:rPr lang="es-ES" noProof="0"/>
              <a:t>Haga clic en el icono para agregar una imagen</a:t>
            </a:r>
            <a:endParaRPr lang="es-ES" noProof="0" dirty="0"/>
          </a:p>
        </p:txBody>
      </p:sp>
      <p:sp>
        <p:nvSpPr>
          <p:cNvPr id="14" name="Triángulo 13">
            <a:extLst>
              <a:ext uri="{FF2B5EF4-FFF2-40B4-BE49-F238E27FC236}">
                <a16:creationId xmlns:a16="http://schemas.microsoft.com/office/drawing/2014/main" id="{8795BE2D-99B1-FE49-84B1-C41E44A8AC0B}"/>
              </a:ext>
            </a:extLst>
          </p:cNvPr>
          <p:cNvSpPr/>
          <p:nvPr userDrawn="1"/>
        </p:nvSpPr>
        <p:spPr>
          <a:xfrm rot="5400000">
            <a:off x="-48606" y="252453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es-ES" noProof="0" dirty="0"/>
          </a:p>
        </p:txBody>
      </p:sp>
    </p:spTree>
    <p:extLst>
      <p:ext uri="{BB962C8B-B14F-4D97-AF65-F5344CB8AC3E}">
        <p14:creationId xmlns:p14="http://schemas.microsoft.com/office/powerpoint/2010/main" val="340315578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ita con nombre e imagen de autor">
    <p:spTree>
      <p:nvGrpSpPr>
        <p:cNvPr id="1" name=""/>
        <p:cNvGrpSpPr/>
        <p:nvPr/>
      </p:nvGrpSpPr>
      <p:grpSpPr>
        <a:xfrm>
          <a:off x="0" y="0"/>
          <a:ext cx="0" cy="0"/>
          <a:chOff x="0" y="0"/>
          <a:chExt cx="0" cy="0"/>
        </a:xfrm>
      </p:grpSpPr>
      <p:sp>
        <p:nvSpPr>
          <p:cNvPr id="10" name="Marcador de posición de imagen 9">
            <a:extLst>
              <a:ext uri="{FF2B5EF4-FFF2-40B4-BE49-F238E27FC236}">
                <a16:creationId xmlns:a16="http://schemas.microsoft.com/office/drawing/2014/main" id="{34F14FD9-9995-BE48-8C0E-B1454B9F231E}"/>
              </a:ext>
            </a:extLst>
          </p:cNvPr>
          <p:cNvSpPr>
            <a:spLocks noGrp="1"/>
          </p:cNvSpPr>
          <p:nvPr>
            <p:ph type="pic" sz="quarter" idx="13"/>
          </p:nvPr>
        </p:nvSpPr>
        <p:spPr>
          <a:xfrm>
            <a:off x="4576012" y="0"/>
            <a:ext cx="7598735" cy="6858000"/>
          </a:xfrm>
          <a:custGeom>
            <a:avLst/>
            <a:gdLst>
              <a:gd name="connsiteX0" fmla="*/ 0 w 7598735"/>
              <a:gd name="connsiteY0" fmla="*/ 0 h 6858000"/>
              <a:gd name="connsiteX1" fmla="*/ 7598735 w 7598735"/>
              <a:gd name="connsiteY1" fmla="*/ 0 h 6858000"/>
              <a:gd name="connsiteX2" fmla="*/ 7598735 w 7598735"/>
              <a:gd name="connsiteY2" fmla="*/ 6858000 h 6858000"/>
              <a:gd name="connsiteX3" fmla="*/ 0 w 7598735"/>
              <a:gd name="connsiteY3" fmla="*/ 6858000 h 6858000"/>
              <a:gd name="connsiteX4" fmla="*/ 0 w 7598735"/>
              <a:gd name="connsiteY4" fmla="*/ 6378840 h 6858000"/>
              <a:gd name="connsiteX5" fmla="*/ 140333 w 7598735"/>
              <a:gd name="connsiteY5" fmla="*/ 6379536 h 6858000"/>
              <a:gd name="connsiteX6" fmla="*/ 3074919 w 7598735"/>
              <a:gd name="connsiteY6" fmla="*/ 489098 h 6858000"/>
              <a:gd name="connsiteX7" fmla="*/ 0 w 7598735"/>
              <a:gd name="connsiteY7" fmla="*/ 480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8735" h="6858000">
                <a:moveTo>
                  <a:pt x="0" y="0"/>
                </a:moveTo>
                <a:lnTo>
                  <a:pt x="7598735" y="0"/>
                </a:lnTo>
                <a:lnTo>
                  <a:pt x="7598735" y="6858000"/>
                </a:lnTo>
                <a:lnTo>
                  <a:pt x="0" y="6858000"/>
                </a:lnTo>
                <a:lnTo>
                  <a:pt x="0" y="6378840"/>
                </a:lnTo>
                <a:lnTo>
                  <a:pt x="140333" y="6379536"/>
                </a:lnTo>
                <a:lnTo>
                  <a:pt x="3074919" y="489098"/>
                </a:lnTo>
                <a:lnTo>
                  <a:pt x="0" y="480044"/>
                </a:lnTo>
                <a:close/>
              </a:path>
            </a:pathLst>
          </a:custGeom>
          <a:solidFill>
            <a:schemeClr val="accent1"/>
          </a:solidFill>
        </p:spPr>
        <p:txBody>
          <a:bodyPr wrap="square" rtlCol="0">
            <a:noAutofit/>
          </a:bodyPr>
          <a:lstStyle/>
          <a:p>
            <a:pPr rtl="0"/>
            <a:r>
              <a:rPr lang="es-ES" noProof="0"/>
              <a:t>Haga clic en el icono para agregar una imagen</a:t>
            </a:r>
            <a:endParaRPr lang="es-ES" noProof="0" dirty="0"/>
          </a:p>
        </p:txBody>
      </p:sp>
      <p:sp>
        <p:nvSpPr>
          <p:cNvPr id="15" name="Forma libre 14">
            <a:extLst>
              <a:ext uri="{FF2B5EF4-FFF2-40B4-BE49-F238E27FC236}">
                <a16:creationId xmlns:a16="http://schemas.microsoft.com/office/drawing/2014/main" id="{BFAE6FFB-F37C-7040-87B6-654B2F44CE7A}"/>
              </a:ext>
            </a:extLst>
          </p:cNvPr>
          <p:cNvSpPr/>
          <p:nvPr userDrawn="1"/>
        </p:nvSpPr>
        <p:spPr>
          <a:xfrm>
            <a:off x="413825" y="463261"/>
            <a:ext cx="7347125" cy="5911703"/>
          </a:xfrm>
          <a:custGeom>
            <a:avLst/>
            <a:gdLst>
              <a:gd name="connsiteX0" fmla="*/ 125507 w 7347125"/>
              <a:gd name="connsiteY0" fmla="*/ 0 h 5911703"/>
              <a:gd name="connsiteX1" fmla="*/ 7347125 w 7347125"/>
              <a:gd name="connsiteY1" fmla="*/ 21265 h 5911703"/>
              <a:gd name="connsiteX2" fmla="*/ 4412539 w 7347125"/>
              <a:gd name="connsiteY2" fmla="*/ 5911703 h 5911703"/>
              <a:gd name="connsiteX3" fmla="*/ 1007798 w 7347125"/>
              <a:gd name="connsiteY3" fmla="*/ 5894815 h 5911703"/>
              <a:gd name="connsiteX4" fmla="*/ 1007798 w 7347125"/>
              <a:gd name="connsiteY4" fmla="*/ 5901070 h 5911703"/>
              <a:gd name="connsiteX5" fmla="*/ 0 w 7347125"/>
              <a:gd name="connsiteY5" fmla="*/ 5901070 h 5911703"/>
              <a:gd name="connsiteX6" fmla="*/ 0 w 7347125"/>
              <a:gd name="connsiteY6" fmla="*/ 10632 h 5911703"/>
              <a:gd name="connsiteX7" fmla="*/ 125507 w 7347125"/>
              <a:gd name="connsiteY7" fmla="*/ 10632 h 5911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7125" h="5911703">
                <a:moveTo>
                  <a:pt x="125507" y="0"/>
                </a:moveTo>
                <a:lnTo>
                  <a:pt x="7347125" y="21265"/>
                </a:lnTo>
                <a:lnTo>
                  <a:pt x="4412539" y="5911703"/>
                </a:lnTo>
                <a:lnTo>
                  <a:pt x="1007798" y="5894815"/>
                </a:lnTo>
                <a:lnTo>
                  <a:pt x="1007798" y="5901070"/>
                </a:lnTo>
                <a:lnTo>
                  <a:pt x="0" y="5901070"/>
                </a:lnTo>
                <a:lnTo>
                  <a:pt x="0" y="10632"/>
                </a:lnTo>
                <a:lnTo>
                  <a:pt x="125507" y="1063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dirty="0"/>
          </a:p>
        </p:txBody>
      </p:sp>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F77EF784-FB73-4D4F-9EB5-38DF6189B3EB}" type="datetime1">
              <a:rPr lang="es-ES" noProof="0" smtClean="0"/>
              <a:t>14/01/2021</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
        <p:nvSpPr>
          <p:cNvPr id="12" name="Título 1">
            <a:extLst>
              <a:ext uri="{FF2B5EF4-FFF2-40B4-BE49-F238E27FC236}">
                <a16:creationId xmlns:a16="http://schemas.microsoft.com/office/drawing/2014/main" id="{48AB73D1-1AA1-4E44-A7DA-8C00D8E109E3}"/>
              </a:ext>
            </a:extLst>
          </p:cNvPr>
          <p:cNvSpPr>
            <a:spLocks noGrp="1"/>
          </p:cNvSpPr>
          <p:nvPr>
            <p:ph type="title" hasCustomPrompt="1"/>
          </p:nvPr>
        </p:nvSpPr>
        <p:spPr>
          <a:xfrm>
            <a:off x="941501" y="1609159"/>
            <a:ext cx="4253334" cy="3639682"/>
          </a:xfrm>
        </p:spPr>
        <p:txBody>
          <a:bodyPr rtlCol="0" anchor="t">
            <a:normAutofit/>
          </a:bodyPr>
          <a:lstStyle>
            <a:lvl1pPr algn="l">
              <a:defRPr sz="3800">
                <a:solidFill>
                  <a:schemeClr val="bg1"/>
                </a:solidFill>
              </a:defRPr>
            </a:lvl1pPr>
          </a:lstStyle>
          <a:p>
            <a:pPr rtl="0"/>
            <a:r>
              <a:rPr lang="es-ES" noProof="0" dirty="0"/>
              <a:t>La cita va aquí</a:t>
            </a:r>
          </a:p>
        </p:txBody>
      </p:sp>
      <p:sp>
        <p:nvSpPr>
          <p:cNvPr id="13" name="Triángulo 12">
            <a:extLst>
              <a:ext uri="{FF2B5EF4-FFF2-40B4-BE49-F238E27FC236}">
                <a16:creationId xmlns:a16="http://schemas.microsoft.com/office/drawing/2014/main" id="{611FC0D0-E6E4-7645-B0C7-97FB2012039D}"/>
              </a:ext>
            </a:extLst>
          </p:cNvPr>
          <p:cNvSpPr/>
          <p:nvPr userDrawn="1"/>
        </p:nvSpPr>
        <p:spPr>
          <a:xfrm rot="5400000">
            <a:off x="-48606" y="1669422"/>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391192495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olo título: izquierda">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grpSp>
        <p:nvGrpSpPr>
          <p:cNvPr id="13" name="Grupo 12">
            <a:extLst>
              <a:ext uri="{FF2B5EF4-FFF2-40B4-BE49-F238E27FC236}">
                <a16:creationId xmlns:a16="http://schemas.microsoft.com/office/drawing/2014/main" id="{C3F11B56-403C-AA43-BA54-5CD9A60BDDC5}"/>
              </a:ext>
            </a:extLst>
          </p:cNvPr>
          <p:cNvGrpSpPr/>
          <p:nvPr userDrawn="1"/>
        </p:nvGrpSpPr>
        <p:grpSpPr>
          <a:xfrm>
            <a:off x="0" y="-4353"/>
            <a:ext cx="6884691" cy="6862353"/>
            <a:chOff x="0" y="-4353"/>
            <a:chExt cx="6884691" cy="6862353"/>
          </a:xfrm>
        </p:grpSpPr>
        <p:sp>
          <p:nvSpPr>
            <p:cNvPr id="5" name="Forma libre 4">
              <a:extLst>
                <a:ext uri="{FF2B5EF4-FFF2-40B4-BE49-F238E27FC236}">
                  <a16:creationId xmlns:a16="http://schemas.microsoft.com/office/drawing/2014/main" id="{D8BAD61D-F455-9240-A0C6-DE4F40E47C29}"/>
                </a:ext>
              </a:extLst>
            </p:cNvPr>
            <p:cNvSpPr/>
            <p:nvPr userDrawn="1"/>
          </p:nvSpPr>
          <p:spPr>
            <a:xfrm>
              <a:off x="0" y="-4353"/>
              <a:ext cx="6884691" cy="6862353"/>
            </a:xfrm>
            <a:custGeom>
              <a:avLst/>
              <a:gdLst>
                <a:gd name="connsiteX0" fmla="*/ 0 w 6838726"/>
                <a:gd name="connsiteY0" fmla="*/ 0 h 6853468"/>
                <a:gd name="connsiteX1" fmla="*/ 6838726 w 6838726"/>
                <a:gd name="connsiteY1" fmla="*/ 20138 h 6853468"/>
                <a:gd name="connsiteX2" fmla="*/ 3434396 w 6838726"/>
                <a:gd name="connsiteY2" fmla="*/ 6853468 h 6853468"/>
                <a:gd name="connsiteX3" fmla="*/ 0 w 6838726"/>
                <a:gd name="connsiteY3" fmla="*/ 6836433 h 6853468"/>
                <a:gd name="connsiteX4" fmla="*/ 0 w 6838726"/>
                <a:gd name="connsiteY4" fmla="*/ 0 h 6853468"/>
                <a:gd name="connsiteX0" fmla="*/ 15156 w 6853882"/>
                <a:gd name="connsiteY0" fmla="*/ 0 h 6861693"/>
                <a:gd name="connsiteX1" fmla="*/ 6853882 w 6853882"/>
                <a:gd name="connsiteY1" fmla="*/ 20138 h 6861693"/>
                <a:gd name="connsiteX2" fmla="*/ 3449552 w 6853882"/>
                <a:gd name="connsiteY2" fmla="*/ 6853468 h 6861693"/>
                <a:gd name="connsiteX3" fmla="*/ 0 w 6853882"/>
                <a:gd name="connsiteY3" fmla="*/ 6861693 h 6861693"/>
                <a:gd name="connsiteX4" fmla="*/ 15156 w 6853882"/>
                <a:gd name="connsiteY4" fmla="*/ 0 h 6861693"/>
                <a:gd name="connsiteX0" fmla="*/ 15156 w 6853882"/>
                <a:gd name="connsiteY0" fmla="*/ 0 h 6863572"/>
                <a:gd name="connsiteX1" fmla="*/ 6853882 w 6853882"/>
                <a:gd name="connsiteY1" fmla="*/ 20138 h 6863572"/>
                <a:gd name="connsiteX2" fmla="*/ 3444500 w 6853882"/>
                <a:gd name="connsiteY2" fmla="*/ 6863572 h 6863572"/>
                <a:gd name="connsiteX3" fmla="*/ 0 w 6853882"/>
                <a:gd name="connsiteY3" fmla="*/ 6861693 h 6863572"/>
                <a:gd name="connsiteX4" fmla="*/ 15156 w 6853882"/>
                <a:gd name="connsiteY4" fmla="*/ 0 h 6863572"/>
                <a:gd name="connsiteX0" fmla="*/ 0 w 6866861"/>
                <a:gd name="connsiteY0" fmla="*/ 0 h 6856528"/>
                <a:gd name="connsiteX1" fmla="*/ 6866861 w 6866861"/>
                <a:gd name="connsiteY1" fmla="*/ 13094 h 6856528"/>
                <a:gd name="connsiteX2" fmla="*/ 3457479 w 6866861"/>
                <a:gd name="connsiteY2" fmla="*/ 6856528 h 6856528"/>
                <a:gd name="connsiteX3" fmla="*/ 12979 w 6866861"/>
                <a:gd name="connsiteY3" fmla="*/ 6854649 h 6856528"/>
                <a:gd name="connsiteX4" fmla="*/ 0 w 6866861"/>
                <a:gd name="connsiteY4" fmla="*/ 0 h 6856528"/>
                <a:gd name="connsiteX0" fmla="*/ 0 w 6893137"/>
                <a:gd name="connsiteY0" fmla="*/ 7922 h 6864450"/>
                <a:gd name="connsiteX1" fmla="*/ 6893137 w 6893137"/>
                <a:gd name="connsiteY1" fmla="*/ 0 h 6864450"/>
                <a:gd name="connsiteX2" fmla="*/ 3457479 w 6893137"/>
                <a:gd name="connsiteY2" fmla="*/ 6864450 h 6864450"/>
                <a:gd name="connsiteX3" fmla="*/ 12979 w 6893137"/>
                <a:gd name="connsiteY3" fmla="*/ 6862571 h 6864450"/>
                <a:gd name="connsiteX4" fmla="*/ 0 w 6893137"/>
                <a:gd name="connsiteY4" fmla="*/ 7922 h 6864450"/>
                <a:gd name="connsiteX0" fmla="*/ 0 w 6897755"/>
                <a:gd name="connsiteY0" fmla="*/ 0 h 6870380"/>
                <a:gd name="connsiteX1" fmla="*/ 6897755 w 6897755"/>
                <a:gd name="connsiteY1" fmla="*/ 5930 h 6870380"/>
                <a:gd name="connsiteX2" fmla="*/ 3462097 w 6897755"/>
                <a:gd name="connsiteY2" fmla="*/ 6870380 h 6870380"/>
                <a:gd name="connsiteX3" fmla="*/ 17597 w 6897755"/>
                <a:gd name="connsiteY3" fmla="*/ 6868501 h 6870380"/>
                <a:gd name="connsiteX4" fmla="*/ 0 w 6897755"/>
                <a:gd name="connsiteY4" fmla="*/ 0 h 6870380"/>
                <a:gd name="connsiteX0" fmla="*/ 9234 w 6880863"/>
                <a:gd name="connsiteY0" fmla="*/ 0 h 6866017"/>
                <a:gd name="connsiteX1" fmla="*/ 6880863 w 6880863"/>
                <a:gd name="connsiteY1" fmla="*/ 1567 h 6866017"/>
                <a:gd name="connsiteX2" fmla="*/ 3445205 w 6880863"/>
                <a:gd name="connsiteY2" fmla="*/ 6866017 h 6866017"/>
                <a:gd name="connsiteX3" fmla="*/ 705 w 6880863"/>
                <a:gd name="connsiteY3" fmla="*/ 6864138 h 6866017"/>
                <a:gd name="connsiteX4" fmla="*/ 9234 w 6880863"/>
                <a:gd name="connsiteY4" fmla="*/ 0 h 6866017"/>
                <a:gd name="connsiteX0" fmla="*/ 0 w 6884692"/>
                <a:gd name="connsiteY0" fmla="*/ 0 h 6883465"/>
                <a:gd name="connsiteX1" fmla="*/ 6884692 w 6884692"/>
                <a:gd name="connsiteY1" fmla="*/ 19015 h 6883465"/>
                <a:gd name="connsiteX2" fmla="*/ 3449034 w 6884692"/>
                <a:gd name="connsiteY2" fmla="*/ 6883465 h 6883465"/>
                <a:gd name="connsiteX3" fmla="*/ 4534 w 6884692"/>
                <a:gd name="connsiteY3" fmla="*/ 6881586 h 6883465"/>
                <a:gd name="connsiteX4" fmla="*/ 0 w 6884692"/>
                <a:gd name="connsiteY4" fmla="*/ 0 h 6883465"/>
                <a:gd name="connsiteX0" fmla="*/ 9234 w 6880863"/>
                <a:gd name="connsiteY0" fmla="*/ 0 h 6879102"/>
                <a:gd name="connsiteX1" fmla="*/ 6880863 w 6880863"/>
                <a:gd name="connsiteY1" fmla="*/ 14652 h 6879102"/>
                <a:gd name="connsiteX2" fmla="*/ 3445205 w 6880863"/>
                <a:gd name="connsiteY2" fmla="*/ 6879102 h 6879102"/>
                <a:gd name="connsiteX3" fmla="*/ 705 w 6880863"/>
                <a:gd name="connsiteY3" fmla="*/ 6877223 h 6879102"/>
                <a:gd name="connsiteX4" fmla="*/ 9234 w 6880863"/>
                <a:gd name="connsiteY4" fmla="*/ 0 h 6879102"/>
                <a:gd name="connsiteX0" fmla="*/ 0 w 6884691"/>
                <a:gd name="connsiteY0" fmla="*/ 0 h 6874740"/>
                <a:gd name="connsiteX1" fmla="*/ 6884691 w 6884691"/>
                <a:gd name="connsiteY1" fmla="*/ 10290 h 6874740"/>
                <a:gd name="connsiteX2" fmla="*/ 3449033 w 6884691"/>
                <a:gd name="connsiteY2" fmla="*/ 6874740 h 6874740"/>
                <a:gd name="connsiteX3" fmla="*/ 4533 w 6884691"/>
                <a:gd name="connsiteY3" fmla="*/ 6872861 h 6874740"/>
                <a:gd name="connsiteX4" fmla="*/ 0 w 6884691"/>
                <a:gd name="connsiteY4" fmla="*/ 0 h 6874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691" h="6874740">
                  <a:moveTo>
                    <a:pt x="0" y="0"/>
                  </a:moveTo>
                  <a:lnTo>
                    <a:pt x="6884691" y="10290"/>
                  </a:lnTo>
                  <a:lnTo>
                    <a:pt x="3449033" y="6874740"/>
                  </a:lnTo>
                  <a:lnTo>
                    <a:pt x="4533" y="6872861"/>
                  </a:lnTo>
                  <a:cubicBezTo>
                    <a:pt x="207" y="4587978"/>
                    <a:pt x="4326" y="2284883"/>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7" name="Triángulo 6">
              <a:extLst>
                <a:ext uri="{FF2B5EF4-FFF2-40B4-BE49-F238E27FC236}">
                  <a16:creationId xmlns:a16="http://schemas.microsoft.com/office/drawing/2014/main" id="{75004ACB-4E38-6449-B733-0C6A6BC40ADD}"/>
                </a:ext>
              </a:extLst>
            </p:cNvPr>
            <p:cNvSpPr/>
            <p:nvPr userDrawn="1"/>
          </p:nvSpPr>
          <p:spPr>
            <a:xfrm>
              <a:off x="3641197" y="5941716"/>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Triángulo 7">
              <a:extLst>
                <a:ext uri="{FF2B5EF4-FFF2-40B4-BE49-F238E27FC236}">
                  <a16:creationId xmlns:a16="http://schemas.microsoft.com/office/drawing/2014/main" id="{6A52034F-1EDC-3040-A1B3-B572FC286C20}"/>
                </a:ext>
              </a:extLst>
            </p:cNvPr>
            <p:cNvSpPr/>
            <p:nvPr userDrawn="1"/>
          </p:nvSpPr>
          <p:spPr>
            <a:xfrm rot="10800000">
              <a:off x="4944403" y="174432"/>
              <a:ext cx="1590022" cy="159002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grpSp>
      <p:sp>
        <p:nvSpPr>
          <p:cNvPr id="10" name="Título 1">
            <a:extLst>
              <a:ext uri="{FF2B5EF4-FFF2-40B4-BE49-F238E27FC236}">
                <a16:creationId xmlns:a16="http://schemas.microsoft.com/office/drawing/2014/main" id="{1877EC85-9CA1-EB4F-A9AC-2C02CB520866}"/>
              </a:ext>
            </a:extLst>
          </p:cNvPr>
          <p:cNvSpPr>
            <a:spLocks noGrp="1"/>
          </p:cNvSpPr>
          <p:nvPr>
            <p:ph type="title" hasCustomPrompt="1"/>
          </p:nvPr>
        </p:nvSpPr>
        <p:spPr>
          <a:xfrm>
            <a:off x="550988" y="1954400"/>
            <a:ext cx="4393415" cy="3002359"/>
          </a:xfrm>
        </p:spPr>
        <p:txBody>
          <a:bodyPr rtlCol="0" anchor="ctr"/>
          <a:lstStyle>
            <a:lvl1pPr algn="ctr">
              <a:defRPr>
                <a:solidFill>
                  <a:schemeClr val="bg1"/>
                </a:solidFill>
              </a:defRPr>
            </a:lvl1pPr>
          </a:lstStyle>
          <a:p>
            <a:pPr rtl="0"/>
            <a:r>
              <a:rPr lang="es-ES" noProof="0" dirty="0"/>
              <a:t>El título va aquí</a:t>
            </a:r>
          </a:p>
        </p:txBody>
      </p:sp>
      <p:sp>
        <p:nvSpPr>
          <p:cNvPr id="12" name="Triángulo 11">
            <a:extLst>
              <a:ext uri="{FF2B5EF4-FFF2-40B4-BE49-F238E27FC236}">
                <a16:creationId xmlns:a16="http://schemas.microsoft.com/office/drawing/2014/main" id="{FD910B80-BD19-CF49-AB0B-1C5DEECEDED5}"/>
              </a:ext>
            </a:extLst>
          </p:cNvPr>
          <p:cNvSpPr/>
          <p:nvPr userDrawn="1"/>
        </p:nvSpPr>
        <p:spPr>
          <a:xfrm rot="5400000">
            <a:off x="-48606" y="316516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177503284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olo título: derecha">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15DFD37-81D5-5742-B09A-5D4CBF48B7EA}"/>
              </a:ext>
            </a:extLst>
          </p:cNvPr>
          <p:cNvGrpSpPr/>
          <p:nvPr userDrawn="1"/>
        </p:nvGrpSpPr>
        <p:grpSpPr>
          <a:xfrm rot="10800000">
            <a:off x="5294245" y="0"/>
            <a:ext cx="6897755" cy="6858000"/>
            <a:chOff x="-17598" y="0"/>
            <a:chExt cx="6897755" cy="6858000"/>
          </a:xfrm>
        </p:grpSpPr>
        <p:sp>
          <p:nvSpPr>
            <p:cNvPr id="12" name="Forma libre 11">
              <a:extLst>
                <a:ext uri="{FF2B5EF4-FFF2-40B4-BE49-F238E27FC236}">
                  <a16:creationId xmlns:a16="http://schemas.microsoft.com/office/drawing/2014/main" id="{00CF4E43-4A68-664C-B973-2FE49DC7733D}"/>
                </a:ext>
              </a:extLst>
            </p:cNvPr>
            <p:cNvSpPr/>
            <p:nvPr userDrawn="1"/>
          </p:nvSpPr>
          <p:spPr>
            <a:xfrm>
              <a:off x="-17598" y="0"/>
              <a:ext cx="6897755" cy="6858000"/>
            </a:xfrm>
            <a:custGeom>
              <a:avLst/>
              <a:gdLst>
                <a:gd name="connsiteX0" fmla="*/ 0 w 6838726"/>
                <a:gd name="connsiteY0" fmla="*/ 0 h 6853468"/>
                <a:gd name="connsiteX1" fmla="*/ 6838726 w 6838726"/>
                <a:gd name="connsiteY1" fmla="*/ 20138 h 6853468"/>
                <a:gd name="connsiteX2" fmla="*/ 3434396 w 6838726"/>
                <a:gd name="connsiteY2" fmla="*/ 6853468 h 6853468"/>
                <a:gd name="connsiteX3" fmla="*/ 0 w 6838726"/>
                <a:gd name="connsiteY3" fmla="*/ 6836433 h 6853468"/>
                <a:gd name="connsiteX4" fmla="*/ 0 w 6838726"/>
                <a:gd name="connsiteY4" fmla="*/ 0 h 6853468"/>
                <a:gd name="connsiteX0" fmla="*/ 15156 w 6853882"/>
                <a:gd name="connsiteY0" fmla="*/ 0 h 6861693"/>
                <a:gd name="connsiteX1" fmla="*/ 6853882 w 6853882"/>
                <a:gd name="connsiteY1" fmla="*/ 20138 h 6861693"/>
                <a:gd name="connsiteX2" fmla="*/ 3449552 w 6853882"/>
                <a:gd name="connsiteY2" fmla="*/ 6853468 h 6861693"/>
                <a:gd name="connsiteX3" fmla="*/ 0 w 6853882"/>
                <a:gd name="connsiteY3" fmla="*/ 6861693 h 6861693"/>
                <a:gd name="connsiteX4" fmla="*/ 15156 w 6853882"/>
                <a:gd name="connsiteY4" fmla="*/ 0 h 6861693"/>
                <a:gd name="connsiteX0" fmla="*/ 15156 w 6853882"/>
                <a:gd name="connsiteY0" fmla="*/ 0 h 6863572"/>
                <a:gd name="connsiteX1" fmla="*/ 6853882 w 6853882"/>
                <a:gd name="connsiteY1" fmla="*/ 20138 h 6863572"/>
                <a:gd name="connsiteX2" fmla="*/ 3444500 w 6853882"/>
                <a:gd name="connsiteY2" fmla="*/ 6863572 h 6863572"/>
                <a:gd name="connsiteX3" fmla="*/ 0 w 6853882"/>
                <a:gd name="connsiteY3" fmla="*/ 6861693 h 6863572"/>
                <a:gd name="connsiteX4" fmla="*/ 15156 w 6853882"/>
                <a:gd name="connsiteY4" fmla="*/ 0 h 6863572"/>
                <a:gd name="connsiteX0" fmla="*/ 0 w 6866861"/>
                <a:gd name="connsiteY0" fmla="*/ 0 h 6856528"/>
                <a:gd name="connsiteX1" fmla="*/ 6866861 w 6866861"/>
                <a:gd name="connsiteY1" fmla="*/ 13094 h 6856528"/>
                <a:gd name="connsiteX2" fmla="*/ 3457479 w 6866861"/>
                <a:gd name="connsiteY2" fmla="*/ 6856528 h 6856528"/>
                <a:gd name="connsiteX3" fmla="*/ 12979 w 6866861"/>
                <a:gd name="connsiteY3" fmla="*/ 6854649 h 6856528"/>
                <a:gd name="connsiteX4" fmla="*/ 0 w 6866861"/>
                <a:gd name="connsiteY4" fmla="*/ 0 h 6856528"/>
                <a:gd name="connsiteX0" fmla="*/ 0 w 6893137"/>
                <a:gd name="connsiteY0" fmla="*/ 7922 h 6864450"/>
                <a:gd name="connsiteX1" fmla="*/ 6893137 w 6893137"/>
                <a:gd name="connsiteY1" fmla="*/ 0 h 6864450"/>
                <a:gd name="connsiteX2" fmla="*/ 3457479 w 6893137"/>
                <a:gd name="connsiteY2" fmla="*/ 6864450 h 6864450"/>
                <a:gd name="connsiteX3" fmla="*/ 12979 w 6893137"/>
                <a:gd name="connsiteY3" fmla="*/ 6862571 h 6864450"/>
                <a:gd name="connsiteX4" fmla="*/ 0 w 6893137"/>
                <a:gd name="connsiteY4" fmla="*/ 7922 h 6864450"/>
                <a:gd name="connsiteX0" fmla="*/ 0 w 6897755"/>
                <a:gd name="connsiteY0" fmla="*/ 0 h 6870380"/>
                <a:gd name="connsiteX1" fmla="*/ 6897755 w 6897755"/>
                <a:gd name="connsiteY1" fmla="*/ 5930 h 6870380"/>
                <a:gd name="connsiteX2" fmla="*/ 3462097 w 6897755"/>
                <a:gd name="connsiteY2" fmla="*/ 6870380 h 6870380"/>
                <a:gd name="connsiteX3" fmla="*/ 17597 w 6897755"/>
                <a:gd name="connsiteY3" fmla="*/ 6868501 h 6870380"/>
                <a:gd name="connsiteX4" fmla="*/ 0 w 6897755"/>
                <a:gd name="connsiteY4" fmla="*/ 0 h 687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7755" h="6870380">
                  <a:moveTo>
                    <a:pt x="0" y="0"/>
                  </a:moveTo>
                  <a:lnTo>
                    <a:pt x="6897755" y="5930"/>
                  </a:lnTo>
                  <a:lnTo>
                    <a:pt x="3462097" y="6870380"/>
                  </a:lnTo>
                  <a:lnTo>
                    <a:pt x="17597" y="6868501"/>
                  </a:lnTo>
                  <a:cubicBezTo>
                    <a:pt x="13271" y="4583618"/>
                    <a:pt x="4326" y="2284883"/>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3" name="Triángulo 12">
              <a:extLst>
                <a:ext uri="{FF2B5EF4-FFF2-40B4-BE49-F238E27FC236}">
                  <a16:creationId xmlns:a16="http://schemas.microsoft.com/office/drawing/2014/main" id="{AFAD3D76-9126-CC42-90B0-5BF85DC91E3E}"/>
                </a:ext>
              </a:extLst>
            </p:cNvPr>
            <p:cNvSpPr/>
            <p:nvPr userDrawn="1"/>
          </p:nvSpPr>
          <p:spPr>
            <a:xfrm>
              <a:off x="3641197" y="5941716"/>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4" name="Triángulo 13">
              <a:extLst>
                <a:ext uri="{FF2B5EF4-FFF2-40B4-BE49-F238E27FC236}">
                  <a16:creationId xmlns:a16="http://schemas.microsoft.com/office/drawing/2014/main" id="{9D011AB3-8218-AE4F-9DF7-810A1B45C453}"/>
                </a:ext>
              </a:extLst>
            </p:cNvPr>
            <p:cNvSpPr/>
            <p:nvPr userDrawn="1"/>
          </p:nvSpPr>
          <p:spPr>
            <a:xfrm rot="10800000">
              <a:off x="4944403" y="174432"/>
              <a:ext cx="1590022" cy="159002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gr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a:xfrm>
            <a:off x="10993582" y="6446838"/>
            <a:ext cx="780010" cy="365125"/>
          </a:xfrm>
        </p:spPr>
        <p:txBody>
          <a:bodyPr rtlCol="0"/>
          <a:lstStyle/>
          <a:p>
            <a:pPr rtl="0"/>
            <a:fld id="{3A98EE3D-8CD1-4C3F-BD1C-C98C9596463C}" type="slidenum">
              <a:rPr lang="es-ES" noProof="0" smtClean="0"/>
              <a:t>‹Nº›</a:t>
            </a:fld>
            <a:endParaRPr lang="es-ES" noProof="0" dirty="0"/>
          </a:p>
        </p:txBody>
      </p:sp>
      <p:sp>
        <p:nvSpPr>
          <p:cNvPr id="10" name="Título 1">
            <a:extLst>
              <a:ext uri="{FF2B5EF4-FFF2-40B4-BE49-F238E27FC236}">
                <a16:creationId xmlns:a16="http://schemas.microsoft.com/office/drawing/2014/main" id="{1877EC85-9CA1-EB4F-A9AC-2C02CB520866}"/>
              </a:ext>
            </a:extLst>
          </p:cNvPr>
          <p:cNvSpPr>
            <a:spLocks noGrp="1"/>
          </p:cNvSpPr>
          <p:nvPr>
            <p:ph type="title" hasCustomPrompt="1"/>
          </p:nvPr>
        </p:nvSpPr>
        <p:spPr>
          <a:xfrm>
            <a:off x="7775272" y="1954400"/>
            <a:ext cx="3889053" cy="3002359"/>
          </a:xfrm>
        </p:spPr>
        <p:txBody>
          <a:bodyPr rtlCol="0" anchor="ctr"/>
          <a:lstStyle>
            <a:lvl1pPr algn="ctr">
              <a:defRPr>
                <a:solidFill>
                  <a:schemeClr val="bg1"/>
                </a:solidFill>
              </a:defRPr>
            </a:lvl1pPr>
          </a:lstStyle>
          <a:p>
            <a:pPr rtl="0"/>
            <a:r>
              <a:rPr lang="es-ES" noProof="0" dirty="0"/>
              <a:t>El título va aquí</a:t>
            </a:r>
          </a:p>
        </p:txBody>
      </p:sp>
      <p:sp>
        <p:nvSpPr>
          <p:cNvPr id="9" name="Triángulo 8">
            <a:extLst>
              <a:ext uri="{FF2B5EF4-FFF2-40B4-BE49-F238E27FC236}">
                <a16:creationId xmlns:a16="http://schemas.microsoft.com/office/drawing/2014/main" id="{D84320FE-42A3-294B-AAE0-3D16A63E3599}"/>
              </a:ext>
            </a:extLst>
          </p:cNvPr>
          <p:cNvSpPr/>
          <p:nvPr userDrawn="1"/>
        </p:nvSpPr>
        <p:spPr>
          <a:xfrm rot="16200000">
            <a:off x="11604063" y="316289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171743746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pPr rtl="0"/>
            <a:fld id="{7EF4F5B6-9BEB-46D1-9516-7FD2061E0A28}" type="datetime1">
              <a:rPr lang="es-ES" noProof="0" smtClean="0"/>
              <a:t>14/01/2021</a:t>
            </a:fld>
            <a:endParaRPr lang="es-ES" noProof="0" dirty="0"/>
          </a:p>
        </p:txBody>
      </p:sp>
      <p:sp>
        <p:nvSpPr>
          <p:cNvPr id="5" name="Marcador de posición de pie de página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pPr rtl="0"/>
            <a:endParaRPr lang="es-ES" noProof="0" dirty="0"/>
          </a:p>
        </p:txBody>
      </p:sp>
      <p:sp>
        <p:nvSpPr>
          <p:cNvPr id="6" name="Marcador de número de diapositiva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2363315096"/>
      </p:ext>
    </p:extLst>
  </p:cSld>
  <p:clrMap bg1="lt1" tx1="dk1" bg2="lt2" tx2="dk2" accent1="accent1" accent2="accent2" accent3="accent3" accent4="accent4" accent5="accent5" accent6="accent6" hlink="hlink" folHlink="folHlink"/>
  <p:sldLayoutIdLst>
    <p:sldLayoutId id="2147483764" r:id="rId1"/>
    <p:sldLayoutId id="2147483785" r:id="rId2"/>
    <p:sldLayoutId id="2147483783" r:id="rId3"/>
    <p:sldLayoutId id="2147483765" r:id="rId4"/>
    <p:sldLayoutId id="2147483787" r:id="rId5"/>
    <p:sldLayoutId id="2147483784" r:id="rId6"/>
    <p:sldLayoutId id="2147483786" r:id="rId7"/>
    <p:sldLayoutId id="2147483774" r:id="rId8"/>
    <p:sldLayoutId id="2147483781" r:id="rId9"/>
    <p:sldLayoutId id="2147483779" r:id="rId10"/>
    <p:sldLayoutId id="2147483780" r:id="rId11"/>
    <p:sldLayoutId id="2147483778" r:id="rId12"/>
    <p:sldLayoutId id="2147483777" r:id="rId13"/>
    <p:sldLayoutId id="2147483776" r:id="rId14"/>
    <p:sldLayoutId id="2147483782" r:id="rId15"/>
  </p:sldLayoutIdLst>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hyperlink" Target="https://www.who.int/es/news-room/fact-sheets/detail/epilepsy"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1E7C09F3-1BE8-0445-A3C4-9C100D32B8D9}"/>
              </a:ext>
            </a:extLst>
          </p:cNvPr>
          <p:cNvSpPr>
            <a:spLocks noGrp="1"/>
          </p:cNvSpPr>
          <p:nvPr>
            <p:ph type="ctrTitle"/>
          </p:nvPr>
        </p:nvSpPr>
        <p:spPr>
          <a:xfrm>
            <a:off x="744343" y="1636305"/>
            <a:ext cx="7656707" cy="2755437"/>
          </a:xfrm>
        </p:spPr>
        <p:txBody>
          <a:bodyPr rtlCol="0" anchor="b">
            <a:noAutofit/>
          </a:bodyPr>
          <a:lstStyle/>
          <a:p>
            <a:r>
              <a:rPr lang="es-MX" sz="4400" dirty="0"/>
              <a:t>Análisis y Reconocimiento</a:t>
            </a:r>
            <a:br>
              <a:rPr lang="es-MX" sz="4400" dirty="0"/>
            </a:br>
            <a:r>
              <a:rPr lang="es-MX" sz="4400" dirty="0"/>
              <a:t>de Patrones de Señales </a:t>
            </a:r>
            <a:br>
              <a:rPr lang="es-MX" sz="4400" dirty="0"/>
            </a:br>
            <a:r>
              <a:rPr lang="es-MX" sz="4400" dirty="0"/>
              <a:t>Biomédicas de Pacientes </a:t>
            </a:r>
            <a:br>
              <a:rPr lang="es-MX" sz="4400" dirty="0"/>
            </a:br>
            <a:r>
              <a:rPr lang="es-MX" sz="4400" dirty="0"/>
              <a:t>con Epilepsia</a:t>
            </a:r>
            <a:endParaRPr lang="es-ES" sz="4400" dirty="0"/>
          </a:p>
        </p:txBody>
      </p:sp>
      <p:sp>
        <p:nvSpPr>
          <p:cNvPr id="6" name="Subtítulo 5">
            <a:extLst>
              <a:ext uri="{FF2B5EF4-FFF2-40B4-BE49-F238E27FC236}">
                <a16:creationId xmlns:a16="http://schemas.microsoft.com/office/drawing/2014/main" id="{C770EE27-FD77-894D-9D88-F5A548E1DCAF}"/>
              </a:ext>
            </a:extLst>
          </p:cNvPr>
          <p:cNvSpPr>
            <a:spLocks noGrp="1"/>
          </p:cNvSpPr>
          <p:nvPr>
            <p:ph type="subTitle" idx="1"/>
          </p:nvPr>
        </p:nvSpPr>
        <p:spPr>
          <a:xfrm>
            <a:off x="779180" y="4467942"/>
            <a:ext cx="4567608" cy="1143000"/>
          </a:xfrm>
        </p:spPr>
        <p:txBody>
          <a:bodyPr rtlCol="0">
            <a:normAutofit/>
          </a:bodyPr>
          <a:lstStyle/>
          <a:p>
            <a:pPr rtl="0"/>
            <a:r>
              <a:rPr lang="es-ES" dirty="0"/>
              <a:t>María Jesús angulo tijerino</a:t>
            </a:r>
            <a:br>
              <a:rPr lang="es-ES" dirty="0"/>
            </a:br>
            <a:r>
              <a:rPr lang="es-ES" dirty="0"/>
              <a:t>18 enero 2020</a:t>
            </a:r>
          </a:p>
          <a:p>
            <a:pPr rtl="0"/>
            <a:endParaRPr lang="es-ES" dirty="0"/>
          </a:p>
        </p:txBody>
      </p:sp>
      <p:pic>
        <p:nvPicPr>
          <p:cNvPr id="1042" name="Picture 18" descr="Neural networks tips and tricks - The Data Scientist">
            <a:extLst>
              <a:ext uri="{FF2B5EF4-FFF2-40B4-BE49-F238E27FC236}">
                <a16:creationId xmlns:a16="http://schemas.microsoft.com/office/drawing/2014/main" id="{95E911CD-3311-4321-9B3E-6E00D0D05FE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31255" r="21494" b="1"/>
          <a:stretch/>
        </p:blipFill>
        <p:spPr bwMode="auto">
          <a:xfrm>
            <a:off x="5381625" y="0"/>
            <a:ext cx="6813933" cy="6857999"/>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0 w 8464509"/>
              <a:gd name="connsiteY6" fmla="*/ 6858000 h 6858000"/>
              <a:gd name="connsiteX7" fmla="*/ 3426278 w 8464509"/>
              <a:gd name="connsiteY7" fmla="*/ 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426278 w 8464509"/>
              <a:gd name="connsiteY6" fmla="*/ 0 h 6858000"/>
              <a:gd name="connsiteX0" fmla="*/ 3993491 w 8464509"/>
              <a:gd name="connsiteY0" fmla="*/ 19455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993491 w 8464509"/>
              <a:gd name="connsiteY6" fmla="*/ 19455 h 6858000"/>
              <a:gd name="connsiteX0" fmla="*/ 3993491 w 8464509"/>
              <a:gd name="connsiteY0" fmla="*/ 19455 h 6858000"/>
              <a:gd name="connsiteX1" fmla="*/ 3440072 w 8464509"/>
              <a:gd name="connsiteY1" fmla="*/ 37000 h 6858000"/>
              <a:gd name="connsiteX2" fmla="*/ 8464509 w 8464509"/>
              <a:gd name="connsiteY2" fmla="*/ 0 h 6858000"/>
              <a:gd name="connsiteX3" fmla="*/ 8464509 w 8464509"/>
              <a:gd name="connsiteY3" fmla="*/ 6858000 h 6858000"/>
              <a:gd name="connsiteX4" fmla="*/ 0 w 8464509"/>
              <a:gd name="connsiteY4" fmla="*/ 6858000 h 6858000"/>
              <a:gd name="connsiteX5" fmla="*/ 3993491 w 8464509"/>
              <a:gd name="connsiteY5" fmla="*/ 19455 h 6858000"/>
              <a:gd name="connsiteX0" fmla="*/ 3993491 w 8464509"/>
              <a:gd name="connsiteY0" fmla="*/ 19455 h 6858000"/>
              <a:gd name="connsiteX1" fmla="*/ 8464509 w 8464509"/>
              <a:gd name="connsiteY1" fmla="*/ 0 h 6858000"/>
              <a:gd name="connsiteX2" fmla="*/ 8464509 w 8464509"/>
              <a:gd name="connsiteY2" fmla="*/ 6858000 h 6858000"/>
              <a:gd name="connsiteX3" fmla="*/ 0 w 8464509"/>
              <a:gd name="connsiteY3" fmla="*/ 6858000 h 6858000"/>
              <a:gd name="connsiteX4" fmla="*/ 3993491 w 8464509"/>
              <a:gd name="connsiteY4" fmla="*/ 19455 h 6858000"/>
              <a:gd name="connsiteX0" fmla="*/ 4061557 w 8464509"/>
              <a:gd name="connsiteY0" fmla="*/ 0 h 6858001"/>
              <a:gd name="connsiteX1" fmla="*/ 8464509 w 8464509"/>
              <a:gd name="connsiteY1" fmla="*/ 1 h 6858001"/>
              <a:gd name="connsiteX2" fmla="*/ 8464509 w 8464509"/>
              <a:gd name="connsiteY2" fmla="*/ 6858001 h 6858001"/>
              <a:gd name="connsiteX3" fmla="*/ 0 w 8464509"/>
              <a:gd name="connsiteY3" fmla="*/ 6858001 h 6858001"/>
              <a:gd name="connsiteX4" fmla="*/ 4061557 w 8464509"/>
              <a:gd name="connsiteY4" fmla="*/ 0 h 6858001"/>
              <a:gd name="connsiteX0" fmla="*/ 5059852 w 8464509"/>
              <a:gd name="connsiteY0" fmla="*/ 19454 h 6858000"/>
              <a:gd name="connsiteX1" fmla="*/ 8464509 w 8464509"/>
              <a:gd name="connsiteY1" fmla="*/ 0 h 6858000"/>
              <a:gd name="connsiteX2" fmla="*/ 8464509 w 8464509"/>
              <a:gd name="connsiteY2" fmla="*/ 6858000 h 6858000"/>
              <a:gd name="connsiteX3" fmla="*/ 0 w 8464509"/>
              <a:gd name="connsiteY3" fmla="*/ 6858000 h 6858000"/>
              <a:gd name="connsiteX4" fmla="*/ 5059852 w 8464509"/>
              <a:gd name="connsiteY4" fmla="*/ 19454 h 6858000"/>
              <a:gd name="connsiteX0" fmla="*/ 4061557 w 8464509"/>
              <a:gd name="connsiteY0" fmla="*/ 0 h 6877457"/>
              <a:gd name="connsiteX1" fmla="*/ 8464509 w 8464509"/>
              <a:gd name="connsiteY1" fmla="*/ 19457 h 6877457"/>
              <a:gd name="connsiteX2" fmla="*/ 8464509 w 8464509"/>
              <a:gd name="connsiteY2" fmla="*/ 6877457 h 6877457"/>
              <a:gd name="connsiteX3" fmla="*/ 0 w 8464509"/>
              <a:gd name="connsiteY3" fmla="*/ 6877457 h 6877457"/>
              <a:gd name="connsiteX4" fmla="*/ 4061557 w 8464509"/>
              <a:gd name="connsiteY4" fmla="*/ 0 h 6877457"/>
              <a:gd name="connsiteX0" fmla="*/ 4040810 w 8464509"/>
              <a:gd name="connsiteY0" fmla="*/ 0 h 6877457"/>
              <a:gd name="connsiteX1" fmla="*/ 8464509 w 8464509"/>
              <a:gd name="connsiteY1" fmla="*/ 19457 h 6877457"/>
              <a:gd name="connsiteX2" fmla="*/ 8464509 w 8464509"/>
              <a:gd name="connsiteY2" fmla="*/ 6877457 h 6877457"/>
              <a:gd name="connsiteX3" fmla="*/ 0 w 8464509"/>
              <a:gd name="connsiteY3" fmla="*/ 6877457 h 6877457"/>
              <a:gd name="connsiteX4" fmla="*/ 4040810 w 8464509"/>
              <a:gd name="connsiteY4" fmla="*/ 0 h 6877457"/>
              <a:gd name="connsiteX0" fmla="*/ 4040810 w 8464509"/>
              <a:gd name="connsiteY0" fmla="*/ 0 h 6877457"/>
              <a:gd name="connsiteX1" fmla="*/ 8464509 w 8464509"/>
              <a:gd name="connsiteY1" fmla="*/ 143986 h 6877457"/>
              <a:gd name="connsiteX2" fmla="*/ 8464509 w 8464509"/>
              <a:gd name="connsiteY2" fmla="*/ 6877457 h 6877457"/>
              <a:gd name="connsiteX3" fmla="*/ 0 w 8464509"/>
              <a:gd name="connsiteY3" fmla="*/ 6877457 h 6877457"/>
              <a:gd name="connsiteX4" fmla="*/ 4040810 w 8464509"/>
              <a:gd name="connsiteY4" fmla="*/ 0 h 6877457"/>
              <a:gd name="connsiteX0" fmla="*/ 4040810 w 8468658"/>
              <a:gd name="connsiteY0" fmla="*/ 0 h 6877457"/>
              <a:gd name="connsiteX1" fmla="*/ 8468658 w 8468658"/>
              <a:gd name="connsiteY1" fmla="*/ 12341 h 6877457"/>
              <a:gd name="connsiteX2" fmla="*/ 8464509 w 8468658"/>
              <a:gd name="connsiteY2" fmla="*/ 6877457 h 6877457"/>
              <a:gd name="connsiteX3" fmla="*/ 0 w 8468658"/>
              <a:gd name="connsiteY3" fmla="*/ 6877457 h 6877457"/>
              <a:gd name="connsiteX4" fmla="*/ 4040810 w 8468658"/>
              <a:gd name="connsiteY4" fmla="*/ 0 h 6877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8658" h="6877457">
                <a:moveTo>
                  <a:pt x="4040810" y="0"/>
                </a:moveTo>
                <a:lnTo>
                  <a:pt x="8468658" y="12341"/>
                </a:lnTo>
                <a:lnTo>
                  <a:pt x="8464509" y="6877457"/>
                </a:lnTo>
                <a:lnTo>
                  <a:pt x="0" y="6877457"/>
                </a:lnTo>
                <a:lnTo>
                  <a:pt x="4040810" y="0"/>
                </a:lnTo>
                <a:close/>
              </a:path>
            </a:pathLst>
          </a:custGeom>
          <a:solidFill>
            <a:srgbClr val="FFFFFF"/>
          </a:solidFill>
          <a:ln>
            <a:noFill/>
          </a:ln>
        </p:spPr>
      </p:pic>
    </p:spTree>
    <p:extLst>
      <p:ext uri="{BB962C8B-B14F-4D97-AF65-F5344CB8AC3E}">
        <p14:creationId xmlns:p14="http://schemas.microsoft.com/office/powerpoint/2010/main" val="156411090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9">
            <a:extLst>
              <a:ext uri="{FF2B5EF4-FFF2-40B4-BE49-F238E27FC236}">
                <a16:creationId xmlns:a16="http://schemas.microsoft.com/office/drawing/2014/main" id="{5613A2D6-52A2-8C4D-985E-CB4BEE6B29BD}"/>
              </a:ext>
            </a:extLst>
          </p:cNvPr>
          <p:cNvSpPr>
            <a:spLocks noGrp="1"/>
          </p:cNvSpPr>
          <p:nvPr>
            <p:ph idx="1"/>
          </p:nvPr>
        </p:nvSpPr>
        <p:spPr>
          <a:xfrm>
            <a:off x="4292218" y="1532656"/>
            <a:ext cx="6458639" cy="819928"/>
          </a:xfrm>
        </p:spPr>
        <p:txBody>
          <a:bodyPr rtlCol="0">
            <a:normAutofit/>
          </a:bodyPr>
          <a:lstStyle/>
          <a:p>
            <a:pPr algn="just"/>
            <a:r>
              <a:rPr lang="es-MX" dirty="0"/>
              <a:t>En todo el mundo, unos 50 millones de personas padecen epilepsia.</a:t>
            </a:r>
          </a:p>
        </p:txBody>
      </p:sp>
      <p:sp>
        <p:nvSpPr>
          <p:cNvPr id="14" name="Título 4">
            <a:extLst>
              <a:ext uri="{FF2B5EF4-FFF2-40B4-BE49-F238E27FC236}">
                <a16:creationId xmlns:a16="http://schemas.microsoft.com/office/drawing/2014/main" id="{78F5C515-E493-4634-B361-F57C4A8948AA}"/>
              </a:ext>
            </a:extLst>
          </p:cNvPr>
          <p:cNvSpPr>
            <a:spLocks noGrp="1"/>
          </p:cNvSpPr>
          <p:nvPr>
            <p:ph type="title"/>
          </p:nvPr>
        </p:nvSpPr>
        <p:spPr>
          <a:xfrm>
            <a:off x="4188258" y="763887"/>
            <a:ext cx="3815484" cy="630296"/>
          </a:xfrm>
        </p:spPr>
        <p:txBody>
          <a:bodyPr rtlCol="0">
            <a:noAutofit/>
          </a:bodyPr>
          <a:lstStyle/>
          <a:p>
            <a:pPr rtl="0"/>
            <a:r>
              <a:rPr lang="es-ES" dirty="0"/>
              <a:t>Problemática</a:t>
            </a:r>
          </a:p>
        </p:txBody>
      </p:sp>
      <p:sp>
        <p:nvSpPr>
          <p:cNvPr id="2" name="Rectángulo 1">
            <a:extLst>
              <a:ext uri="{FF2B5EF4-FFF2-40B4-BE49-F238E27FC236}">
                <a16:creationId xmlns:a16="http://schemas.microsoft.com/office/drawing/2014/main" id="{DE4ED569-996C-414A-9017-BE8BD94F3AE2}"/>
              </a:ext>
            </a:extLst>
          </p:cNvPr>
          <p:cNvSpPr/>
          <p:nvPr/>
        </p:nvSpPr>
        <p:spPr>
          <a:xfrm>
            <a:off x="4188258" y="2553684"/>
            <a:ext cx="6096000" cy="646331"/>
          </a:xfrm>
          <a:prstGeom prst="rect">
            <a:avLst/>
          </a:prstGeom>
        </p:spPr>
        <p:txBody>
          <a:bodyPr>
            <a:spAutoFit/>
          </a:bodyPr>
          <a:lstStyle/>
          <a:p>
            <a:pPr marL="285750" indent="-285750" algn="just">
              <a:buClr>
                <a:srgbClr val="C5AE76"/>
              </a:buClr>
              <a:buFont typeface="Arial" panose="020B0604020202020204" pitchFamily="34" charset="0"/>
              <a:buChar char="•"/>
            </a:pPr>
            <a:r>
              <a:rPr lang="es-MX" dirty="0"/>
              <a:t>Cerca del 80% de los pacientes viven en países de ingresos bajos y medios.</a:t>
            </a:r>
          </a:p>
        </p:txBody>
      </p:sp>
      <p:sp>
        <p:nvSpPr>
          <p:cNvPr id="3" name="Rectángulo 2">
            <a:extLst>
              <a:ext uri="{FF2B5EF4-FFF2-40B4-BE49-F238E27FC236}">
                <a16:creationId xmlns:a16="http://schemas.microsoft.com/office/drawing/2014/main" id="{D97592ED-A8C1-4840-BAF9-61F0114E94D6}"/>
              </a:ext>
            </a:extLst>
          </p:cNvPr>
          <p:cNvSpPr/>
          <p:nvPr/>
        </p:nvSpPr>
        <p:spPr>
          <a:xfrm>
            <a:off x="4188258" y="3512085"/>
            <a:ext cx="6096000" cy="923330"/>
          </a:xfrm>
          <a:prstGeom prst="rect">
            <a:avLst/>
          </a:prstGeom>
        </p:spPr>
        <p:txBody>
          <a:bodyPr>
            <a:spAutoFit/>
          </a:bodyPr>
          <a:lstStyle/>
          <a:p>
            <a:pPr marL="285750" indent="-285750" algn="just">
              <a:buClr>
                <a:srgbClr val="C5AE76"/>
              </a:buClr>
              <a:buFont typeface="Arial" panose="020B0604020202020204" pitchFamily="34" charset="0"/>
              <a:buChar char="•"/>
            </a:pPr>
            <a:r>
              <a:rPr lang="es-MX" dirty="0"/>
              <a:t>Se estima que el 70% de las personas con epilepsia podrían vivir sin convulsiones si se diagnosticaran y trataran adecuadamente.</a:t>
            </a:r>
            <a:endParaRPr lang="es-ES" dirty="0"/>
          </a:p>
        </p:txBody>
      </p:sp>
      <p:sp>
        <p:nvSpPr>
          <p:cNvPr id="4" name="Elipse 3">
            <a:extLst>
              <a:ext uri="{FF2B5EF4-FFF2-40B4-BE49-F238E27FC236}">
                <a16:creationId xmlns:a16="http://schemas.microsoft.com/office/drawing/2014/main" id="{4D4289CB-A5D9-4EA2-ABE0-385352997CA9}"/>
              </a:ext>
            </a:extLst>
          </p:cNvPr>
          <p:cNvSpPr/>
          <p:nvPr/>
        </p:nvSpPr>
        <p:spPr>
          <a:xfrm>
            <a:off x="11576116" y="6202837"/>
            <a:ext cx="254523" cy="2450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30728595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ítulo 27">
            <a:extLst>
              <a:ext uri="{FF2B5EF4-FFF2-40B4-BE49-F238E27FC236}">
                <a16:creationId xmlns:a16="http://schemas.microsoft.com/office/drawing/2014/main" id="{4988F789-C14D-C841-BDEB-8ACF77377239}"/>
              </a:ext>
            </a:extLst>
          </p:cNvPr>
          <p:cNvSpPr>
            <a:spLocks noGrp="1"/>
          </p:cNvSpPr>
          <p:nvPr>
            <p:ph type="title"/>
          </p:nvPr>
        </p:nvSpPr>
        <p:spPr>
          <a:xfrm>
            <a:off x="7372477" y="2412650"/>
            <a:ext cx="4352852" cy="2032699"/>
          </a:xfrm>
        </p:spPr>
        <p:txBody>
          <a:bodyPr rtlCol="0">
            <a:noAutofit/>
          </a:bodyPr>
          <a:lstStyle/>
          <a:p>
            <a:pPr rtl="0"/>
            <a:r>
              <a:rPr lang="es-ES" sz="7200" dirty="0">
                <a:solidFill>
                  <a:srgbClr val="C5AE76"/>
                </a:solidFill>
              </a:rPr>
              <a:t>Objetivo</a:t>
            </a:r>
            <a:br>
              <a:rPr lang="es-ES" sz="7200" dirty="0">
                <a:solidFill>
                  <a:srgbClr val="C5AE76"/>
                </a:solidFill>
              </a:rPr>
            </a:br>
            <a:r>
              <a:rPr lang="es-ES" sz="7200" dirty="0">
                <a:solidFill>
                  <a:srgbClr val="C5AE76"/>
                </a:solidFill>
              </a:rPr>
              <a:t>General</a:t>
            </a:r>
          </a:p>
        </p:txBody>
      </p:sp>
      <p:sp>
        <p:nvSpPr>
          <p:cNvPr id="6" name="Marcador de contenido 9">
            <a:extLst>
              <a:ext uri="{FF2B5EF4-FFF2-40B4-BE49-F238E27FC236}">
                <a16:creationId xmlns:a16="http://schemas.microsoft.com/office/drawing/2014/main" id="{C85A3148-7C82-433B-970E-CD0F1AA62AD4}"/>
              </a:ext>
            </a:extLst>
          </p:cNvPr>
          <p:cNvSpPr txBox="1">
            <a:spLocks/>
          </p:cNvSpPr>
          <p:nvPr/>
        </p:nvSpPr>
        <p:spPr>
          <a:xfrm>
            <a:off x="380946" y="1981199"/>
            <a:ext cx="5991279" cy="3676651"/>
          </a:xfrm>
          <a:prstGeom prst="rect">
            <a:avLst/>
          </a:prstGeom>
        </p:spPr>
        <p:txBody>
          <a:bodyPr rtlCol="0">
            <a:norm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s-MX" sz="2400" dirty="0"/>
              <a:t> Desarrollar y aplicar técnicas y algoritmos de aprendizaje de máquina a señales biomédicas de pacientes con epilepsia, con el fin de encontrar características y patrones relevantes de dicha enfermedad.</a:t>
            </a:r>
            <a:endParaRPr lang="es-ES" sz="2400" dirty="0"/>
          </a:p>
        </p:txBody>
      </p:sp>
    </p:spTree>
    <p:extLst>
      <p:ext uri="{BB962C8B-B14F-4D97-AF65-F5344CB8AC3E}">
        <p14:creationId xmlns:p14="http://schemas.microsoft.com/office/powerpoint/2010/main" val="28712321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9">
            <a:extLst>
              <a:ext uri="{FF2B5EF4-FFF2-40B4-BE49-F238E27FC236}">
                <a16:creationId xmlns:a16="http://schemas.microsoft.com/office/drawing/2014/main" id="{2BA57636-1C88-4736-9277-18028F77BFF5}"/>
              </a:ext>
            </a:extLst>
          </p:cNvPr>
          <p:cNvSpPr txBox="1">
            <a:spLocks/>
          </p:cNvSpPr>
          <p:nvPr/>
        </p:nvSpPr>
        <p:spPr>
          <a:xfrm>
            <a:off x="6410326" y="1193449"/>
            <a:ext cx="5257800" cy="4438650"/>
          </a:xfrm>
          <a:prstGeom prst="rect">
            <a:avLst/>
          </a:prstGeom>
        </p:spPr>
        <p:txBody>
          <a:bodyPr rtlCol="0">
            <a:normAutofit fontScale="92500" lnSpcReduction="20000"/>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s-MX" dirty="0"/>
              <a:t>Conocer y comprender características de las señales biomédicas en pacientes con epilepsia.</a:t>
            </a:r>
          </a:p>
          <a:p>
            <a:pPr algn="just">
              <a:buFont typeface="Arial" panose="020B0604020202020204" pitchFamily="34" charset="0"/>
              <a:buChar char="•"/>
            </a:pPr>
            <a:r>
              <a:rPr lang="es-MX" dirty="0"/>
              <a:t>Analizar técnicas existentes para el reconocimiento de patrones en señales biomédicas y seleccionar aquella(s) que faciliten la extracción de características relevantes para la identificación de episodios epilépticos.</a:t>
            </a:r>
          </a:p>
          <a:p>
            <a:pPr algn="just">
              <a:buFont typeface="Arial" panose="020B0604020202020204" pitchFamily="34" charset="0"/>
              <a:buChar char="•"/>
            </a:pPr>
            <a:r>
              <a:rPr lang="es-MX" dirty="0"/>
              <a:t>Aplicar las técnicas seleccionadas a señales biomédicas de pacientes con y sin epilepsia, y validar los resultados mediante asesoría médica y comparación con estudios similares.</a:t>
            </a:r>
          </a:p>
          <a:p>
            <a:pPr algn="just">
              <a:buFont typeface="Arial" panose="020B0604020202020204" pitchFamily="34" charset="0"/>
              <a:buChar char="•"/>
            </a:pPr>
            <a:r>
              <a:rPr lang="es-MX" dirty="0"/>
              <a:t>Diseñar e implementar una herramienta de software que permita procesar fácilmente las señales y aplicarles las técnicas de reconocimiento de patrones desarrolladas.</a:t>
            </a:r>
            <a:endParaRPr lang="es-ES" dirty="0"/>
          </a:p>
          <a:p>
            <a:pPr marL="0" indent="0" algn="just">
              <a:buNone/>
            </a:pPr>
            <a:endParaRPr lang="es-MX" dirty="0"/>
          </a:p>
        </p:txBody>
      </p:sp>
      <p:sp>
        <p:nvSpPr>
          <p:cNvPr id="8" name="Título 27">
            <a:extLst>
              <a:ext uri="{FF2B5EF4-FFF2-40B4-BE49-F238E27FC236}">
                <a16:creationId xmlns:a16="http://schemas.microsoft.com/office/drawing/2014/main" id="{A694AED3-8C9B-4DF7-99E5-D581D9C7E5EB}"/>
              </a:ext>
            </a:extLst>
          </p:cNvPr>
          <p:cNvSpPr txBox="1">
            <a:spLocks/>
          </p:cNvSpPr>
          <p:nvPr/>
        </p:nvSpPr>
        <p:spPr>
          <a:xfrm>
            <a:off x="523874" y="936274"/>
            <a:ext cx="3889053" cy="2204149"/>
          </a:xfrm>
          <a:prstGeom prst="rect">
            <a:avLst/>
          </a:prstGeom>
        </p:spPr>
        <p:txBody>
          <a:bodyPr vert="horz" lIns="91440" tIns="45720" rIns="91440" bIns="45720" rtlCol="0" anchor="ctr">
            <a:normAutofit fontScale="90000"/>
          </a:bodyPr>
          <a:lstStyle>
            <a:lvl1pPr algn="ctr" defTabSz="914400" rtl="0" eaLnBrk="1" latinLnBrk="0" hangingPunct="1">
              <a:lnSpc>
                <a:spcPct val="90000"/>
              </a:lnSpc>
              <a:spcBef>
                <a:spcPct val="0"/>
              </a:spcBef>
              <a:buNone/>
              <a:defRPr sz="4800" kern="1200" spc="-50" baseline="0">
                <a:solidFill>
                  <a:schemeClr val="bg1"/>
                </a:solidFill>
                <a:latin typeface="+mj-lt"/>
                <a:ea typeface="+mj-ea"/>
                <a:cs typeface="+mj-cs"/>
              </a:defRPr>
            </a:lvl1pPr>
          </a:lstStyle>
          <a:p>
            <a:r>
              <a:rPr lang="es-ES" sz="7200" dirty="0">
                <a:solidFill>
                  <a:srgbClr val="C5AE76"/>
                </a:solidFill>
              </a:rPr>
              <a:t>Objetivos</a:t>
            </a:r>
            <a:br>
              <a:rPr lang="es-ES" sz="7200" dirty="0">
                <a:solidFill>
                  <a:srgbClr val="C5AE76"/>
                </a:solidFill>
              </a:rPr>
            </a:br>
            <a:r>
              <a:rPr lang="es-ES" sz="7200" dirty="0">
                <a:solidFill>
                  <a:srgbClr val="C5AE76"/>
                </a:solidFill>
              </a:rPr>
              <a:t>Específicos</a:t>
            </a:r>
          </a:p>
        </p:txBody>
      </p:sp>
      <p:sp>
        <p:nvSpPr>
          <p:cNvPr id="5" name="Elipse 4">
            <a:extLst>
              <a:ext uri="{FF2B5EF4-FFF2-40B4-BE49-F238E27FC236}">
                <a16:creationId xmlns:a16="http://schemas.microsoft.com/office/drawing/2014/main" id="{6A9A69A6-2A0D-45AC-AF7B-4166AE5AA829}"/>
              </a:ext>
            </a:extLst>
          </p:cNvPr>
          <p:cNvSpPr/>
          <p:nvPr/>
        </p:nvSpPr>
        <p:spPr>
          <a:xfrm>
            <a:off x="11576116" y="6202837"/>
            <a:ext cx="254523" cy="2450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131504061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id="{99C57B54-E0DC-4041-B0A0-FF3E703684A9}"/>
              </a:ext>
            </a:extLst>
          </p:cNvPr>
          <p:cNvSpPr>
            <a:spLocks noGrp="1"/>
          </p:cNvSpPr>
          <p:nvPr>
            <p:ph type="title"/>
          </p:nvPr>
        </p:nvSpPr>
        <p:spPr>
          <a:xfrm>
            <a:off x="715836" y="662904"/>
            <a:ext cx="10453687" cy="911225"/>
          </a:xfrm>
        </p:spPr>
        <p:txBody>
          <a:bodyPr rtlCol="0">
            <a:noAutofit/>
          </a:bodyPr>
          <a:lstStyle/>
          <a:p>
            <a:pPr rtl="0"/>
            <a:r>
              <a:rPr lang="es-ES" sz="5400" dirty="0">
                <a:solidFill>
                  <a:srgbClr val="C5AE76"/>
                </a:solidFill>
              </a:rPr>
              <a:t>Introducción</a:t>
            </a:r>
          </a:p>
        </p:txBody>
      </p:sp>
      <p:sp>
        <p:nvSpPr>
          <p:cNvPr id="9" name="Marcador de contenido 9">
            <a:extLst>
              <a:ext uri="{FF2B5EF4-FFF2-40B4-BE49-F238E27FC236}">
                <a16:creationId xmlns:a16="http://schemas.microsoft.com/office/drawing/2014/main" id="{B4E1E218-13AA-4FD6-9298-E6DB72E17865}"/>
              </a:ext>
            </a:extLst>
          </p:cNvPr>
          <p:cNvSpPr txBox="1">
            <a:spLocks/>
          </p:cNvSpPr>
          <p:nvPr/>
        </p:nvSpPr>
        <p:spPr>
          <a:xfrm>
            <a:off x="8092284" y="3977179"/>
            <a:ext cx="2735167" cy="413603"/>
          </a:xfrm>
          <a:prstGeom prst="rect">
            <a:avLst/>
          </a:prstGeom>
        </p:spPr>
        <p:txBody>
          <a:bodyPr rtlCol="0">
            <a:norm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1000" dirty="0">
                <a:solidFill>
                  <a:schemeClr val="tx1"/>
                </a:solidFill>
              </a:rPr>
              <a:t>FIG 2: ONDAS RÍTMICAS CEREBRALES.</a:t>
            </a:r>
          </a:p>
        </p:txBody>
      </p:sp>
      <p:pic>
        <p:nvPicPr>
          <p:cNvPr id="10" name="Picture 6" descr="10–20 system (EEG) - Wikipedia">
            <a:extLst>
              <a:ext uri="{FF2B5EF4-FFF2-40B4-BE49-F238E27FC236}">
                <a16:creationId xmlns:a16="http://schemas.microsoft.com/office/drawing/2014/main" id="{0B3F8430-7DBA-4E4E-970A-49D115DF5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442" y="1944117"/>
            <a:ext cx="2355195" cy="210789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a 17">
            <a:extLst>
              <a:ext uri="{FF2B5EF4-FFF2-40B4-BE49-F238E27FC236}">
                <a16:creationId xmlns:a16="http://schemas.microsoft.com/office/drawing/2014/main" id="{1659BFDB-C9B5-400E-829C-5E00944CEB73}"/>
              </a:ext>
            </a:extLst>
          </p:cNvPr>
          <p:cNvGraphicFramePr>
            <a:graphicFrameLocks noGrp="1"/>
          </p:cNvGraphicFramePr>
          <p:nvPr>
            <p:extLst>
              <p:ext uri="{D42A27DB-BD31-4B8C-83A1-F6EECF244321}">
                <p14:modId xmlns:p14="http://schemas.microsoft.com/office/powerpoint/2010/main" val="1399719586"/>
              </p:ext>
            </p:extLst>
          </p:nvPr>
        </p:nvGraphicFramePr>
        <p:xfrm>
          <a:off x="7085793" y="2068498"/>
          <a:ext cx="4083730" cy="1896005"/>
        </p:xfrm>
        <a:graphic>
          <a:graphicData uri="http://schemas.openxmlformats.org/drawingml/2006/table">
            <a:tbl>
              <a:tblPr firstRow="1" bandRow="1">
                <a:tableStyleId>{2D5ABB26-0587-4C30-8999-92F81FD0307C}</a:tableStyleId>
              </a:tblPr>
              <a:tblGrid>
                <a:gridCol w="854733">
                  <a:extLst>
                    <a:ext uri="{9D8B030D-6E8A-4147-A177-3AD203B41FA5}">
                      <a16:colId xmlns:a16="http://schemas.microsoft.com/office/drawing/2014/main" val="969116730"/>
                    </a:ext>
                  </a:extLst>
                </a:gridCol>
                <a:gridCol w="1007968">
                  <a:extLst>
                    <a:ext uri="{9D8B030D-6E8A-4147-A177-3AD203B41FA5}">
                      <a16:colId xmlns:a16="http://schemas.microsoft.com/office/drawing/2014/main" val="3706697558"/>
                    </a:ext>
                  </a:extLst>
                </a:gridCol>
                <a:gridCol w="2221029">
                  <a:extLst>
                    <a:ext uri="{9D8B030D-6E8A-4147-A177-3AD203B41FA5}">
                      <a16:colId xmlns:a16="http://schemas.microsoft.com/office/drawing/2014/main" val="3691604302"/>
                    </a:ext>
                  </a:extLst>
                </a:gridCol>
              </a:tblGrid>
              <a:tr h="379201">
                <a:tc>
                  <a:txBody>
                    <a:bodyPr/>
                    <a:lstStyle/>
                    <a:p>
                      <a:pPr algn="ctr"/>
                      <a:r>
                        <a:rPr lang="en-US" sz="1400" dirty="0"/>
                        <a:t>Gamma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30 – 60 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Alta </a:t>
                      </a:r>
                      <a:r>
                        <a:rPr lang="es-GT" sz="1400" noProof="0" dirty="0"/>
                        <a:t>concentración</a:t>
                      </a:r>
                      <a:r>
                        <a:rPr lang="en-US" sz="1400" dirty="0"/>
                        <a:t>/ Estrés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5476198"/>
                  </a:ext>
                </a:extLst>
              </a:tr>
              <a:tr h="379201">
                <a:tc>
                  <a:txBody>
                    <a:bodyPr/>
                    <a:lstStyle/>
                    <a:p>
                      <a:pPr algn="ctr"/>
                      <a:r>
                        <a:rPr lang="en-US" sz="1400" dirty="0"/>
                        <a:t>Beta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14 – 30 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GT" sz="1400" noProof="0" dirty="0"/>
                        <a:t>Despierto</a:t>
                      </a:r>
                      <a:r>
                        <a:rPr lang="en-US" sz="1400" dirty="0"/>
                        <a:t> / </a:t>
                      </a:r>
                      <a:r>
                        <a:rPr lang="es-GT" sz="1400" noProof="0" dirty="0"/>
                        <a:t>Mente alerta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072910"/>
                  </a:ext>
                </a:extLst>
              </a:tr>
              <a:tr h="379201">
                <a:tc>
                  <a:txBody>
                    <a:bodyPr/>
                    <a:lstStyle/>
                    <a:p>
                      <a:pPr algn="ctr"/>
                      <a:r>
                        <a:rPr lang="en-US" sz="1400" dirty="0"/>
                        <a:t>Alfa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 8 – 14 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s-GT" sz="1400" noProof="0" dirty="0"/>
                        <a:t>Despierto</a:t>
                      </a:r>
                      <a:r>
                        <a:rPr lang="en-US" sz="1400" dirty="0"/>
                        <a:t> / </a:t>
                      </a:r>
                      <a:r>
                        <a:rPr lang="es-GT" sz="1400" noProof="0" dirty="0"/>
                        <a:t>Relajado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8021249"/>
                  </a:ext>
                </a:extLst>
              </a:tr>
              <a:tr h="379201">
                <a:tc>
                  <a:txBody>
                    <a:bodyPr/>
                    <a:lstStyle/>
                    <a:p>
                      <a:pPr algn="ctr"/>
                      <a:r>
                        <a:rPr lang="en-US" sz="1400" dirty="0"/>
                        <a:t>Theta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 4 – 8   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Sueño ligero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2517092"/>
                  </a:ext>
                </a:extLst>
              </a:tr>
              <a:tr h="379201">
                <a:tc>
                  <a:txBody>
                    <a:bodyPr/>
                    <a:lstStyle/>
                    <a:p>
                      <a:pPr algn="ctr"/>
                      <a:r>
                        <a:rPr lang="en-US" sz="1400" dirty="0"/>
                        <a:t>Delta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 0 – 4   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Sueño profundo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5966150"/>
                  </a:ext>
                </a:extLst>
              </a:tr>
            </a:tbl>
          </a:graphicData>
        </a:graphic>
      </p:graphicFrame>
      <p:sp>
        <p:nvSpPr>
          <p:cNvPr id="12" name="Marcador de contenido 9">
            <a:extLst>
              <a:ext uri="{FF2B5EF4-FFF2-40B4-BE49-F238E27FC236}">
                <a16:creationId xmlns:a16="http://schemas.microsoft.com/office/drawing/2014/main" id="{2D6BB334-1E55-4A5B-8831-6CC4818E688F}"/>
              </a:ext>
            </a:extLst>
          </p:cNvPr>
          <p:cNvSpPr txBox="1">
            <a:spLocks/>
          </p:cNvSpPr>
          <p:nvPr/>
        </p:nvSpPr>
        <p:spPr>
          <a:xfrm>
            <a:off x="991687" y="4052016"/>
            <a:ext cx="2904548"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1000" dirty="0">
                <a:solidFill>
                  <a:schemeClr val="tx1"/>
                </a:solidFill>
              </a:rPr>
              <a:t>FIG 1: SISTEMA INTERNACIONAL 10/20 [5].</a:t>
            </a:r>
          </a:p>
        </p:txBody>
      </p:sp>
      <p:sp>
        <p:nvSpPr>
          <p:cNvPr id="27" name="Marcador de contenido 9">
            <a:extLst>
              <a:ext uri="{FF2B5EF4-FFF2-40B4-BE49-F238E27FC236}">
                <a16:creationId xmlns:a16="http://schemas.microsoft.com/office/drawing/2014/main" id="{3ACB25E9-468E-4910-B506-6FB8AE6BFD99}"/>
              </a:ext>
            </a:extLst>
          </p:cNvPr>
          <p:cNvSpPr txBox="1">
            <a:spLocks/>
          </p:cNvSpPr>
          <p:nvPr/>
        </p:nvSpPr>
        <p:spPr>
          <a:xfrm>
            <a:off x="972668" y="2301875"/>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p:txBody>
      </p:sp>
      <p:sp>
        <p:nvSpPr>
          <p:cNvPr id="20" name="Marcador de contenido 9">
            <a:extLst>
              <a:ext uri="{FF2B5EF4-FFF2-40B4-BE49-F238E27FC236}">
                <a16:creationId xmlns:a16="http://schemas.microsoft.com/office/drawing/2014/main" id="{44239489-C5BC-4A73-BD1B-CFDE76F58C55}"/>
              </a:ext>
            </a:extLst>
          </p:cNvPr>
          <p:cNvSpPr txBox="1">
            <a:spLocks/>
          </p:cNvSpPr>
          <p:nvPr/>
        </p:nvSpPr>
        <p:spPr>
          <a:xfrm>
            <a:off x="715836" y="1423976"/>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3000" dirty="0">
                <a:solidFill>
                  <a:srgbClr val="C5AE76"/>
                </a:solidFill>
              </a:rPr>
              <a:t>Electroencefalograma (EEG)</a:t>
            </a:r>
          </a:p>
          <a:p>
            <a:pPr marL="0" indent="0" algn="just">
              <a:buNone/>
            </a:pPr>
            <a:endParaRPr lang="es-ES" sz="3000" dirty="0">
              <a:solidFill>
                <a:srgbClr val="C5AE76"/>
              </a:solidFill>
            </a:endParaRPr>
          </a:p>
        </p:txBody>
      </p:sp>
      <p:sp>
        <p:nvSpPr>
          <p:cNvPr id="21" name="Marcador de contenido 9">
            <a:extLst>
              <a:ext uri="{FF2B5EF4-FFF2-40B4-BE49-F238E27FC236}">
                <a16:creationId xmlns:a16="http://schemas.microsoft.com/office/drawing/2014/main" id="{45F65877-8D2D-409B-93E9-EB998B14AB89}"/>
              </a:ext>
            </a:extLst>
          </p:cNvPr>
          <p:cNvSpPr>
            <a:spLocks noGrp="1"/>
          </p:cNvSpPr>
          <p:nvPr>
            <p:ph idx="1"/>
          </p:nvPr>
        </p:nvSpPr>
        <p:spPr>
          <a:xfrm>
            <a:off x="3779625" y="2281934"/>
            <a:ext cx="2516955" cy="1682569"/>
          </a:xfrm>
        </p:spPr>
        <p:txBody>
          <a:bodyPr rtlCol="0">
            <a:normAutofit/>
          </a:bodyPr>
          <a:lstStyle/>
          <a:p>
            <a:pPr algn="just">
              <a:buFont typeface="Wingdings" panose="05000000000000000000" pitchFamily="2" charset="2"/>
              <a:buChar char="à"/>
            </a:pPr>
            <a:r>
              <a:rPr lang="es-MX" sz="2400" dirty="0">
                <a:sym typeface="Wingdings" panose="05000000000000000000" pitchFamily="2" charset="2"/>
              </a:rPr>
              <a:t>Fase </a:t>
            </a:r>
            <a:r>
              <a:rPr lang="es-MX" sz="2400" dirty="0" err="1">
                <a:sym typeface="Wingdings" panose="05000000000000000000" pitchFamily="2" charset="2"/>
              </a:rPr>
              <a:t>preictal</a:t>
            </a:r>
            <a:endParaRPr lang="es-MX" sz="2400" dirty="0">
              <a:sym typeface="Wingdings" panose="05000000000000000000" pitchFamily="2" charset="2"/>
            </a:endParaRPr>
          </a:p>
          <a:p>
            <a:pPr algn="just">
              <a:buFont typeface="Wingdings" panose="05000000000000000000" pitchFamily="2" charset="2"/>
              <a:buChar char="à"/>
            </a:pPr>
            <a:r>
              <a:rPr lang="es-MX" sz="2400" dirty="0"/>
              <a:t>Fase ictal</a:t>
            </a:r>
          </a:p>
          <a:p>
            <a:pPr algn="just">
              <a:buFont typeface="Wingdings" panose="05000000000000000000" pitchFamily="2" charset="2"/>
              <a:buChar char="à"/>
            </a:pPr>
            <a:r>
              <a:rPr lang="es-MX" sz="2400" dirty="0"/>
              <a:t>Fase interictal</a:t>
            </a:r>
          </a:p>
        </p:txBody>
      </p:sp>
    </p:spTree>
    <p:extLst>
      <p:ext uri="{BB962C8B-B14F-4D97-AF65-F5344CB8AC3E}">
        <p14:creationId xmlns:p14="http://schemas.microsoft.com/office/powerpoint/2010/main" val="143460740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2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id="{99C57B54-E0DC-4041-B0A0-FF3E703684A9}"/>
              </a:ext>
            </a:extLst>
          </p:cNvPr>
          <p:cNvSpPr>
            <a:spLocks noGrp="1"/>
          </p:cNvSpPr>
          <p:nvPr>
            <p:ph type="title"/>
          </p:nvPr>
        </p:nvSpPr>
        <p:spPr>
          <a:xfrm>
            <a:off x="715837" y="662904"/>
            <a:ext cx="4814952" cy="911225"/>
          </a:xfrm>
        </p:spPr>
        <p:txBody>
          <a:bodyPr rtlCol="0">
            <a:noAutofit/>
          </a:bodyPr>
          <a:lstStyle/>
          <a:p>
            <a:pPr rtl="0"/>
            <a:r>
              <a:rPr lang="es-ES" sz="5400" dirty="0">
                <a:solidFill>
                  <a:srgbClr val="C5AE76"/>
                </a:solidFill>
              </a:rPr>
              <a:t>Introducción</a:t>
            </a:r>
          </a:p>
        </p:txBody>
      </p:sp>
      <p:sp>
        <p:nvSpPr>
          <p:cNvPr id="13" name="Marcador de contenido 9">
            <a:extLst>
              <a:ext uri="{FF2B5EF4-FFF2-40B4-BE49-F238E27FC236}">
                <a16:creationId xmlns:a16="http://schemas.microsoft.com/office/drawing/2014/main" id="{163B2333-F2CA-483F-9F71-87CD9EB9C53D}"/>
              </a:ext>
            </a:extLst>
          </p:cNvPr>
          <p:cNvSpPr txBox="1">
            <a:spLocks/>
          </p:cNvSpPr>
          <p:nvPr/>
        </p:nvSpPr>
        <p:spPr>
          <a:xfrm>
            <a:off x="606371" y="1393459"/>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3000" dirty="0">
                <a:solidFill>
                  <a:srgbClr val="C5AE76"/>
                </a:solidFill>
              </a:rPr>
              <a:t>Características en Señales EEG</a:t>
            </a:r>
          </a:p>
          <a:p>
            <a:pPr marL="0" indent="0" algn="just">
              <a:buNone/>
            </a:pPr>
            <a:endParaRPr lang="es-ES" sz="3000" dirty="0">
              <a:solidFill>
                <a:srgbClr val="C5AE76"/>
              </a:solidFill>
            </a:endParaRPr>
          </a:p>
        </p:txBody>
      </p:sp>
      <p:sp>
        <p:nvSpPr>
          <p:cNvPr id="14" name="Marcador de contenido 9">
            <a:extLst>
              <a:ext uri="{FF2B5EF4-FFF2-40B4-BE49-F238E27FC236}">
                <a16:creationId xmlns:a16="http://schemas.microsoft.com/office/drawing/2014/main" id="{FD6587E5-6A8A-4444-82C9-1A3C8C3C6C29}"/>
              </a:ext>
            </a:extLst>
          </p:cNvPr>
          <p:cNvSpPr txBox="1">
            <a:spLocks/>
          </p:cNvSpPr>
          <p:nvPr/>
        </p:nvSpPr>
        <p:spPr>
          <a:xfrm>
            <a:off x="6722062" y="1550277"/>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à"/>
            </a:pPr>
            <a:r>
              <a:rPr lang="es-ES" sz="1800" dirty="0">
                <a:solidFill>
                  <a:schemeClr val="tx1"/>
                </a:solidFill>
                <a:sym typeface="Wingdings" panose="05000000000000000000" pitchFamily="2" charset="2"/>
              </a:rPr>
              <a:t>Cruces por cero</a:t>
            </a: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p:txBody>
      </p:sp>
      <p:pic>
        <p:nvPicPr>
          <p:cNvPr id="17" name="Imagen 16">
            <a:extLst>
              <a:ext uri="{FF2B5EF4-FFF2-40B4-BE49-F238E27FC236}">
                <a16:creationId xmlns:a16="http://schemas.microsoft.com/office/drawing/2014/main" id="{B7AAE840-F054-441D-BBD2-0DDFEBAC13C0}"/>
              </a:ext>
            </a:extLst>
          </p:cNvPr>
          <p:cNvPicPr>
            <a:picLocks noChangeAspect="1"/>
          </p:cNvPicPr>
          <p:nvPr/>
        </p:nvPicPr>
        <p:blipFill>
          <a:blip r:embed="rId2"/>
          <a:stretch>
            <a:fillRect/>
          </a:stretch>
        </p:blipFill>
        <p:spPr>
          <a:xfrm>
            <a:off x="832452" y="4956672"/>
            <a:ext cx="1123966" cy="759042"/>
          </a:xfrm>
          <a:prstGeom prst="rect">
            <a:avLst/>
          </a:prstGeom>
        </p:spPr>
      </p:pic>
      <p:pic>
        <p:nvPicPr>
          <p:cNvPr id="22" name="Imagen 21">
            <a:extLst>
              <a:ext uri="{FF2B5EF4-FFF2-40B4-BE49-F238E27FC236}">
                <a16:creationId xmlns:a16="http://schemas.microsoft.com/office/drawing/2014/main" id="{7CDC2323-5B16-49DE-9AD8-9958450FEA0F}"/>
              </a:ext>
            </a:extLst>
          </p:cNvPr>
          <p:cNvPicPr>
            <a:picLocks noChangeAspect="1"/>
          </p:cNvPicPr>
          <p:nvPr/>
        </p:nvPicPr>
        <p:blipFill rotWithShape="1">
          <a:blip r:embed="rId3"/>
          <a:srcRect l="961" t="25891" r="18535" b="14243"/>
          <a:stretch/>
        </p:blipFill>
        <p:spPr>
          <a:xfrm>
            <a:off x="6793017" y="1963880"/>
            <a:ext cx="3018699" cy="1623586"/>
          </a:xfrm>
          <a:prstGeom prst="rect">
            <a:avLst/>
          </a:prstGeom>
        </p:spPr>
      </p:pic>
      <p:sp>
        <p:nvSpPr>
          <p:cNvPr id="23" name="Marcador de contenido 9">
            <a:extLst>
              <a:ext uri="{FF2B5EF4-FFF2-40B4-BE49-F238E27FC236}">
                <a16:creationId xmlns:a16="http://schemas.microsoft.com/office/drawing/2014/main" id="{A41B8AC5-DE7B-4101-9140-8575B6C1036C}"/>
              </a:ext>
            </a:extLst>
          </p:cNvPr>
          <p:cNvSpPr txBox="1">
            <a:spLocks/>
          </p:cNvSpPr>
          <p:nvPr/>
        </p:nvSpPr>
        <p:spPr>
          <a:xfrm>
            <a:off x="6722062" y="4543069"/>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à"/>
            </a:pPr>
            <a:r>
              <a:rPr lang="es-ES" sz="1800" dirty="0">
                <a:solidFill>
                  <a:schemeClr val="tx1"/>
                </a:solidFill>
                <a:sym typeface="Wingdings" panose="05000000000000000000" pitchFamily="2" charset="2"/>
              </a:rPr>
              <a:t>Desviación estándar</a:t>
            </a: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p:txBody>
      </p:sp>
      <mc:AlternateContent xmlns:mc="http://schemas.openxmlformats.org/markup-compatibility/2006">
        <mc:Choice xmlns:a14="http://schemas.microsoft.com/office/drawing/2010/main" Requires="a14">
          <p:sp>
            <p:nvSpPr>
              <p:cNvPr id="24" name="Marcador de contenido 9">
                <a:extLst>
                  <a:ext uri="{FF2B5EF4-FFF2-40B4-BE49-F238E27FC236}">
                    <a16:creationId xmlns:a16="http://schemas.microsoft.com/office/drawing/2014/main" id="{7173B313-7BFC-4461-919C-95433EF79BDE}"/>
                  </a:ext>
                </a:extLst>
              </p:cNvPr>
              <p:cNvSpPr txBox="1">
                <a:spLocks/>
              </p:cNvSpPr>
              <p:nvPr/>
            </p:nvSpPr>
            <p:spPr>
              <a:xfrm>
                <a:off x="1820143" y="5083321"/>
                <a:ext cx="1993955"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14:m>
                  <m:oMathPara xmlns:m="http://schemas.openxmlformats.org/officeDocument/2006/math">
                    <m:oMathParaPr>
                      <m:jc m:val="centerGroup"/>
                    </m:oMathParaPr>
                    <m:oMath xmlns:m="http://schemas.openxmlformats.org/officeDocument/2006/math">
                      <m:sSub>
                        <m:sSubPr>
                          <m:ctrlPr>
                            <a:rPr lang="es-ES" sz="1400" i="1" smtClean="0">
                              <a:solidFill>
                                <a:schemeClr val="tx1"/>
                              </a:solidFill>
                              <a:latin typeface="Cambria Math" panose="02040503050406030204" pitchFamily="18" charset="0"/>
                              <a:sym typeface="Wingdings" panose="05000000000000000000" pitchFamily="2" charset="2"/>
                            </a:rPr>
                          </m:ctrlPr>
                        </m:sSubPr>
                        <m:e>
                          <m:r>
                            <a:rPr lang="en-US" sz="1400" b="0" i="1" smtClean="0">
                              <a:solidFill>
                                <a:schemeClr val="tx1"/>
                              </a:solidFill>
                              <a:latin typeface="Cambria Math" panose="02040503050406030204" pitchFamily="18" charset="0"/>
                              <a:sym typeface="Wingdings" panose="05000000000000000000" pitchFamily="2" charset="2"/>
                            </a:rPr>
                            <m:t>𝑥</m:t>
                          </m:r>
                        </m:e>
                        <m:sub>
                          <m:r>
                            <a:rPr lang="en-US" sz="1400" b="0" i="1" smtClean="0">
                              <a:solidFill>
                                <a:schemeClr val="tx1"/>
                              </a:solidFill>
                              <a:latin typeface="Cambria Math" panose="02040503050406030204" pitchFamily="18" charset="0"/>
                              <a:sym typeface="Wingdings" panose="05000000000000000000" pitchFamily="2" charset="2"/>
                            </a:rPr>
                            <m:t>𝑛</m:t>
                          </m:r>
                        </m:sub>
                      </m:sSub>
                      <m:r>
                        <a:rPr lang="en-US" sz="1400" b="0" i="1" smtClean="0">
                          <a:solidFill>
                            <a:schemeClr val="tx1"/>
                          </a:solidFill>
                          <a:latin typeface="Cambria Math" panose="02040503050406030204" pitchFamily="18" charset="0"/>
                          <a:sym typeface="Wingdings" panose="05000000000000000000" pitchFamily="2" charset="2"/>
                        </a:rPr>
                        <m:t>:</m:t>
                      </m:r>
                      <m:r>
                        <a:rPr lang="en-US" sz="1400" b="0" i="1" smtClean="0">
                          <a:solidFill>
                            <a:schemeClr val="tx1"/>
                          </a:solidFill>
                          <a:latin typeface="Cambria Math" panose="02040503050406030204" pitchFamily="18" charset="0"/>
                          <a:sym typeface="Wingdings" panose="05000000000000000000" pitchFamily="2" charset="2"/>
                        </a:rPr>
                        <m:t>𝑠𝑒</m:t>
                      </m:r>
                      <m:r>
                        <a:rPr lang="en-US" sz="1400" b="0" i="1" smtClean="0">
                          <a:solidFill>
                            <a:schemeClr val="tx1"/>
                          </a:solidFill>
                          <a:latin typeface="Cambria Math" panose="02040503050406030204" pitchFamily="18" charset="0"/>
                          <a:sym typeface="Wingdings" panose="05000000000000000000" pitchFamily="2" charset="2"/>
                        </a:rPr>
                        <m:t>ñ</m:t>
                      </m:r>
                      <m:r>
                        <a:rPr lang="en-US" sz="1400" b="0" i="1" smtClean="0">
                          <a:solidFill>
                            <a:schemeClr val="tx1"/>
                          </a:solidFill>
                          <a:latin typeface="Cambria Math" panose="02040503050406030204" pitchFamily="18" charset="0"/>
                          <a:sym typeface="Wingdings" panose="05000000000000000000" pitchFamily="2" charset="2"/>
                        </a:rPr>
                        <m:t>𝑎𝑙</m:t>
                      </m:r>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𝐸𝐸𝐺</m:t>
                      </m:r>
                    </m:oMath>
                    <m:oMath xmlns:m="http://schemas.openxmlformats.org/officeDocument/2006/math">
                      <m:r>
                        <a:rPr lang="en-US" sz="1400" b="0" i="1" smtClean="0">
                          <a:solidFill>
                            <a:schemeClr val="tx1"/>
                          </a:solidFill>
                          <a:latin typeface="Cambria Math" panose="02040503050406030204" pitchFamily="18" charset="0"/>
                          <a:sym typeface="Wingdings" panose="05000000000000000000" pitchFamily="2" charset="2"/>
                        </a:rPr>
                        <m:t>𝑁</m:t>
                      </m:r>
                      <m:r>
                        <a:rPr lang="en-US" sz="1400" b="0" i="1" smtClean="0">
                          <a:solidFill>
                            <a:schemeClr val="tx1"/>
                          </a:solidFill>
                          <a:latin typeface="Cambria Math" panose="02040503050406030204" pitchFamily="18" charset="0"/>
                          <a:sym typeface="Wingdings" panose="05000000000000000000" pitchFamily="2" charset="2"/>
                        </a:rPr>
                        <m:t>:</m:t>
                      </m:r>
                      <m:r>
                        <a:rPr lang="en-US" sz="1400" b="0" i="1" smtClean="0">
                          <a:solidFill>
                            <a:schemeClr val="tx1"/>
                          </a:solidFill>
                          <a:latin typeface="Cambria Math" panose="02040503050406030204" pitchFamily="18" charset="0"/>
                          <a:sym typeface="Wingdings" panose="05000000000000000000" pitchFamily="2" charset="2"/>
                        </a:rPr>
                        <m:t>𝑛</m:t>
                      </m:r>
                      <m:r>
                        <a:rPr lang="en-US" sz="1400" b="0" i="1" smtClean="0">
                          <a:solidFill>
                            <a:schemeClr val="tx1"/>
                          </a:solidFill>
                          <a:latin typeface="Cambria Math" panose="02040503050406030204" pitchFamily="18" charset="0"/>
                          <a:sym typeface="Wingdings" panose="05000000000000000000" pitchFamily="2" charset="2"/>
                        </a:rPr>
                        <m:t>ú</m:t>
                      </m:r>
                      <m:r>
                        <a:rPr lang="en-US" sz="1400" b="0" i="1" smtClean="0">
                          <a:solidFill>
                            <a:schemeClr val="tx1"/>
                          </a:solidFill>
                          <a:latin typeface="Cambria Math" panose="02040503050406030204" pitchFamily="18" charset="0"/>
                          <a:sym typeface="Wingdings" panose="05000000000000000000" pitchFamily="2" charset="2"/>
                        </a:rPr>
                        <m:t>𝑚𝑒𝑟𝑜</m:t>
                      </m:r>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𝑑𝑒</m:t>
                      </m:r>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𝑚𝑢𝑒𝑠𝑡𝑟𝑎𝑠</m:t>
                      </m:r>
                    </m:oMath>
                  </m:oMathPara>
                </a14:m>
                <a:endParaRPr lang="es-ES" sz="1400" dirty="0">
                  <a:solidFill>
                    <a:schemeClr val="tx1"/>
                  </a:solidFill>
                  <a:sym typeface="Wingdings" panose="05000000000000000000" pitchFamily="2" charset="2"/>
                </a:endParaRPr>
              </a:p>
              <a:p>
                <a:pPr marL="0" indent="0" algn="just">
                  <a:buNone/>
                </a:pPr>
                <a:endParaRPr lang="es-ES" sz="1400" dirty="0">
                  <a:solidFill>
                    <a:schemeClr val="tx1"/>
                  </a:solidFill>
                  <a:sym typeface="Wingdings" panose="05000000000000000000" pitchFamily="2" charset="2"/>
                </a:endParaRPr>
              </a:p>
              <a:p>
                <a:pPr marL="0" indent="0" algn="just">
                  <a:buNone/>
                </a:pPr>
                <a:endParaRPr lang="es-ES" sz="1400" dirty="0">
                  <a:solidFill>
                    <a:schemeClr val="tx1"/>
                  </a:solidFill>
                  <a:sym typeface="Wingdings" panose="05000000000000000000" pitchFamily="2" charset="2"/>
                </a:endParaRPr>
              </a:p>
            </p:txBody>
          </p:sp>
        </mc:Choice>
        <mc:Fallback>
          <p:sp>
            <p:nvSpPr>
              <p:cNvPr id="24" name="Marcador de contenido 9">
                <a:extLst>
                  <a:ext uri="{FF2B5EF4-FFF2-40B4-BE49-F238E27FC236}">
                    <a16:creationId xmlns:a16="http://schemas.microsoft.com/office/drawing/2014/main" id="{7173B313-7BFC-4461-919C-95433EF79BDE}"/>
                  </a:ext>
                </a:extLst>
              </p:cNvPr>
              <p:cNvSpPr txBox="1">
                <a:spLocks noRot="1" noChangeAspect="1" noMove="1" noResize="1" noEditPoints="1" noAdjustHandles="1" noChangeArrowheads="1" noChangeShapeType="1" noTextEdit="1"/>
              </p:cNvSpPr>
              <p:nvPr/>
            </p:nvSpPr>
            <p:spPr>
              <a:xfrm>
                <a:off x="1820143" y="5083321"/>
                <a:ext cx="1993955" cy="413603"/>
              </a:xfrm>
              <a:prstGeom prst="rect">
                <a:avLst/>
              </a:prstGeom>
              <a:blipFill>
                <a:blip r:embed="rId4"/>
                <a:stretch>
                  <a:fillRect r="-612" b="-17647"/>
                </a:stretch>
              </a:blipFill>
            </p:spPr>
            <p:txBody>
              <a:bodyPr/>
              <a:lstStyle/>
              <a:p>
                <a:r>
                  <a:rPr lang="es-GT">
                    <a:noFill/>
                  </a:rPr>
                  <a:t> </a:t>
                </a:r>
              </a:p>
            </p:txBody>
          </p:sp>
        </mc:Fallback>
      </mc:AlternateContent>
      <p:pic>
        <p:nvPicPr>
          <p:cNvPr id="25" name="Imagen 24">
            <a:extLst>
              <a:ext uri="{FF2B5EF4-FFF2-40B4-BE49-F238E27FC236}">
                <a16:creationId xmlns:a16="http://schemas.microsoft.com/office/drawing/2014/main" id="{C7FDAD37-CD24-4D59-A969-7A0F2874654F}"/>
              </a:ext>
            </a:extLst>
          </p:cNvPr>
          <p:cNvPicPr>
            <a:picLocks noChangeAspect="1"/>
          </p:cNvPicPr>
          <p:nvPr/>
        </p:nvPicPr>
        <p:blipFill>
          <a:blip r:embed="rId5"/>
          <a:stretch>
            <a:fillRect/>
          </a:stretch>
        </p:blipFill>
        <p:spPr>
          <a:xfrm>
            <a:off x="6722062" y="4816091"/>
            <a:ext cx="1734104" cy="686625"/>
          </a:xfrm>
          <a:prstGeom prst="rect">
            <a:avLst/>
          </a:prstGeom>
        </p:spPr>
      </p:pic>
      <mc:AlternateContent xmlns:mc="http://schemas.openxmlformats.org/markup-compatibility/2006">
        <mc:Choice xmlns:a14="http://schemas.microsoft.com/office/drawing/2010/main" Requires="a14">
          <p:sp>
            <p:nvSpPr>
              <p:cNvPr id="26" name="Marcador de contenido 9">
                <a:extLst>
                  <a:ext uri="{FF2B5EF4-FFF2-40B4-BE49-F238E27FC236}">
                    <a16:creationId xmlns:a16="http://schemas.microsoft.com/office/drawing/2014/main" id="{B16FB9DF-FF89-41E5-A2EE-3B1F765A7867}"/>
                  </a:ext>
                </a:extLst>
              </p:cNvPr>
              <p:cNvSpPr txBox="1">
                <a:spLocks/>
              </p:cNvSpPr>
              <p:nvPr/>
            </p:nvSpPr>
            <p:spPr>
              <a:xfrm>
                <a:off x="8183045" y="4816091"/>
                <a:ext cx="1993955"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14:m>
                  <m:oMathPara xmlns:m="http://schemas.openxmlformats.org/officeDocument/2006/math">
                    <m:oMathParaPr>
                      <m:jc m:val="centerGroup"/>
                    </m:oMathParaPr>
                    <m:oMath xmlns:m="http://schemas.openxmlformats.org/officeDocument/2006/math">
                      <m:sSub>
                        <m:sSubPr>
                          <m:ctrlPr>
                            <a:rPr lang="es-ES" sz="1400" i="1" smtClean="0">
                              <a:solidFill>
                                <a:schemeClr val="tx1"/>
                              </a:solidFill>
                              <a:latin typeface="Cambria Math" panose="02040503050406030204" pitchFamily="18" charset="0"/>
                              <a:sym typeface="Wingdings" panose="05000000000000000000" pitchFamily="2" charset="2"/>
                            </a:rPr>
                          </m:ctrlPr>
                        </m:sSubPr>
                        <m:e>
                          <m:r>
                            <a:rPr lang="en-US" sz="1400" b="0" i="1" smtClean="0">
                              <a:solidFill>
                                <a:schemeClr val="tx1"/>
                              </a:solidFill>
                              <a:latin typeface="Cambria Math" panose="02040503050406030204" pitchFamily="18" charset="0"/>
                              <a:sym typeface="Wingdings" panose="05000000000000000000" pitchFamily="2" charset="2"/>
                            </a:rPr>
                            <m:t>𝑥</m:t>
                          </m:r>
                        </m:e>
                        <m:sub>
                          <m:r>
                            <a:rPr lang="en-US" sz="1400" b="0" i="1" smtClean="0">
                              <a:solidFill>
                                <a:schemeClr val="tx1"/>
                              </a:solidFill>
                              <a:latin typeface="Cambria Math" panose="02040503050406030204" pitchFamily="18" charset="0"/>
                              <a:sym typeface="Wingdings" panose="05000000000000000000" pitchFamily="2" charset="2"/>
                            </a:rPr>
                            <m:t>𝑖</m:t>
                          </m:r>
                        </m:sub>
                      </m:sSub>
                      <m:r>
                        <a:rPr lang="en-US" sz="1400" b="0" i="1" smtClean="0">
                          <a:solidFill>
                            <a:schemeClr val="tx1"/>
                          </a:solidFill>
                          <a:latin typeface="Cambria Math" panose="02040503050406030204" pitchFamily="18" charset="0"/>
                          <a:sym typeface="Wingdings" panose="05000000000000000000" pitchFamily="2" charset="2"/>
                        </a:rPr>
                        <m:t>:</m:t>
                      </m:r>
                      <m:r>
                        <a:rPr lang="en-US" sz="1400" b="0" i="1" smtClean="0">
                          <a:solidFill>
                            <a:schemeClr val="tx1"/>
                          </a:solidFill>
                          <a:latin typeface="Cambria Math" panose="02040503050406030204" pitchFamily="18" charset="0"/>
                          <a:sym typeface="Wingdings" panose="05000000000000000000" pitchFamily="2" charset="2"/>
                        </a:rPr>
                        <m:t>𝑠𝑒</m:t>
                      </m:r>
                      <m:r>
                        <a:rPr lang="en-US" sz="1400" b="0" i="1" smtClean="0">
                          <a:solidFill>
                            <a:schemeClr val="tx1"/>
                          </a:solidFill>
                          <a:latin typeface="Cambria Math" panose="02040503050406030204" pitchFamily="18" charset="0"/>
                          <a:sym typeface="Wingdings" panose="05000000000000000000" pitchFamily="2" charset="2"/>
                        </a:rPr>
                        <m:t>ñ</m:t>
                      </m:r>
                      <m:r>
                        <a:rPr lang="en-US" sz="1400" b="0" i="1" smtClean="0">
                          <a:solidFill>
                            <a:schemeClr val="tx1"/>
                          </a:solidFill>
                          <a:latin typeface="Cambria Math" panose="02040503050406030204" pitchFamily="18" charset="0"/>
                          <a:sym typeface="Wingdings" panose="05000000000000000000" pitchFamily="2" charset="2"/>
                        </a:rPr>
                        <m:t>𝑎𝑙</m:t>
                      </m:r>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𝐸𝐸𝐺</m:t>
                      </m:r>
                    </m:oMath>
                    <m:oMath xmlns:m="http://schemas.openxmlformats.org/officeDocument/2006/math">
                      <m:r>
                        <m:rPr>
                          <m:sty m:val="p"/>
                        </m:rPr>
                        <a:rPr lang="el-GR" sz="1400" b="0" i="1" smtClean="0">
                          <a:solidFill>
                            <a:schemeClr val="tx1"/>
                          </a:solidFill>
                          <a:latin typeface="Cambria Math" panose="02040503050406030204" pitchFamily="18" charset="0"/>
                          <a:ea typeface="Cambria Math" panose="02040503050406030204" pitchFamily="18" charset="0"/>
                          <a:sym typeface="Wingdings" panose="05000000000000000000" pitchFamily="2" charset="2"/>
                        </a:rPr>
                        <m:t>μ</m:t>
                      </m:r>
                      <m:r>
                        <a:rPr lang="en-US" sz="1400" b="0" i="1" smtClean="0">
                          <a:solidFill>
                            <a:schemeClr val="tx1"/>
                          </a:solidFill>
                          <a:latin typeface="Cambria Math" panose="02040503050406030204" pitchFamily="18" charset="0"/>
                          <a:ea typeface="Cambria Math" panose="02040503050406030204" pitchFamily="18" charset="0"/>
                          <a:sym typeface="Wingdings" panose="05000000000000000000" pitchFamily="2" charset="2"/>
                        </a:rPr>
                        <m:t>:</m:t>
                      </m:r>
                      <m:r>
                        <a:rPr lang="en-US" sz="1400" b="0" i="1" smtClean="0">
                          <a:solidFill>
                            <a:schemeClr val="tx1"/>
                          </a:solidFill>
                          <a:latin typeface="Cambria Math" panose="02040503050406030204" pitchFamily="18" charset="0"/>
                          <a:ea typeface="Cambria Math" panose="02040503050406030204" pitchFamily="18" charset="0"/>
                          <a:sym typeface="Wingdings" panose="05000000000000000000" pitchFamily="2" charset="2"/>
                        </a:rPr>
                        <m:t>𝑚𝑒𝑑𝑖𝑎</m:t>
                      </m:r>
                    </m:oMath>
                  </m:oMathPara>
                </a14:m>
                <a:endParaRPr lang="en-US" sz="1400" b="0" i="1" dirty="0">
                  <a:solidFill>
                    <a:schemeClr val="tx1"/>
                  </a:solidFill>
                  <a:latin typeface="Cambria Math" panose="02040503050406030204" pitchFamily="18" charset="0"/>
                  <a:ea typeface="Cambria Math" panose="02040503050406030204" pitchFamily="18" charset="0"/>
                  <a:sym typeface="Wingdings" panose="05000000000000000000" pitchFamily="2" charset="2"/>
                </a:endParaRPr>
              </a:p>
              <a:p>
                <a:pPr marL="0" indent="0" algn="just">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𝑁</m:t>
                      </m:r>
                      <m:r>
                        <a:rPr lang="en-US" sz="1400" b="0" i="1" smtClean="0">
                          <a:solidFill>
                            <a:schemeClr val="tx1"/>
                          </a:solidFill>
                          <a:latin typeface="Cambria Math" panose="02040503050406030204" pitchFamily="18" charset="0"/>
                          <a:sym typeface="Wingdings" panose="05000000000000000000" pitchFamily="2" charset="2"/>
                        </a:rPr>
                        <m:t>:</m:t>
                      </m:r>
                      <m:r>
                        <a:rPr lang="en-US" sz="1400" b="0" i="1" smtClean="0">
                          <a:solidFill>
                            <a:schemeClr val="tx1"/>
                          </a:solidFill>
                          <a:latin typeface="Cambria Math" panose="02040503050406030204" pitchFamily="18" charset="0"/>
                          <a:sym typeface="Wingdings" panose="05000000000000000000" pitchFamily="2" charset="2"/>
                        </a:rPr>
                        <m:t>𝑛</m:t>
                      </m:r>
                      <m:r>
                        <a:rPr lang="en-US" sz="1400" b="0" i="1" smtClean="0">
                          <a:solidFill>
                            <a:schemeClr val="tx1"/>
                          </a:solidFill>
                          <a:latin typeface="Cambria Math" panose="02040503050406030204" pitchFamily="18" charset="0"/>
                          <a:sym typeface="Wingdings" panose="05000000000000000000" pitchFamily="2" charset="2"/>
                        </a:rPr>
                        <m:t>ú</m:t>
                      </m:r>
                      <m:r>
                        <a:rPr lang="en-US" sz="1400" b="0" i="1" smtClean="0">
                          <a:solidFill>
                            <a:schemeClr val="tx1"/>
                          </a:solidFill>
                          <a:latin typeface="Cambria Math" panose="02040503050406030204" pitchFamily="18" charset="0"/>
                          <a:sym typeface="Wingdings" panose="05000000000000000000" pitchFamily="2" charset="2"/>
                        </a:rPr>
                        <m:t>𝑚𝑒𝑟𝑜</m:t>
                      </m:r>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𝑑𝑒</m:t>
                      </m:r>
                      <m:r>
                        <a:rPr lang="en-US" sz="1400" b="0" i="1" smtClean="0">
                          <a:solidFill>
                            <a:schemeClr val="tx1"/>
                          </a:solidFill>
                          <a:latin typeface="Cambria Math" panose="02040503050406030204" pitchFamily="18" charset="0"/>
                          <a:sym typeface="Wingdings" panose="05000000000000000000" pitchFamily="2" charset="2"/>
                        </a:rPr>
                        <m:t> </m:t>
                      </m:r>
                      <m:r>
                        <a:rPr lang="en-US" sz="1400" b="0" i="1" smtClean="0">
                          <a:solidFill>
                            <a:schemeClr val="tx1"/>
                          </a:solidFill>
                          <a:latin typeface="Cambria Math" panose="02040503050406030204" pitchFamily="18" charset="0"/>
                          <a:sym typeface="Wingdings" panose="05000000000000000000" pitchFamily="2" charset="2"/>
                        </a:rPr>
                        <m:t>𝑚𝑢𝑒𝑠𝑡𝑟𝑎𝑠</m:t>
                      </m:r>
                    </m:oMath>
                  </m:oMathPara>
                </a14:m>
                <a:endParaRPr lang="es-ES" sz="1400" dirty="0">
                  <a:solidFill>
                    <a:schemeClr val="tx1"/>
                  </a:solidFill>
                  <a:sym typeface="Wingdings" panose="05000000000000000000" pitchFamily="2" charset="2"/>
                </a:endParaRPr>
              </a:p>
              <a:p>
                <a:pPr marL="0" indent="0" algn="just">
                  <a:buNone/>
                </a:pPr>
                <a:endParaRPr lang="es-ES" sz="1400" dirty="0">
                  <a:solidFill>
                    <a:schemeClr val="tx1"/>
                  </a:solidFill>
                  <a:sym typeface="Wingdings" panose="05000000000000000000" pitchFamily="2" charset="2"/>
                </a:endParaRPr>
              </a:p>
              <a:p>
                <a:pPr marL="0" indent="0" algn="just">
                  <a:buNone/>
                </a:pPr>
                <a:endParaRPr lang="es-ES" sz="1400" dirty="0">
                  <a:solidFill>
                    <a:schemeClr val="tx1"/>
                  </a:solidFill>
                  <a:sym typeface="Wingdings" panose="05000000000000000000" pitchFamily="2" charset="2"/>
                </a:endParaRPr>
              </a:p>
            </p:txBody>
          </p:sp>
        </mc:Choice>
        <mc:Fallback>
          <p:sp>
            <p:nvSpPr>
              <p:cNvPr id="26" name="Marcador de contenido 9">
                <a:extLst>
                  <a:ext uri="{FF2B5EF4-FFF2-40B4-BE49-F238E27FC236}">
                    <a16:creationId xmlns:a16="http://schemas.microsoft.com/office/drawing/2014/main" id="{B16FB9DF-FF89-41E5-A2EE-3B1F765A7867}"/>
                  </a:ext>
                </a:extLst>
              </p:cNvPr>
              <p:cNvSpPr txBox="1">
                <a:spLocks noRot="1" noChangeAspect="1" noMove="1" noResize="1" noEditPoints="1" noAdjustHandles="1" noChangeArrowheads="1" noChangeShapeType="1" noTextEdit="1"/>
              </p:cNvSpPr>
              <p:nvPr/>
            </p:nvSpPr>
            <p:spPr>
              <a:xfrm>
                <a:off x="8183045" y="4816091"/>
                <a:ext cx="1993955" cy="413603"/>
              </a:xfrm>
              <a:prstGeom prst="rect">
                <a:avLst/>
              </a:prstGeom>
              <a:blipFill>
                <a:blip r:embed="rId6"/>
                <a:stretch>
                  <a:fillRect r="-20795" b="-75000"/>
                </a:stretch>
              </a:blipFill>
            </p:spPr>
            <p:txBody>
              <a:bodyPr/>
              <a:lstStyle/>
              <a:p>
                <a:r>
                  <a:rPr lang="es-GT">
                    <a:noFill/>
                  </a:rPr>
                  <a:t> </a:t>
                </a:r>
              </a:p>
            </p:txBody>
          </p:sp>
        </mc:Fallback>
      </mc:AlternateContent>
      <p:sp>
        <p:nvSpPr>
          <p:cNvPr id="27" name="Marcador de contenido 9">
            <a:extLst>
              <a:ext uri="{FF2B5EF4-FFF2-40B4-BE49-F238E27FC236}">
                <a16:creationId xmlns:a16="http://schemas.microsoft.com/office/drawing/2014/main" id="{3ACB25E9-468E-4910-B506-6FB8AE6BFD99}"/>
              </a:ext>
            </a:extLst>
          </p:cNvPr>
          <p:cNvSpPr txBox="1">
            <a:spLocks/>
          </p:cNvSpPr>
          <p:nvPr/>
        </p:nvSpPr>
        <p:spPr>
          <a:xfrm>
            <a:off x="972668" y="2301875"/>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p:txBody>
      </p:sp>
      <p:sp>
        <p:nvSpPr>
          <p:cNvPr id="28" name="Marcador de contenido 9">
            <a:extLst>
              <a:ext uri="{FF2B5EF4-FFF2-40B4-BE49-F238E27FC236}">
                <a16:creationId xmlns:a16="http://schemas.microsoft.com/office/drawing/2014/main" id="{F5FFA117-AD95-4FEC-9376-38724BE4FFC5}"/>
              </a:ext>
            </a:extLst>
          </p:cNvPr>
          <p:cNvSpPr txBox="1">
            <a:spLocks/>
          </p:cNvSpPr>
          <p:nvPr/>
        </p:nvSpPr>
        <p:spPr>
          <a:xfrm>
            <a:off x="715837" y="4604645"/>
            <a:ext cx="2524513"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à"/>
            </a:pPr>
            <a:r>
              <a:rPr lang="es-ES" sz="1800" dirty="0">
                <a:solidFill>
                  <a:schemeClr val="tx1"/>
                </a:solidFill>
                <a:sym typeface="Wingdings" panose="05000000000000000000" pitchFamily="2" charset="2"/>
              </a:rPr>
              <a:t>Valor medio absoluto</a:t>
            </a: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p:txBody>
      </p:sp>
      <p:sp>
        <p:nvSpPr>
          <p:cNvPr id="18" name="Marcador de contenido 9">
            <a:extLst>
              <a:ext uri="{FF2B5EF4-FFF2-40B4-BE49-F238E27FC236}">
                <a16:creationId xmlns:a16="http://schemas.microsoft.com/office/drawing/2014/main" id="{7A0501A4-406E-4122-A0E2-4E72EADAE576}"/>
              </a:ext>
            </a:extLst>
          </p:cNvPr>
          <p:cNvSpPr txBox="1">
            <a:spLocks/>
          </p:cNvSpPr>
          <p:nvPr/>
        </p:nvSpPr>
        <p:spPr>
          <a:xfrm>
            <a:off x="6724389" y="3609024"/>
            <a:ext cx="3472709"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1000" dirty="0">
                <a:solidFill>
                  <a:schemeClr val="tx1"/>
                </a:solidFill>
              </a:rPr>
              <a:t>FIG 3: EJEMPLO DE CRUCES POR CERO EN SEÑAL EEG</a:t>
            </a:r>
          </a:p>
        </p:txBody>
      </p:sp>
      <p:grpSp>
        <p:nvGrpSpPr>
          <p:cNvPr id="4" name="Grupo 3">
            <a:extLst>
              <a:ext uri="{FF2B5EF4-FFF2-40B4-BE49-F238E27FC236}">
                <a16:creationId xmlns:a16="http://schemas.microsoft.com/office/drawing/2014/main" id="{3D93248B-DD07-47E9-8EEF-D30C6AA50893}"/>
              </a:ext>
            </a:extLst>
          </p:cNvPr>
          <p:cNvGrpSpPr/>
          <p:nvPr/>
        </p:nvGrpSpPr>
        <p:grpSpPr>
          <a:xfrm>
            <a:off x="1082245" y="1961419"/>
            <a:ext cx="2815628" cy="2371099"/>
            <a:chOff x="1082245" y="1961419"/>
            <a:chExt cx="2815628" cy="2371099"/>
          </a:xfrm>
        </p:grpSpPr>
        <p:sp>
          <p:nvSpPr>
            <p:cNvPr id="3" name="Rectángulo: esquinas redondeadas 2">
              <a:extLst>
                <a:ext uri="{FF2B5EF4-FFF2-40B4-BE49-F238E27FC236}">
                  <a16:creationId xmlns:a16="http://schemas.microsoft.com/office/drawing/2014/main" id="{5814A0B1-16D9-46EA-A77B-AF5968B519BC}"/>
                </a:ext>
              </a:extLst>
            </p:cNvPr>
            <p:cNvSpPr/>
            <p:nvPr/>
          </p:nvSpPr>
          <p:spPr>
            <a:xfrm>
              <a:off x="1082245" y="1961419"/>
              <a:ext cx="2757655" cy="2371099"/>
            </a:xfrm>
            <a:prstGeom prst="roundRect">
              <a:avLst>
                <a:gd name="adj" fmla="val 103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9" name="Marcador de contenido 9">
              <a:extLst>
                <a:ext uri="{FF2B5EF4-FFF2-40B4-BE49-F238E27FC236}">
                  <a16:creationId xmlns:a16="http://schemas.microsoft.com/office/drawing/2014/main" id="{27AC2B8D-BD66-4C34-89BD-AF1AE910A606}"/>
                </a:ext>
              </a:extLst>
            </p:cNvPr>
            <p:cNvSpPr txBox="1">
              <a:spLocks/>
            </p:cNvSpPr>
            <p:nvPr/>
          </p:nvSpPr>
          <p:spPr>
            <a:xfrm>
              <a:off x="1192297" y="2085573"/>
              <a:ext cx="2705576" cy="2103386"/>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rgbClr val="1F2D48"/>
                </a:buClr>
                <a:buFont typeface="Arial" panose="020B0604020202020204" pitchFamily="34" charset="0"/>
                <a:buChar char="•"/>
              </a:pPr>
              <a:r>
                <a:rPr lang="es-ES" sz="1600" dirty="0">
                  <a:solidFill>
                    <a:schemeClr val="tx1"/>
                  </a:solidFill>
                  <a:sym typeface="Wingdings" panose="05000000000000000000" pitchFamily="2" charset="2"/>
                </a:rPr>
                <a:t>Dominio del tiempo</a:t>
              </a:r>
            </a:p>
            <a:p>
              <a:pPr>
                <a:buClr>
                  <a:srgbClr val="1F2D48"/>
                </a:buClr>
                <a:buFont typeface="Arial" panose="020B0604020202020204" pitchFamily="34" charset="0"/>
                <a:buChar char="•"/>
              </a:pPr>
              <a:r>
                <a:rPr lang="es-ES" sz="1600" dirty="0">
                  <a:solidFill>
                    <a:schemeClr val="tx1"/>
                  </a:solidFill>
                  <a:sym typeface="Wingdings" panose="05000000000000000000" pitchFamily="2" charset="2"/>
                </a:rPr>
                <a:t>Dominio de frecuencia</a:t>
              </a:r>
            </a:p>
            <a:p>
              <a:pPr>
                <a:buClr>
                  <a:srgbClr val="1F2D48"/>
                </a:buClr>
                <a:buFont typeface="Arial" panose="020B0604020202020204" pitchFamily="34" charset="0"/>
                <a:buChar char="•"/>
              </a:pPr>
              <a:r>
                <a:rPr lang="es-ES" sz="1600" dirty="0">
                  <a:solidFill>
                    <a:schemeClr val="tx1"/>
                  </a:solidFill>
                  <a:sym typeface="Wingdings" panose="05000000000000000000" pitchFamily="2" charset="2"/>
                </a:rPr>
                <a:t>Coeficientes Auto-Regresivos</a:t>
              </a:r>
            </a:p>
            <a:p>
              <a:pPr>
                <a:buClr>
                  <a:srgbClr val="1F2D48"/>
                </a:buClr>
                <a:buFont typeface="Arial" panose="020B0604020202020204" pitchFamily="34" charset="0"/>
                <a:buChar char="•"/>
              </a:pPr>
              <a:r>
                <a:rPr lang="es-ES" sz="1600" dirty="0">
                  <a:solidFill>
                    <a:schemeClr val="tx1"/>
                  </a:solidFill>
                  <a:sym typeface="Wingdings" panose="05000000000000000000" pitchFamily="2" charset="2"/>
                </a:rPr>
                <a:t>Características Wavelet</a:t>
              </a:r>
            </a:p>
            <a:p>
              <a:pPr>
                <a:buClr>
                  <a:srgbClr val="1F2D48"/>
                </a:buClr>
                <a:buFont typeface="Arial" panose="020B0604020202020204" pitchFamily="34" charset="0"/>
                <a:buChar char="•"/>
              </a:pPr>
              <a:r>
                <a:rPr lang="es-ES" sz="1600" dirty="0">
                  <a:solidFill>
                    <a:schemeClr val="tx1"/>
                  </a:solidFill>
                  <a:sym typeface="Wingdings" panose="05000000000000000000" pitchFamily="2" charset="2"/>
                </a:rPr>
                <a:t>Características Cepstrales</a:t>
              </a:r>
            </a:p>
            <a:p>
              <a:pPr>
                <a:buClr>
                  <a:srgbClr val="1F2D48"/>
                </a:buClr>
                <a:buFont typeface="Arial" panose="020B0604020202020204" pitchFamily="34" charset="0"/>
                <a:buChar char="•"/>
              </a:pPr>
              <a:endParaRPr lang="es-ES" sz="1600" dirty="0">
                <a:solidFill>
                  <a:schemeClr val="tx1"/>
                </a:solidFill>
                <a:sym typeface="Wingdings" panose="05000000000000000000" pitchFamily="2" charset="2"/>
              </a:endParaRPr>
            </a:p>
            <a:p>
              <a:pPr>
                <a:buClr>
                  <a:srgbClr val="1F2D48"/>
                </a:buClr>
                <a:buFont typeface="Arial" panose="020B0604020202020204" pitchFamily="34" charset="0"/>
                <a:buChar char="•"/>
              </a:pPr>
              <a:endParaRPr lang="es-ES" sz="1600" dirty="0">
                <a:solidFill>
                  <a:schemeClr val="tx1"/>
                </a:solidFill>
                <a:sym typeface="Wingdings" panose="05000000000000000000" pitchFamily="2" charset="2"/>
              </a:endParaRPr>
            </a:p>
            <a:p>
              <a:pPr>
                <a:buClr>
                  <a:srgbClr val="1F2D48"/>
                </a:buClr>
                <a:buFont typeface="Arial" panose="020B0604020202020204" pitchFamily="34" charset="0"/>
                <a:buChar char="•"/>
              </a:pPr>
              <a:endParaRPr lang="es-ES" sz="1600" dirty="0">
                <a:solidFill>
                  <a:schemeClr val="tx1"/>
                </a:solidFill>
                <a:sym typeface="Wingdings" panose="05000000000000000000" pitchFamily="2" charset="2"/>
              </a:endParaRPr>
            </a:p>
            <a:p>
              <a:pPr>
                <a:buClr>
                  <a:srgbClr val="1F2D48"/>
                </a:buClr>
                <a:buFont typeface="Arial" panose="020B0604020202020204" pitchFamily="34" charset="0"/>
                <a:buChar char="•"/>
              </a:pPr>
              <a:endParaRPr lang="es-ES" sz="1600" dirty="0">
                <a:solidFill>
                  <a:schemeClr val="tx1"/>
                </a:solidFill>
                <a:sym typeface="Wingdings" panose="05000000000000000000" pitchFamily="2" charset="2"/>
              </a:endParaRPr>
            </a:p>
          </p:txBody>
        </p:sp>
      </p:grpSp>
    </p:spTree>
    <p:extLst>
      <p:ext uri="{BB962C8B-B14F-4D97-AF65-F5344CB8AC3E}">
        <p14:creationId xmlns:p14="http://schemas.microsoft.com/office/powerpoint/2010/main" val="41592941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24" grpId="0"/>
      <p:bldP spid="26" grpId="0"/>
      <p:bldP spid="28"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id="{99C57B54-E0DC-4041-B0A0-FF3E703684A9}"/>
              </a:ext>
            </a:extLst>
          </p:cNvPr>
          <p:cNvSpPr>
            <a:spLocks noGrp="1"/>
          </p:cNvSpPr>
          <p:nvPr>
            <p:ph type="title"/>
          </p:nvPr>
        </p:nvSpPr>
        <p:spPr>
          <a:xfrm>
            <a:off x="715837" y="662904"/>
            <a:ext cx="4814952" cy="911225"/>
          </a:xfrm>
        </p:spPr>
        <p:txBody>
          <a:bodyPr rtlCol="0">
            <a:noAutofit/>
          </a:bodyPr>
          <a:lstStyle/>
          <a:p>
            <a:pPr rtl="0"/>
            <a:r>
              <a:rPr lang="es-ES" sz="5400" dirty="0">
                <a:solidFill>
                  <a:srgbClr val="C5AE76"/>
                </a:solidFill>
              </a:rPr>
              <a:t>Introducción</a:t>
            </a:r>
          </a:p>
        </p:txBody>
      </p:sp>
      <p:sp>
        <p:nvSpPr>
          <p:cNvPr id="13" name="Marcador de contenido 9">
            <a:extLst>
              <a:ext uri="{FF2B5EF4-FFF2-40B4-BE49-F238E27FC236}">
                <a16:creationId xmlns:a16="http://schemas.microsoft.com/office/drawing/2014/main" id="{163B2333-F2CA-483F-9F71-87CD9EB9C53D}"/>
              </a:ext>
            </a:extLst>
          </p:cNvPr>
          <p:cNvSpPr txBox="1">
            <a:spLocks/>
          </p:cNvSpPr>
          <p:nvPr/>
        </p:nvSpPr>
        <p:spPr>
          <a:xfrm>
            <a:off x="606371" y="1393459"/>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3000" dirty="0">
                <a:solidFill>
                  <a:srgbClr val="C5AE76"/>
                </a:solidFill>
              </a:rPr>
              <a:t>Características en Señales EEG</a:t>
            </a:r>
          </a:p>
          <a:p>
            <a:pPr marL="0" indent="0" algn="just">
              <a:buNone/>
            </a:pPr>
            <a:endParaRPr lang="es-ES" sz="3000" dirty="0">
              <a:solidFill>
                <a:srgbClr val="C5AE76"/>
              </a:solidFill>
            </a:endParaRPr>
          </a:p>
        </p:txBody>
      </p:sp>
      <p:sp>
        <p:nvSpPr>
          <p:cNvPr id="27" name="Marcador de contenido 9">
            <a:extLst>
              <a:ext uri="{FF2B5EF4-FFF2-40B4-BE49-F238E27FC236}">
                <a16:creationId xmlns:a16="http://schemas.microsoft.com/office/drawing/2014/main" id="{3ACB25E9-468E-4910-B506-6FB8AE6BFD99}"/>
              </a:ext>
            </a:extLst>
          </p:cNvPr>
          <p:cNvSpPr txBox="1">
            <a:spLocks/>
          </p:cNvSpPr>
          <p:nvPr/>
        </p:nvSpPr>
        <p:spPr>
          <a:xfrm>
            <a:off x="1443185" y="2330815"/>
            <a:ext cx="5418607" cy="413603"/>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a:p>
            <a:pPr marL="0" indent="0" algn="just">
              <a:buNone/>
            </a:pPr>
            <a:endParaRPr lang="es-ES" sz="1800" dirty="0">
              <a:solidFill>
                <a:schemeClr val="tx1"/>
              </a:solidFill>
              <a:sym typeface="Wingdings" panose="05000000000000000000" pitchFamily="2" charset="2"/>
            </a:endParaRPr>
          </a:p>
        </p:txBody>
      </p:sp>
      <p:grpSp>
        <p:nvGrpSpPr>
          <p:cNvPr id="4" name="Grupo 3">
            <a:extLst>
              <a:ext uri="{FF2B5EF4-FFF2-40B4-BE49-F238E27FC236}">
                <a16:creationId xmlns:a16="http://schemas.microsoft.com/office/drawing/2014/main" id="{3D93248B-DD07-47E9-8EEF-D30C6AA50893}"/>
              </a:ext>
            </a:extLst>
          </p:cNvPr>
          <p:cNvGrpSpPr/>
          <p:nvPr/>
        </p:nvGrpSpPr>
        <p:grpSpPr>
          <a:xfrm>
            <a:off x="1321942" y="2537616"/>
            <a:ext cx="2371169" cy="1154643"/>
            <a:chOff x="1082245" y="1961419"/>
            <a:chExt cx="2371169" cy="1154643"/>
          </a:xfrm>
        </p:grpSpPr>
        <p:sp>
          <p:nvSpPr>
            <p:cNvPr id="3" name="Rectángulo: esquinas redondeadas 2">
              <a:extLst>
                <a:ext uri="{FF2B5EF4-FFF2-40B4-BE49-F238E27FC236}">
                  <a16:creationId xmlns:a16="http://schemas.microsoft.com/office/drawing/2014/main" id="{5814A0B1-16D9-46EA-A77B-AF5968B519BC}"/>
                </a:ext>
              </a:extLst>
            </p:cNvPr>
            <p:cNvSpPr/>
            <p:nvPr/>
          </p:nvSpPr>
          <p:spPr>
            <a:xfrm>
              <a:off x="1082245" y="1961419"/>
              <a:ext cx="2371169" cy="1154643"/>
            </a:xfrm>
            <a:prstGeom prst="roundRect">
              <a:avLst>
                <a:gd name="adj" fmla="val 103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9" name="Marcador de contenido 9">
              <a:extLst>
                <a:ext uri="{FF2B5EF4-FFF2-40B4-BE49-F238E27FC236}">
                  <a16:creationId xmlns:a16="http://schemas.microsoft.com/office/drawing/2014/main" id="{27AC2B8D-BD66-4C34-89BD-AF1AE910A606}"/>
                </a:ext>
              </a:extLst>
            </p:cNvPr>
            <p:cNvSpPr txBox="1">
              <a:spLocks/>
            </p:cNvSpPr>
            <p:nvPr/>
          </p:nvSpPr>
          <p:spPr>
            <a:xfrm>
              <a:off x="1192297" y="2085573"/>
              <a:ext cx="2145707" cy="87956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Clr>
                  <a:srgbClr val="1F2D48"/>
                </a:buClr>
                <a:buNone/>
              </a:pPr>
              <a:r>
                <a:rPr lang="es-ES" sz="1600" dirty="0">
                  <a:solidFill>
                    <a:schemeClr val="tx1"/>
                  </a:solidFill>
                  <a:sym typeface="Wingdings" panose="05000000000000000000" pitchFamily="2" charset="2"/>
                </a:rPr>
                <a:t>Dividir señal en ventanas con n cantidad de muestras.</a:t>
              </a:r>
            </a:p>
          </p:txBody>
        </p:sp>
      </p:grpSp>
      <p:sp>
        <p:nvSpPr>
          <p:cNvPr id="20" name="Flecha: a la derecha 19">
            <a:extLst>
              <a:ext uri="{FF2B5EF4-FFF2-40B4-BE49-F238E27FC236}">
                <a16:creationId xmlns:a16="http://schemas.microsoft.com/office/drawing/2014/main" id="{5BCCB339-3AD1-4890-94B9-87A1D1BB124F}"/>
              </a:ext>
            </a:extLst>
          </p:cNvPr>
          <p:cNvSpPr/>
          <p:nvPr/>
        </p:nvSpPr>
        <p:spPr>
          <a:xfrm>
            <a:off x="3893284" y="2816413"/>
            <a:ext cx="646781" cy="570282"/>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upo 31">
            <a:extLst>
              <a:ext uri="{FF2B5EF4-FFF2-40B4-BE49-F238E27FC236}">
                <a16:creationId xmlns:a16="http://schemas.microsoft.com/office/drawing/2014/main" id="{25B7BD33-6F70-477D-BB6A-9FA1386FE9FA}"/>
              </a:ext>
            </a:extLst>
          </p:cNvPr>
          <p:cNvGrpSpPr/>
          <p:nvPr/>
        </p:nvGrpSpPr>
        <p:grpSpPr>
          <a:xfrm>
            <a:off x="4740238" y="2661770"/>
            <a:ext cx="1755257" cy="1003722"/>
            <a:chOff x="1082245" y="1961420"/>
            <a:chExt cx="1755257" cy="1003722"/>
          </a:xfrm>
        </p:grpSpPr>
        <p:sp>
          <p:nvSpPr>
            <p:cNvPr id="33" name="Rectángulo: esquinas redondeadas 32">
              <a:extLst>
                <a:ext uri="{FF2B5EF4-FFF2-40B4-BE49-F238E27FC236}">
                  <a16:creationId xmlns:a16="http://schemas.microsoft.com/office/drawing/2014/main" id="{EB1CEB72-8B1A-4283-B753-68095053953F}"/>
                </a:ext>
              </a:extLst>
            </p:cNvPr>
            <p:cNvSpPr/>
            <p:nvPr/>
          </p:nvSpPr>
          <p:spPr>
            <a:xfrm>
              <a:off x="1082245" y="1961420"/>
              <a:ext cx="1755257" cy="933708"/>
            </a:xfrm>
            <a:prstGeom prst="roundRect">
              <a:avLst>
                <a:gd name="adj" fmla="val 103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34" name="Marcador de contenido 9">
              <a:extLst>
                <a:ext uri="{FF2B5EF4-FFF2-40B4-BE49-F238E27FC236}">
                  <a16:creationId xmlns:a16="http://schemas.microsoft.com/office/drawing/2014/main" id="{DC25C93E-9678-47A0-B484-EC859CB2C1C3}"/>
                </a:ext>
              </a:extLst>
            </p:cNvPr>
            <p:cNvSpPr txBox="1">
              <a:spLocks/>
            </p:cNvSpPr>
            <p:nvPr/>
          </p:nvSpPr>
          <p:spPr>
            <a:xfrm>
              <a:off x="1192298" y="2085573"/>
              <a:ext cx="1550510" cy="87956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Clr>
                  <a:srgbClr val="1F2D48"/>
                </a:buClr>
                <a:buNone/>
              </a:pPr>
              <a:r>
                <a:rPr lang="es-ES" sz="1600" dirty="0">
                  <a:solidFill>
                    <a:schemeClr val="tx1"/>
                  </a:solidFill>
                  <a:sym typeface="Wingdings" panose="05000000000000000000" pitchFamily="2" charset="2"/>
                </a:rPr>
                <a:t>Extraer</a:t>
              </a:r>
              <a:br>
                <a:rPr lang="es-ES" sz="1600" dirty="0">
                  <a:solidFill>
                    <a:schemeClr val="tx1"/>
                  </a:solidFill>
                  <a:sym typeface="Wingdings" panose="05000000000000000000" pitchFamily="2" charset="2"/>
                </a:rPr>
              </a:br>
              <a:r>
                <a:rPr lang="es-ES" sz="1600" dirty="0">
                  <a:solidFill>
                    <a:schemeClr val="tx1"/>
                  </a:solidFill>
                  <a:sym typeface="Wingdings" panose="05000000000000000000" pitchFamily="2" charset="2"/>
                </a:rPr>
                <a:t>Características</a:t>
              </a:r>
            </a:p>
          </p:txBody>
        </p:sp>
      </p:grpSp>
      <p:grpSp>
        <p:nvGrpSpPr>
          <p:cNvPr id="35" name="Grupo 34">
            <a:extLst>
              <a:ext uri="{FF2B5EF4-FFF2-40B4-BE49-F238E27FC236}">
                <a16:creationId xmlns:a16="http://schemas.microsoft.com/office/drawing/2014/main" id="{BA4B1124-63F1-4CAF-BC48-42AE23BC2447}"/>
              </a:ext>
            </a:extLst>
          </p:cNvPr>
          <p:cNvGrpSpPr/>
          <p:nvPr/>
        </p:nvGrpSpPr>
        <p:grpSpPr>
          <a:xfrm>
            <a:off x="7440137" y="2551302"/>
            <a:ext cx="2371169" cy="1154643"/>
            <a:chOff x="1082245" y="1961419"/>
            <a:chExt cx="2371169" cy="1154643"/>
          </a:xfrm>
        </p:grpSpPr>
        <p:sp>
          <p:nvSpPr>
            <p:cNvPr id="36" name="Rectángulo: esquinas redondeadas 35">
              <a:extLst>
                <a:ext uri="{FF2B5EF4-FFF2-40B4-BE49-F238E27FC236}">
                  <a16:creationId xmlns:a16="http://schemas.microsoft.com/office/drawing/2014/main" id="{C0DAA3D0-1758-400F-B6D7-9568C79F8304}"/>
                </a:ext>
              </a:extLst>
            </p:cNvPr>
            <p:cNvSpPr/>
            <p:nvPr/>
          </p:nvSpPr>
          <p:spPr>
            <a:xfrm>
              <a:off x="1082245" y="1961419"/>
              <a:ext cx="2371169" cy="1154643"/>
            </a:xfrm>
            <a:prstGeom prst="roundRect">
              <a:avLst>
                <a:gd name="adj" fmla="val 103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37" name="Marcador de contenido 9">
              <a:extLst>
                <a:ext uri="{FF2B5EF4-FFF2-40B4-BE49-F238E27FC236}">
                  <a16:creationId xmlns:a16="http://schemas.microsoft.com/office/drawing/2014/main" id="{609D001E-E57D-4DD7-B571-97F95A56D3DA}"/>
                </a:ext>
              </a:extLst>
            </p:cNvPr>
            <p:cNvSpPr txBox="1">
              <a:spLocks/>
            </p:cNvSpPr>
            <p:nvPr/>
          </p:nvSpPr>
          <p:spPr>
            <a:xfrm>
              <a:off x="1194975" y="2196040"/>
              <a:ext cx="2145707" cy="6115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Clr>
                  <a:srgbClr val="1F2D48"/>
                </a:buClr>
                <a:buNone/>
              </a:pPr>
              <a:r>
                <a:rPr lang="es-ES" sz="1600" dirty="0">
                  <a:solidFill>
                    <a:schemeClr val="tx1"/>
                  </a:solidFill>
                  <a:sym typeface="Wingdings" panose="05000000000000000000" pitchFamily="2" charset="2"/>
                </a:rPr>
                <a:t>Generar Vector de</a:t>
              </a:r>
              <a:br>
                <a:rPr lang="es-ES" sz="1600" dirty="0">
                  <a:solidFill>
                    <a:schemeClr val="tx1"/>
                  </a:solidFill>
                  <a:sym typeface="Wingdings" panose="05000000000000000000" pitchFamily="2" charset="2"/>
                </a:rPr>
              </a:br>
              <a:r>
                <a:rPr lang="es-ES" sz="1600" dirty="0">
                  <a:solidFill>
                    <a:schemeClr val="tx1"/>
                  </a:solidFill>
                  <a:sym typeface="Wingdings" panose="05000000000000000000" pitchFamily="2" charset="2"/>
                </a:rPr>
                <a:t>Características</a:t>
              </a:r>
            </a:p>
          </p:txBody>
        </p:sp>
      </p:grpSp>
      <p:sp>
        <p:nvSpPr>
          <p:cNvPr id="38" name="Flecha: a la derecha 37">
            <a:extLst>
              <a:ext uri="{FF2B5EF4-FFF2-40B4-BE49-F238E27FC236}">
                <a16:creationId xmlns:a16="http://schemas.microsoft.com/office/drawing/2014/main" id="{0F491D69-CE6E-4ABE-B687-21BD214EC6C0}"/>
              </a:ext>
            </a:extLst>
          </p:cNvPr>
          <p:cNvSpPr/>
          <p:nvPr/>
        </p:nvSpPr>
        <p:spPr>
          <a:xfrm>
            <a:off x="6655755" y="2816413"/>
            <a:ext cx="646781" cy="570282"/>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Elipse 39">
            <a:extLst>
              <a:ext uri="{FF2B5EF4-FFF2-40B4-BE49-F238E27FC236}">
                <a16:creationId xmlns:a16="http://schemas.microsoft.com/office/drawing/2014/main" id="{DB7BAADB-7B92-4B3E-AC6D-C5728F12B52E}"/>
              </a:ext>
            </a:extLst>
          </p:cNvPr>
          <p:cNvSpPr/>
          <p:nvPr/>
        </p:nvSpPr>
        <p:spPr>
          <a:xfrm>
            <a:off x="11076496" y="5976594"/>
            <a:ext cx="254523" cy="2450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89946755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Gráfico&#10;&#10;Descripción generada automáticamente">
            <a:extLst>
              <a:ext uri="{FF2B5EF4-FFF2-40B4-BE49-F238E27FC236}">
                <a16:creationId xmlns:a16="http://schemas.microsoft.com/office/drawing/2014/main" id="{01AC6AEA-98FE-4CC6-8579-6028174B7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257" y="1272386"/>
            <a:ext cx="2576221" cy="1858849"/>
          </a:xfrm>
          <a:prstGeom prst="rect">
            <a:avLst/>
          </a:prstGeom>
        </p:spPr>
      </p:pic>
      <p:pic>
        <p:nvPicPr>
          <p:cNvPr id="11" name="Imagen 10" descr="Gráfico, Gráfico de líneas&#10;&#10;Descripción generada automáticamente">
            <a:extLst>
              <a:ext uri="{FF2B5EF4-FFF2-40B4-BE49-F238E27FC236}">
                <a16:creationId xmlns:a16="http://schemas.microsoft.com/office/drawing/2014/main" id="{C6D9B200-4E75-4F0E-8006-C92858E991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257" y="3631656"/>
            <a:ext cx="2576221" cy="1871963"/>
          </a:xfrm>
          <a:prstGeom prst="rect">
            <a:avLst/>
          </a:prstGeom>
        </p:spPr>
      </p:pic>
      <p:pic>
        <p:nvPicPr>
          <p:cNvPr id="23" name="Imagen 22" descr="Gráfico, Gráfico de líneas&#10;&#10;Descripción generada automáticamente">
            <a:extLst>
              <a:ext uri="{FF2B5EF4-FFF2-40B4-BE49-F238E27FC236}">
                <a16:creationId xmlns:a16="http://schemas.microsoft.com/office/drawing/2014/main" id="{8D19B5A9-30E2-4576-B7C9-154966F6BD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8889" y="1351797"/>
            <a:ext cx="2596896" cy="1779438"/>
          </a:xfrm>
          <a:prstGeom prst="rect">
            <a:avLst/>
          </a:prstGeom>
        </p:spPr>
      </p:pic>
      <p:pic>
        <p:nvPicPr>
          <p:cNvPr id="25" name="Imagen 24" descr="Gráfico, Gráfico de líneas, Histograma&#10;&#10;Descripción generada automáticamente">
            <a:extLst>
              <a:ext uri="{FF2B5EF4-FFF2-40B4-BE49-F238E27FC236}">
                <a16:creationId xmlns:a16="http://schemas.microsoft.com/office/drawing/2014/main" id="{A1F3D6C7-1FE7-405A-AE7E-BE6741582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8725" y="1329511"/>
            <a:ext cx="2596896" cy="1784231"/>
          </a:xfrm>
          <a:prstGeom prst="rect">
            <a:avLst/>
          </a:prstGeom>
        </p:spPr>
      </p:pic>
      <p:pic>
        <p:nvPicPr>
          <p:cNvPr id="29" name="Imagen 28" descr="Gráfico, Gráfico de líneas, Histograma&#10;&#10;Descripción generada automáticamente">
            <a:extLst>
              <a:ext uri="{FF2B5EF4-FFF2-40B4-BE49-F238E27FC236}">
                <a16:creationId xmlns:a16="http://schemas.microsoft.com/office/drawing/2014/main" id="{C6EE7F66-5B8C-4BC5-8060-51A5C7858E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40976" y="3611947"/>
            <a:ext cx="2596896" cy="1819216"/>
          </a:xfrm>
          <a:prstGeom prst="rect">
            <a:avLst/>
          </a:prstGeom>
        </p:spPr>
      </p:pic>
      <p:pic>
        <p:nvPicPr>
          <p:cNvPr id="31" name="Imagen 30" descr="Gráfico, Gráfico de líneas, Histograma&#10;&#10;Descripción generada automáticamente">
            <a:extLst>
              <a:ext uri="{FF2B5EF4-FFF2-40B4-BE49-F238E27FC236}">
                <a16:creationId xmlns:a16="http://schemas.microsoft.com/office/drawing/2014/main" id="{E3ECDC99-3EEF-4993-B66E-5AA67AA0E0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85523" y="3597220"/>
            <a:ext cx="2596896" cy="1819216"/>
          </a:xfrm>
          <a:prstGeom prst="rect">
            <a:avLst/>
          </a:prstGeom>
        </p:spPr>
      </p:pic>
      <p:pic>
        <p:nvPicPr>
          <p:cNvPr id="41" name="Imagen 40" descr="Gráfico, Gráfico de líneas, Histograma&#10;&#10;Descripción generada automáticamente">
            <a:extLst>
              <a:ext uri="{FF2B5EF4-FFF2-40B4-BE49-F238E27FC236}">
                <a16:creationId xmlns:a16="http://schemas.microsoft.com/office/drawing/2014/main" id="{07AC6DA0-FABB-4CA2-B5C5-6597ACBE69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59662" y="1314084"/>
            <a:ext cx="2596896" cy="1815084"/>
          </a:xfrm>
          <a:prstGeom prst="rect">
            <a:avLst/>
          </a:prstGeom>
        </p:spPr>
      </p:pic>
      <p:sp>
        <p:nvSpPr>
          <p:cNvPr id="32" name="CuadroTexto 31">
            <a:extLst>
              <a:ext uri="{FF2B5EF4-FFF2-40B4-BE49-F238E27FC236}">
                <a16:creationId xmlns:a16="http://schemas.microsoft.com/office/drawing/2014/main" id="{1758B501-A33A-410B-8777-AEAAD66A35E0}"/>
              </a:ext>
            </a:extLst>
          </p:cNvPr>
          <p:cNvSpPr txBox="1"/>
          <p:nvPr/>
        </p:nvSpPr>
        <p:spPr>
          <a:xfrm>
            <a:off x="1414386" y="1173851"/>
            <a:ext cx="1766657" cy="276999"/>
          </a:xfrm>
          <a:prstGeom prst="rect">
            <a:avLst/>
          </a:prstGeom>
          <a:solidFill>
            <a:schemeClr val="bg1"/>
          </a:solidFill>
        </p:spPr>
        <p:txBody>
          <a:bodyPr wrap="square" rtlCol="0">
            <a:spAutoFit/>
          </a:bodyPr>
          <a:lstStyle/>
          <a:p>
            <a:pPr algn="ctr"/>
            <a:r>
              <a:rPr lang="en-US" sz="1200" dirty="0"/>
              <a:t>Señal con crisis epiléptica</a:t>
            </a:r>
          </a:p>
        </p:txBody>
      </p:sp>
      <p:sp>
        <p:nvSpPr>
          <p:cNvPr id="33" name="CuadroTexto 32">
            <a:extLst>
              <a:ext uri="{FF2B5EF4-FFF2-40B4-BE49-F238E27FC236}">
                <a16:creationId xmlns:a16="http://schemas.microsoft.com/office/drawing/2014/main" id="{984D2E75-9E70-400B-8799-F1CCFF078EEE}"/>
              </a:ext>
            </a:extLst>
          </p:cNvPr>
          <p:cNvSpPr txBox="1"/>
          <p:nvPr/>
        </p:nvSpPr>
        <p:spPr>
          <a:xfrm>
            <a:off x="1343407" y="3498079"/>
            <a:ext cx="1979519" cy="276999"/>
          </a:xfrm>
          <a:prstGeom prst="rect">
            <a:avLst/>
          </a:prstGeom>
          <a:solidFill>
            <a:schemeClr val="bg1"/>
          </a:solidFill>
        </p:spPr>
        <p:txBody>
          <a:bodyPr wrap="square" rtlCol="0">
            <a:spAutoFit/>
          </a:bodyPr>
          <a:lstStyle/>
          <a:p>
            <a:pPr algn="ctr"/>
            <a:r>
              <a:rPr lang="en-US" sz="1200" dirty="0"/>
              <a:t>Señal sin crisis epiléptica</a:t>
            </a:r>
          </a:p>
        </p:txBody>
      </p:sp>
      <p:pic>
        <p:nvPicPr>
          <p:cNvPr id="43" name="Imagen 42" descr="Gráfico, Gráfico de líneas, Histograma&#10;&#10;Descripción generada automáticamente">
            <a:extLst>
              <a:ext uri="{FF2B5EF4-FFF2-40B4-BE49-F238E27FC236}">
                <a16:creationId xmlns:a16="http://schemas.microsoft.com/office/drawing/2014/main" id="{C5911FEC-F037-4B13-A1FA-2211B484F8C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66008" y="3675855"/>
            <a:ext cx="2596896" cy="1818285"/>
          </a:xfrm>
          <a:prstGeom prst="rect">
            <a:avLst/>
          </a:prstGeom>
        </p:spPr>
      </p:pic>
      <p:sp>
        <p:nvSpPr>
          <p:cNvPr id="18" name="CuadroTexto 17">
            <a:extLst>
              <a:ext uri="{FF2B5EF4-FFF2-40B4-BE49-F238E27FC236}">
                <a16:creationId xmlns:a16="http://schemas.microsoft.com/office/drawing/2014/main" id="{97F6929B-561F-4E9E-8F13-0CD5437F246C}"/>
              </a:ext>
            </a:extLst>
          </p:cNvPr>
          <p:cNvSpPr txBox="1"/>
          <p:nvPr/>
        </p:nvSpPr>
        <p:spPr>
          <a:xfrm>
            <a:off x="3885172" y="1133220"/>
            <a:ext cx="1766657" cy="276999"/>
          </a:xfrm>
          <a:prstGeom prst="rect">
            <a:avLst/>
          </a:prstGeom>
          <a:solidFill>
            <a:schemeClr val="bg1"/>
          </a:solidFill>
        </p:spPr>
        <p:txBody>
          <a:bodyPr wrap="square" rtlCol="0">
            <a:spAutoFit/>
          </a:bodyPr>
          <a:lstStyle/>
          <a:p>
            <a:pPr algn="ctr"/>
            <a:r>
              <a:rPr lang="en-US" sz="1200" dirty="0"/>
              <a:t>Cruces por cero</a:t>
            </a:r>
          </a:p>
        </p:txBody>
      </p:sp>
      <p:sp>
        <p:nvSpPr>
          <p:cNvPr id="19" name="CuadroTexto 18">
            <a:extLst>
              <a:ext uri="{FF2B5EF4-FFF2-40B4-BE49-F238E27FC236}">
                <a16:creationId xmlns:a16="http://schemas.microsoft.com/office/drawing/2014/main" id="{CB572D8E-5050-4E4B-9837-2E63ED9A2A53}"/>
              </a:ext>
            </a:extLst>
          </p:cNvPr>
          <p:cNvSpPr txBox="1"/>
          <p:nvPr/>
        </p:nvSpPr>
        <p:spPr>
          <a:xfrm>
            <a:off x="3956076" y="3429000"/>
            <a:ext cx="1766657" cy="276999"/>
          </a:xfrm>
          <a:prstGeom prst="rect">
            <a:avLst/>
          </a:prstGeom>
          <a:solidFill>
            <a:schemeClr val="bg1"/>
          </a:solidFill>
        </p:spPr>
        <p:txBody>
          <a:bodyPr wrap="square" rtlCol="0">
            <a:spAutoFit/>
          </a:bodyPr>
          <a:lstStyle/>
          <a:p>
            <a:pPr algn="ctr"/>
            <a:r>
              <a:rPr lang="en-US" sz="1200" dirty="0"/>
              <a:t>Cruces por cero</a:t>
            </a:r>
          </a:p>
        </p:txBody>
      </p:sp>
      <p:sp>
        <p:nvSpPr>
          <p:cNvPr id="20" name="CuadroTexto 19">
            <a:extLst>
              <a:ext uri="{FF2B5EF4-FFF2-40B4-BE49-F238E27FC236}">
                <a16:creationId xmlns:a16="http://schemas.microsoft.com/office/drawing/2014/main" id="{7426AA8E-3AC6-4171-8531-CC18A4B8CC02}"/>
              </a:ext>
            </a:extLst>
          </p:cNvPr>
          <p:cNvSpPr txBox="1"/>
          <p:nvPr/>
        </p:nvSpPr>
        <p:spPr>
          <a:xfrm>
            <a:off x="6660687" y="1111131"/>
            <a:ext cx="1766657" cy="276999"/>
          </a:xfrm>
          <a:prstGeom prst="rect">
            <a:avLst/>
          </a:prstGeom>
          <a:solidFill>
            <a:schemeClr val="bg1"/>
          </a:solidFill>
        </p:spPr>
        <p:txBody>
          <a:bodyPr wrap="square" rtlCol="0">
            <a:spAutoFit/>
          </a:bodyPr>
          <a:lstStyle/>
          <a:p>
            <a:pPr algn="ctr"/>
            <a:r>
              <a:rPr lang="en-US" sz="1200" dirty="0"/>
              <a:t>MAV</a:t>
            </a:r>
          </a:p>
        </p:txBody>
      </p:sp>
      <p:sp>
        <p:nvSpPr>
          <p:cNvPr id="22" name="CuadroTexto 21">
            <a:extLst>
              <a:ext uri="{FF2B5EF4-FFF2-40B4-BE49-F238E27FC236}">
                <a16:creationId xmlns:a16="http://schemas.microsoft.com/office/drawing/2014/main" id="{6923E4B0-5768-423A-B564-401AB48F0389}"/>
              </a:ext>
            </a:extLst>
          </p:cNvPr>
          <p:cNvSpPr txBox="1"/>
          <p:nvPr/>
        </p:nvSpPr>
        <p:spPr>
          <a:xfrm>
            <a:off x="6599688" y="3487752"/>
            <a:ext cx="1766657" cy="276999"/>
          </a:xfrm>
          <a:prstGeom prst="rect">
            <a:avLst/>
          </a:prstGeom>
          <a:solidFill>
            <a:schemeClr val="bg1"/>
          </a:solidFill>
        </p:spPr>
        <p:txBody>
          <a:bodyPr wrap="square" rtlCol="0">
            <a:spAutoFit/>
          </a:bodyPr>
          <a:lstStyle/>
          <a:p>
            <a:pPr algn="ctr"/>
            <a:r>
              <a:rPr lang="en-US" sz="1200" dirty="0"/>
              <a:t>MAV</a:t>
            </a:r>
          </a:p>
        </p:txBody>
      </p:sp>
      <p:sp>
        <p:nvSpPr>
          <p:cNvPr id="24" name="CuadroTexto 23">
            <a:extLst>
              <a:ext uri="{FF2B5EF4-FFF2-40B4-BE49-F238E27FC236}">
                <a16:creationId xmlns:a16="http://schemas.microsoft.com/office/drawing/2014/main" id="{18B65B19-EB74-4CB5-8DF1-736967972667}"/>
              </a:ext>
            </a:extLst>
          </p:cNvPr>
          <p:cNvSpPr txBox="1"/>
          <p:nvPr/>
        </p:nvSpPr>
        <p:spPr>
          <a:xfrm>
            <a:off x="9257583" y="1133219"/>
            <a:ext cx="1766657" cy="276999"/>
          </a:xfrm>
          <a:prstGeom prst="rect">
            <a:avLst/>
          </a:prstGeom>
          <a:solidFill>
            <a:schemeClr val="bg1"/>
          </a:solidFill>
        </p:spPr>
        <p:txBody>
          <a:bodyPr wrap="square" rtlCol="0">
            <a:spAutoFit/>
          </a:bodyPr>
          <a:lstStyle/>
          <a:p>
            <a:pPr algn="ctr"/>
            <a:r>
              <a:rPr lang="en-US" sz="1200" dirty="0"/>
              <a:t>Desviación estándar</a:t>
            </a:r>
          </a:p>
        </p:txBody>
      </p:sp>
      <p:sp>
        <p:nvSpPr>
          <p:cNvPr id="27" name="CuadroTexto 26">
            <a:extLst>
              <a:ext uri="{FF2B5EF4-FFF2-40B4-BE49-F238E27FC236}">
                <a16:creationId xmlns:a16="http://schemas.microsoft.com/office/drawing/2014/main" id="{5A14FE07-8345-4411-AF15-B02814C15E3C}"/>
              </a:ext>
            </a:extLst>
          </p:cNvPr>
          <p:cNvSpPr txBox="1"/>
          <p:nvPr/>
        </p:nvSpPr>
        <p:spPr>
          <a:xfrm>
            <a:off x="9257583" y="3429000"/>
            <a:ext cx="1766657" cy="276999"/>
          </a:xfrm>
          <a:prstGeom prst="rect">
            <a:avLst/>
          </a:prstGeom>
          <a:solidFill>
            <a:schemeClr val="bg1"/>
          </a:solidFill>
        </p:spPr>
        <p:txBody>
          <a:bodyPr wrap="square" rtlCol="0">
            <a:spAutoFit/>
          </a:bodyPr>
          <a:lstStyle/>
          <a:p>
            <a:pPr algn="ctr"/>
            <a:r>
              <a:rPr lang="en-US" sz="1200" dirty="0"/>
              <a:t>Desviación estándar</a:t>
            </a:r>
          </a:p>
        </p:txBody>
      </p:sp>
    </p:spTree>
    <p:extLst>
      <p:ext uri="{BB962C8B-B14F-4D97-AF65-F5344CB8AC3E}">
        <p14:creationId xmlns:p14="http://schemas.microsoft.com/office/powerpoint/2010/main" val="215045001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animBg="1"/>
      <p:bldP spid="24"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ángulo 19">
            <a:extLst>
              <a:ext uri="{FF2B5EF4-FFF2-40B4-BE49-F238E27FC236}">
                <a16:creationId xmlns:a16="http://schemas.microsoft.com/office/drawing/2014/main" id="{A56112F4-2A90-4DA6-8323-340FBE6707B6}"/>
              </a:ext>
            </a:extLst>
          </p:cNvPr>
          <p:cNvSpPr/>
          <p:nvPr/>
        </p:nvSpPr>
        <p:spPr>
          <a:xfrm rot="19016702">
            <a:off x="7366076" y="4041654"/>
            <a:ext cx="6936591" cy="3439167"/>
          </a:xfrm>
          <a:custGeom>
            <a:avLst/>
            <a:gdLst>
              <a:gd name="connsiteX0" fmla="*/ 0 w 6957470"/>
              <a:gd name="connsiteY0" fmla="*/ 0 h 4334006"/>
              <a:gd name="connsiteX1" fmla="*/ 6957470 w 6957470"/>
              <a:gd name="connsiteY1" fmla="*/ 0 h 4334006"/>
              <a:gd name="connsiteX2" fmla="*/ 6957470 w 6957470"/>
              <a:gd name="connsiteY2" fmla="*/ 4334006 h 4334006"/>
              <a:gd name="connsiteX3" fmla="*/ 0 w 6957470"/>
              <a:gd name="connsiteY3" fmla="*/ 4334006 h 4334006"/>
              <a:gd name="connsiteX4" fmla="*/ 0 w 6957470"/>
              <a:gd name="connsiteY4" fmla="*/ 0 h 4334006"/>
              <a:gd name="connsiteX0" fmla="*/ 0 w 6957470"/>
              <a:gd name="connsiteY0" fmla="*/ 0 h 4334006"/>
              <a:gd name="connsiteX1" fmla="*/ 6957470 w 6957470"/>
              <a:gd name="connsiteY1" fmla="*/ 0 h 4334006"/>
              <a:gd name="connsiteX2" fmla="*/ 6957470 w 6957470"/>
              <a:gd name="connsiteY2" fmla="*/ 4334006 h 4334006"/>
              <a:gd name="connsiteX3" fmla="*/ 2159359 w 6957470"/>
              <a:gd name="connsiteY3" fmla="*/ 2036779 h 4334006"/>
              <a:gd name="connsiteX4" fmla="*/ 0 w 6957470"/>
              <a:gd name="connsiteY4" fmla="*/ 0 h 4334006"/>
              <a:gd name="connsiteX0" fmla="*/ 0 w 6957470"/>
              <a:gd name="connsiteY0" fmla="*/ 0 h 4334006"/>
              <a:gd name="connsiteX1" fmla="*/ 6957470 w 6957470"/>
              <a:gd name="connsiteY1" fmla="*/ 0 h 4334006"/>
              <a:gd name="connsiteX2" fmla="*/ 6957470 w 6957470"/>
              <a:gd name="connsiteY2" fmla="*/ 4334006 h 4334006"/>
              <a:gd name="connsiteX3" fmla="*/ 2159359 w 6957470"/>
              <a:gd name="connsiteY3" fmla="*/ 2036779 h 4334006"/>
              <a:gd name="connsiteX4" fmla="*/ 0 w 6957470"/>
              <a:gd name="connsiteY4" fmla="*/ 0 h 4334006"/>
              <a:gd name="connsiteX0" fmla="*/ 0 w 6957470"/>
              <a:gd name="connsiteY0" fmla="*/ 0 h 3419659"/>
              <a:gd name="connsiteX1" fmla="*/ 6957470 w 6957470"/>
              <a:gd name="connsiteY1" fmla="*/ 0 h 3419659"/>
              <a:gd name="connsiteX2" fmla="*/ 3718619 w 6957470"/>
              <a:gd name="connsiteY2" fmla="*/ 3419659 h 3419659"/>
              <a:gd name="connsiteX3" fmla="*/ 2159359 w 6957470"/>
              <a:gd name="connsiteY3" fmla="*/ 2036779 h 3419659"/>
              <a:gd name="connsiteX4" fmla="*/ 0 w 6957470"/>
              <a:gd name="connsiteY4" fmla="*/ 0 h 3419659"/>
              <a:gd name="connsiteX0" fmla="*/ 0 w 6957470"/>
              <a:gd name="connsiteY0" fmla="*/ 0 h 3419659"/>
              <a:gd name="connsiteX1" fmla="*/ 6957470 w 6957470"/>
              <a:gd name="connsiteY1" fmla="*/ 0 h 3419659"/>
              <a:gd name="connsiteX2" fmla="*/ 3718619 w 6957470"/>
              <a:gd name="connsiteY2" fmla="*/ 3419659 h 3419659"/>
              <a:gd name="connsiteX3" fmla="*/ 2159359 w 6957470"/>
              <a:gd name="connsiteY3" fmla="*/ 2036779 h 3419659"/>
              <a:gd name="connsiteX4" fmla="*/ 0 w 6957470"/>
              <a:gd name="connsiteY4" fmla="*/ 0 h 3419659"/>
              <a:gd name="connsiteX0" fmla="*/ 0 w 6936591"/>
              <a:gd name="connsiteY0" fmla="*/ 19508 h 3439167"/>
              <a:gd name="connsiteX1" fmla="*/ 6936591 w 6936591"/>
              <a:gd name="connsiteY1" fmla="*/ 0 h 3439167"/>
              <a:gd name="connsiteX2" fmla="*/ 3718619 w 6936591"/>
              <a:gd name="connsiteY2" fmla="*/ 3439167 h 3439167"/>
              <a:gd name="connsiteX3" fmla="*/ 2159359 w 6936591"/>
              <a:gd name="connsiteY3" fmla="*/ 2056287 h 3439167"/>
              <a:gd name="connsiteX4" fmla="*/ 0 w 6936591"/>
              <a:gd name="connsiteY4" fmla="*/ 19508 h 3439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6591" h="3439167">
                <a:moveTo>
                  <a:pt x="0" y="19508"/>
                </a:moveTo>
                <a:lnTo>
                  <a:pt x="6936591" y="0"/>
                </a:lnTo>
                <a:lnTo>
                  <a:pt x="3718619" y="3439167"/>
                </a:lnTo>
                <a:cubicBezTo>
                  <a:pt x="2325609" y="2201421"/>
                  <a:pt x="3698984" y="3444053"/>
                  <a:pt x="2159359" y="2056287"/>
                </a:cubicBezTo>
                <a:lnTo>
                  <a:pt x="0" y="1950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ítulo 3">
            <a:extLst>
              <a:ext uri="{FF2B5EF4-FFF2-40B4-BE49-F238E27FC236}">
                <a16:creationId xmlns:a16="http://schemas.microsoft.com/office/drawing/2014/main" id="{E0406266-01AF-4C3B-9AD9-3B94B1D05029}"/>
              </a:ext>
            </a:extLst>
          </p:cNvPr>
          <p:cNvSpPr>
            <a:spLocks noGrp="1"/>
          </p:cNvSpPr>
          <p:nvPr>
            <p:ph type="title"/>
          </p:nvPr>
        </p:nvSpPr>
        <p:spPr>
          <a:xfrm>
            <a:off x="1206468" y="1488545"/>
            <a:ext cx="8621023" cy="910492"/>
          </a:xfrm>
        </p:spPr>
        <p:txBody>
          <a:bodyPr>
            <a:noAutofit/>
          </a:bodyPr>
          <a:lstStyle/>
          <a:p>
            <a:pPr algn="ctr"/>
            <a:r>
              <a:rPr lang="es-GT" sz="2800" dirty="0"/>
              <a:t>Aprendizaje</a:t>
            </a:r>
            <a:r>
              <a:rPr lang="en-US" sz="2800" dirty="0"/>
              <a:t> </a:t>
            </a:r>
            <a:r>
              <a:rPr lang="es-GT" sz="2800" dirty="0"/>
              <a:t>Supervisado: Clasificadores Binarios</a:t>
            </a:r>
          </a:p>
        </p:txBody>
      </p:sp>
      <p:grpSp>
        <p:nvGrpSpPr>
          <p:cNvPr id="4" name="Grupo 3">
            <a:extLst>
              <a:ext uri="{FF2B5EF4-FFF2-40B4-BE49-F238E27FC236}">
                <a16:creationId xmlns:a16="http://schemas.microsoft.com/office/drawing/2014/main" id="{6E523320-2E3E-4B75-9D66-487AE7689F96}"/>
              </a:ext>
            </a:extLst>
          </p:cNvPr>
          <p:cNvGrpSpPr/>
          <p:nvPr/>
        </p:nvGrpSpPr>
        <p:grpSpPr>
          <a:xfrm>
            <a:off x="1017794" y="2447720"/>
            <a:ext cx="2087150" cy="2368960"/>
            <a:chOff x="1175453" y="2069875"/>
            <a:chExt cx="1402393" cy="1555050"/>
          </a:xfrm>
        </p:grpSpPr>
        <p:sp>
          <p:nvSpPr>
            <p:cNvPr id="14" name="Rectángulo: esquinas redondeadas 13">
              <a:extLst>
                <a:ext uri="{FF2B5EF4-FFF2-40B4-BE49-F238E27FC236}">
                  <a16:creationId xmlns:a16="http://schemas.microsoft.com/office/drawing/2014/main" id="{2F20299F-7C64-4F0D-A279-FD2E1E884D8D}"/>
                </a:ext>
              </a:extLst>
            </p:cNvPr>
            <p:cNvSpPr/>
            <p:nvPr/>
          </p:nvSpPr>
          <p:spPr>
            <a:xfrm>
              <a:off x="1186708" y="2069875"/>
              <a:ext cx="1391138" cy="703135"/>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uadroTexto 14">
              <a:extLst>
                <a:ext uri="{FF2B5EF4-FFF2-40B4-BE49-F238E27FC236}">
                  <a16:creationId xmlns:a16="http://schemas.microsoft.com/office/drawing/2014/main" id="{372B0AD2-3B2A-4EE7-989B-7547E721BABE}"/>
                </a:ext>
              </a:extLst>
            </p:cNvPr>
            <p:cNvSpPr txBox="1"/>
            <p:nvPr/>
          </p:nvSpPr>
          <p:spPr>
            <a:xfrm>
              <a:off x="1175453" y="2181291"/>
              <a:ext cx="1391138" cy="424269"/>
            </a:xfrm>
            <a:prstGeom prst="rect">
              <a:avLst/>
            </a:prstGeom>
            <a:noFill/>
          </p:spPr>
          <p:txBody>
            <a:bodyPr wrap="square" rtlCol="0">
              <a:spAutoFit/>
            </a:bodyPr>
            <a:lstStyle/>
            <a:p>
              <a:pPr algn="ctr"/>
              <a:r>
                <a:rPr lang="en-US" dirty="0">
                  <a:latin typeface="Abadi Extra Light" panose="020B0204020104020204" pitchFamily="34" charset="0"/>
                </a:rPr>
                <a:t>Vector de </a:t>
              </a:r>
              <a:br>
                <a:rPr lang="en-US" dirty="0">
                  <a:latin typeface="Abadi Extra Light" panose="020B0204020104020204" pitchFamily="34" charset="0"/>
                </a:rPr>
              </a:br>
              <a:r>
                <a:rPr lang="en-US" dirty="0">
                  <a:latin typeface="Abadi Extra Light" panose="020B0204020104020204" pitchFamily="34" charset="0"/>
                </a:rPr>
                <a:t>Características</a:t>
              </a:r>
            </a:p>
          </p:txBody>
        </p:sp>
        <p:sp>
          <p:nvSpPr>
            <p:cNvPr id="36" name="Rectángulo: esquinas redondeadas 35">
              <a:extLst>
                <a:ext uri="{FF2B5EF4-FFF2-40B4-BE49-F238E27FC236}">
                  <a16:creationId xmlns:a16="http://schemas.microsoft.com/office/drawing/2014/main" id="{B0F93A1A-33B7-4738-B0DA-407188F75234}"/>
                </a:ext>
              </a:extLst>
            </p:cNvPr>
            <p:cNvSpPr/>
            <p:nvPr/>
          </p:nvSpPr>
          <p:spPr>
            <a:xfrm>
              <a:off x="1186708" y="2921790"/>
              <a:ext cx="1391138" cy="703135"/>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CuadroTexto 36">
              <a:extLst>
                <a:ext uri="{FF2B5EF4-FFF2-40B4-BE49-F238E27FC236}">
                  <a16:creationId xmlns:a16="http://schemas.microsoft.com/office/drawing/2014/main" id="{ACC8E6D4-BF61-4A01-9F55-542DB0ED183F}"/>
                </a:ext>
              </a:extLst>
            </p:cNvPr>
            <p:cNvSpPr txBox="1"/>
            <p:nvPr/>
          </p:nvSpPr>
          <p:spPr>
            <a:xfrm>
              <a:off x="1175453" y="3005462"/>
              <a:ext cx="1391138" cy="424269"/>
            </a:xfrm>
            <a:prstGeom prst="rect">
              <a:avLst/>
            </a:prstGeom>
            <a:noFill/>
          </p:spPr>
          <p:txBody>
            <a:bodyPr wrap="square" rtlCol="0">
              <a:spAutoFit/>
            </a:bodyPr>
            <a:lstStyle/>
            <a:p>
              <a:pPr algn="ctr"/>
              <a:r>
                <a:rPr lang="en-US" dirty="0">
                  <a:latin typeface="Abadi Extra Light" panose="020B0204020104020204" pitchFamily="34" charset="0"/>
                </a:rPr>
                <a:t>Vector de </a:t>
              </a:r>
              <a:br>
                <a:rPr lang="en-US" dirty="0">
                  <a:latin typeface="Abadi Extra Light" panose="020B0204020104020204" pitchFamily="34" charset="0"/>
                </a:rPr>
              </a:br>
              <a:r>
                <a:rPr lang="en-US" dirty="0" err="1">
                  <a:latin typeface="Abadi Extra Light" panose="020B0204020104020204" pitchFamily="34" charset="0"/>
                </a:rPr>
                <a:t>Etiquetas</a:t>
              </a:r>
              <a:endParaRPr lang="en-US" dirty="0">
                <a:latin typeface="Abadi Extra Light" panose="020B0204020104020204" pitchFamily="34" charset="0"/>
              </a:endParaRPr>
            </a:p>
          </p:txBody>
        </p:sp>
      </p:grpSp>
      <p:grpSp>
        <p:nvGrpSpPr>
          <p:cNvPr id="5" name="Grupo 4">
            <a:extLst>
              <a:ext uri="{FF2B5EF4-FFF2-40B4-BE49-F238E27FC236}">
                <a16:creationId xmlns:a16="http://schemas.microsoft.com/office/drawing/2014/main" id="{BF7AB4BB-6A02-4470-9A16-A8FBC69DCE6A}"/>
              </a:ext>
            </a:extLst>
          </p:cNvPr>
          <p:cNvGrpSpPr/>
          <p:nvPr/>
        </p:nvGrpSpPr>
        <p:grpSpPr>
          <a:xfrm>
            <a:off x="3333991" y="2586714"/>
            <a:ext cx="3943889" cy="1795871"/>
            <a:chOff x="3333991" y="2586714"/>
            <a:chExt cx="3943889" cy="1795871"/>
          </a:xfrm>
        </p:grpSpPr>
        <p:grpSp>
          <p:nvGrpSpPr>
            <p:cNvPr id="3" name="Grupo 2">
              <a:extLst>
                <a:ext uri="{FF2B5EF4-FFF2-40B4-BE49-F238E27FC236}">
                  <a16:creationId xmlns:a16="http://schemas.microsoft.com/office/drawing/2014/main" id="{F4A25215-839C-4007-925C-409ADFD7F064}"/>
                </a:ext>
              </a:extLst>
            </p:cNvPr>
            <p:cNvGrpSpPr/>
            <p:nvPr/>
          </p:nvGrpSpPr>
          <p:grpSpPr>
            <a:xfrm>
              <a:off x="3333991" y="2586714"/>
              <a:ext cx="2986721" cy="1795871"/>
              <a:chOff x="2749681" y="2218839"/>
              <a:chExt cx="2310987" cy="1100324"/>
            </a:xfrm>
          </p:grpSpPr>
          <p:sp>
            <p:nvSpPr>
              <p:cNvPr id="21" name="Flecha: a la derecha 20">
                <a:extLst>
                  <a:ext uri="{FF2B5EF4-FFF2-40B4-BE49-F238E27FC236}">
                    <a16:creationId xmlns:a16="http://schemas.microsoft.com/office/drawing/2014/main" id="{AE061678-6F7E-459C-B8CA-18AD849ED5BC}"/>
                  </a:ext>
                </a:extLst>
              </p:cNvPr>
              <p:cNvSpPr/>
              <p:nvPr/>
            </p:nvSpPr>
            <p:spPr>
              <a:xfrm>
                <a:off x="2749681" y="2633676"/>
                <a:ext cx="500449" cy="349410"/>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ángulo: esquinas redondeadas 37">
                <a:extLst>
                  <a:ext uri="{FF2B5EF4-FFF2-40B4-BE49-F238E27FC236}">
                    <a16:creationId xmlns:a16="http://schemas.microsoft.com/office/drawing/2014/main" id="{3C937DCD-5B6A-4578-9D76-B56189398256}"/>
                  </a:ext>
                </a:extLst>
              </p:cNvPr>
              <p:cNvSpPr/>
              <p:nvPr/>
            </p:nvSpPr>
            <p:spPr>
              <a:xfrm>
                <a:off x="3427356" y="2218839"/>
                <a:ext cx="1633312" cy="1100324"/>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CuadroTexto 38">
                <a:extLst>
                  <a:ext uri="{FF2B5EF4-FFF2-40B4-BE49-F238E27FC236}">
                    <a16:creationId xmlns:a16="http://schemas.microsoft.com/office/drawing/2014/main" id="{0C2757F4-94C4-45BE-9979-E990C846C04A}"/>
                  </a:ext>
                </a:extLst>
              </p:cNvPr>
              <p:cNvSpPr txBox="1"/>
              <p:nvPr/>
            </p:nvSpPr>
            <p:spPr>
              <a:xfrm>
                <a:off x="3486749" y="2302116"/>
                <a:ext cx="1504313" cy="396005"/>
              </a:xfrm>
              <a:prstGeom prst="rect">
                <a:avLst/>
              </a:prstGeom>
              <a:noFill/>
            </p:spPr>
            <p:txBody>
              <a:bodyPr wrap="square" rtlCol="0">
                <a:spAutoFit/>
              </a:bodyPr>
              <a:lstStyle/>
              <a:p>
                <a:pPr algn="ctr"/>
                <a:r>
                  <a:rPr lang="en-US" dirty="0" err="1">
                    <a:latin typeface="Abadi Extra Light" panose="020B0204020104020204" pitchFamily="34" charset="0"/>
                  </a:rPr>
                  <a:t>Clasificador</a:t>
                </a:r>
                <a:r>
                  <a:rPr lang="en-US" dirty="0">
                    <a:latin typeface="Abadi Extra Light" panose="020B0204020104020204" pitchFamily="34" charset="0"/>
                  </a:rPr>
                  <a:t> </a:t>
                </a:r>
                <a:br>
                  <a:rPr lang="en-US" dirty="0">
                    <a:latin typeface="Abadi Extra Light" panose="020B0204020104020204" pitchFamily="34" charset="0"/>
                  </a:rPr>
                </a:br>
                <a:r>
                  <a:rPr lang="en-US" dirty="0" err="1">
                    <a:latin typeface="Abadi Extra Light" panose="020B0204020104020204" pitchFamily="34" charset="0"/>
                  </a:rPr>
                  <a:t>binario</a:t>
                </a:r>
                <a:endParaRPr lang="en-US" dirty="0">
                  <a:latin typeface="Abadi Extra Light" panose="020B0204020104020204" pitchFamily="34" charset="0"/>
                </a:endParaRPr>
              </a:p>
            </p:txBody>
          </p:sp>
          <p:sp>
            <p:nvSpPr>
              <p:cNvPr id="40" name="CuadroTexto 39">
                <a:extLst>
                  <a:ext uri="{FF2B5EF4-FFF2-40B4-BE49-F238E27FC236}">
                    <a16:creationId xmlns:a16="http://schemas.microsoft.com/office/drawing/2014/main" id="{7E8784F5-51DF-4326-B3CE-67073BB93F39}"/>
                  </a:ext>
                </a:extLst>
              </p:cNvPr>
              <p:cNvSpPr txBox="1"/>
              <p:nvPr/>
            </p:nvSpPr>
            <p:spPr>
              <a:xfrm>
                <a:off x="3432557" y="2720636"/>
                <a:ext cx="1504313" cy="396005"/>
              </a:xfrm>
              <a:prstGeom prst="rect">
                <a:avLst/>
              </a:prstGeom>
              <a:noFill/>
            </p:spPr>
            <p:txBody>
              <a:bodyPr wrap="square" rtlCol="0">
                <a:spAutoFit/>
              </a:bodyPr>
              <a:lstStyle/>
              <a:p>
                <a:pPr marL="285750" indent="-285750" algn="ctr">
                  <a:buFont typeface="Arial" panose="020B0604020202020204" pitchFamily="34" charset="0"/>
                  <a:buChar char="•"/>
                </a:pPr>
                <a:r>
                  <a:rPr lang="en-US" dirty="0">
                    <a:latin typeface="Abadi Extra Light" panose="020B0204020104020204" pitchFamily="34" charset="0"/>
                  </a:rPr>
                  <a:t>SVM</a:t>
                </a:r>
              </a:p>
              <a:p>
                <a:pPr marL="285750" indent="-285750" algn="ctr">
                  <a:buFont typeface="Arial" panose="020B0604020202020204" pitchFamily="34" charset="0"/>
                  <a:buChar char="•"/>
                </a:pPr>
                <a:r>
                  <a:rPr lang="en-US" dirty="0">
                    <a:latin typeface="Abadi Extra Light" panose="020B0204020104020204" pitchFamily="34" charset="0"/>
                  </a:rPr>
                  <a:t>ANN</a:t>
                </a:r>
              </a:p>
            </p:txBody>
          </p:sp>
        </p:grpSp>
        <p:sp>
          <p:nvSpPr>
            <p:cNvPr id="41" name="Flecha: a la derecha 40">
              <a:extLst>
                <a:ext uri="{FF2B5EF4-FFF2-40B4-BE49-F238E27FC236}">
                  <a16:creationId xmlns:a16="http://schemas.microsoft.com/office/drawing/2014/main" id="{46B25039-49CD-45F5-8E71-08EA1CD1B8F0}"/>
                </a:ext>
              </a:extLst>
            </p:cNvPr>
            <p:cNvSpPr/>
            <p:nvPr/>
          </p:nvSpPr>
          <p:spPr>
            <a:xfrm>
              <a:off x="6640052" y="3232755"/>
              <a:ext cx="637828" cy="576999"/>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upo 5">
            <a:extLst>
              <a:ext uri="{FF2B5EF4-FFF2-40B4-BE49-F238E27FC236}">
                <a16:creationId xmlns:a16="http://schemas.microsoft.com/office/drawing/2014/main" id="{8D155EEA-EF8D-4E2F-9BF8-A6FAF9A7896D}"/>
              </a:ext>
            </a:extLst>
          </p:cNvPr>
          <p:cNvGrpSpPr/>
          <p:nvPr/>
        </p:nvGrpSpPr>
        <p:grpSpPr>
          <a:xfrm>
            <a:off x="7445753" y="2888165"/>
            <a:ext cx="2203185" cy="1026301"/>
            <a:chOff x="7445753" y="2888165"/>
            <a:chExt cx="2203185" cy="1026301"/>
          </a:xfrm>
        </p:grpSpPr>
        <p:sp>
          <p:nvSpPr>
            <p:cNvPr id="42" name="Rectángulo: esquinas redondeadas 41">
              <a:extLst>
                <a:ext uri="{FF2B5EF4-FFF2-40B4-BE49-F238E27FC236}">
                  <a16:creationId xmlns:a16="http://schemas.microsoft.com/office/drawing/2014/main" id="{531C83A0-073E-40FB-9894-E51B3282C798}"/>
                </a:ext>
              </a:extLst>
            </p:cNvPr>
            <p:cNvSpPr/>
            <p:nvPr/>
          </p:nvSpPr>
          <p:spPr>
            <a:xfrm>
              <a:off x="7445753" y="2888165"/>
              <a:ext cx="2203185" cy="1026301"/>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uadroTexto 42">
              <a:extLst>
                <a:ext uri="{FF2B5EF4-FFF2-40B4-BE49-F238E27FC236}">
                  <a16:creationId xmlns:a16="http://schemas.microsoft.com/office/drawing/2014/main" id="{AADABE95-420B-48FC-B450-324C0380D29B}"/>
                </a:ext>
              </a:extLst>
            </p:cNvPr>
            <p:cNvSpPr txBox="1"/>
            <p:nvPr/>
          </p:nvSpPr>
          <p:spPr>
            <a:xfrm>
              <a:off x="7567264" y="3033759"/>
              <a:ext cx="2081674" cy="646332"/>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Abadi Extra Light" panose="020B0204020104020204" pitchFamily="34" charset="0"/>
                </a:rPr>
                <a:t>Registro</a:t>
              </a:r>
              <a:r>
                <a:rPr lang="en-US" dirty="0">
                  <a:latin typeface="Abadi Extra Light" panose="020B0204020104020204" pitchFamily="34" charset="0"/>
                </a:rPr>
                <a:t> ictal</a:t>
              </a:r>
            </a:p>
            <a:p>
              <a:pPr marL="285750" indent="-285750">
                <a:buFont typeface="Arial" panose="020B0604020202020204" pitchFamily="34" charset="0"/>
                <a:buChar char="•"/>
              </a:pPr>
              <a:r>
                <a:rPr lang="en-US" dirty="0" err="1">
                  <a:latin typeface="Abadi Extra Light" panose="020B0204020104020204" pitchFamily="34" charset="0"/>
                </a:rPr>
                <a:t>Registro</a:t>
              </a:r>
              <a:r>
                <a:rPr lang="en-US" dirty="0">
                  <a:latin typeface="Abadi Extra Light" panose="020B0204020104020204" pitchFamily="34" charset="0"/>
                </a:rPr>
                <a:t> normal</a:t>
              </a:r>
            </a:p>
          </p:txBody>
        </p:sp>
      </p:grpSp>
      <p:sp>
        <p:nvSpPr>
          <p:cNvPr id="44" name="Título 3">
            <a:extLst>
              <a:ext uri="{FF2B5EF4-FFF2-40B4-BE49-F238E27FC236}">
                <a16:creationId xmlns:a16="http://schemas.microsoft.com/office/drawing/2014/main" id="{842AD6C3-05AF-44D3-9340-5B5D62F43878}"/>
              </a:ext>
            </a:extLst>
          </p:cNvPr>
          <p:cNvSpPr txBox="1">
            <a:spLocks/>
          </p:cNvSpPr>
          <p:nvPr/>
        </p:nvSpPr>
        <p:spPr>
          <a:xfrm>
            <a:off x="278214" y="212822"/>
            <a:ext cx="8621023" cy="9104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spc="-50" baseline="0">
                <a:solidFill>
                  <a:schemeClr val="tx1"/>
                </a:solidFill>
                <a:latin typeface="+mj-lt"/>
                <a:ea typeface="+mj-ea"/>
                <a:cs typeface="+mj-cs"/>
              </a:defRPr>
            </a:lvl1pPr>
          </a:lstStyle>
          <a:p>
            <a:r>
              <a:rPr lang="es-GT" sz="4000" dirty="0">
                <a:solidFill>
                  <a:srgbClr val="C5AE76"/>
                </a:solidFill>
              </a:rPr>
              <a:t>Aprendizaje</a:t>
            </a:r>
            <a:r>
              <a:rPr lang="en-US" sz="4000" dirty="0">
                <a:solidFill>
                  <a:srgbClr val="C5AE76"/>
                </a:solidFill>
              </a:rPr>
              <a:t> </a:t>
            </a:r>
            <a:r>
              <a:rPr lang="es-GT" sz="4000" dirty="0">
                <a:solidFill>
                  <a:srgbClr val="C5AE76"/>
                </a:solidFill>
              </a:rPr>
              <a:t>de máquina: Machine Learning</a:t>
            </a:r>
          </a:p>
        </p:txBody>
      </p:sp>
    </p:spTree>
    <p:extLst>
      <p:ext uri="{BB962C8B-B14F-4D97-AF65-F5344CB8AC3E}">
        <p14:creationId xmlns:p14="http://schemas.microsoft.com/office/powerpoint/2010/main" val="53467896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Marcador de contenido 9">
            <a:extLst>
              <a:ext uri="{FF2B5EF4-FFF2-40B4-BE49-F238E27FC236}">
                <a16:creationId xmlns:a16="http://schemas.microsoft.com/office/drawing/2014/main" id="{2A9DB34F-8693-41E2-A464-159E5A05376D}"/>
              </a:ext>
            </a:extLst>
          </p:cNvPr>
          <p:cNvSpPr txBox="1">
            <a:spLocks/>
          </p:cNvSpPr>
          <p:nvPr/>
        </p:nvSpPr>
        <p:spPr>
          <a:xfrm>
            <a:off x="510857" y="1475571"/>
            <a:ext cx="4845066" cy="1502883"/>
          </a:xfrm>
          <a:prstGeom prst="rect">
            <a:avLst/>
          </a:prstGeom>
        </p:spPr>
        <p:txBody>
          <a:bodyPr vert="horz" lIns="0" tIns="45720" rIns="0" bIns="45720" rtlCol="0">
            <a:normAutofit/>
          </a:bodyPr>
          <a:lstStyle>
            <a:lvl1pPr marL="182880" indent="-182880" algn="l" defTabSz="914400" rtl="0" eaLnBrk="1" latinLnBrk="0" hangingPunct="1">
              <a:lnSpc>
                <a:spcPct val="100000"/>
              </a:lnSpc>
              <a:spcBef>
                <a:spcPts val="1200"/>
              </a:spcBef>
              <a:spcAft>
                <a:spcPts val="200"/>
              </a:spcAft>
              <a:buClr>
                <a:srgbClr val="C5AE76"/>
              </a:buClr>
              <a:buSzPct val="100000"/>
              <a:buFont typeface="Arial" panose="020B0604020202020204" pitchFamily="34" charset="0"/>
              <a:buChar char="•"/>
              <a:defRPr sz="2000" kern="1200">
                <a:solidFill>
                  <a:schemeClr val="tx1">
                    <a:lumMod val="75000"/>
                    <a:lumOff val="25000"/>
                  </a:schemeClr>
                </a:solidFill>
                <a:latin typeface="+mj-lt"/>
                <a:ea typeface="+mn-ea"/>
                <a:cs typeface="+mn-cs"/>
              </a:defRPr>
            </a:lvl1pPr>
            <a:lvl2pPr marL="38404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800" kern="1200">
                <a:solidFill>
                  <a:schemeClr val="tx1">
                    <a:lumMod val="75000"/>
                    <a:lumOff val="25000"/>
                  </a:schemeClr>
                </a:solidFill>
                <a:latin typeface="+mj-lt"/>
                <a:ea typeface="+mn-ea"/>
                <a:cs typeface="+mn-cs"/>
              </a:defRPr>
            </a:lvl2pPr>
            <a:lvl3pPr marL="56692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3pPr>
            <a:lvl4pPr marL="74980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4pPr>
            <a:lvl5pPr marL="93268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MX" dirty="0">
                <a:solidFill>
                  <a:schemeClr val="tx1"/>
                </a:solidFill>
              </a:rPr>
              <a:t>Máquinas de Vectores de Soporte, SVM</a:t>
            </a:r>
          </a:p>
        </p:txBody>
      </p:sp>
      <p:sp>
        <p:nvSpPr>
          <p:cNvPr id="17" name="Marcador de contenido 9">
            <a:extLst>
              <a:ext uri="{FF2B5EF4-FFF2-40B4-BE49-F238E27FC236}">
                <a16:creationId xmlns:a16="http://schemas.microsoft.com/office/drawing/2014/main" id="{CA9A7422-5B6B-4484-BA6A-2D54EC6F553E}"/>
              </a:ext>
            </a:extLst>
          </p:cNvPr>
          <p:cNvSpPr txBox="1">
            <a:spLocks/>
          </p:cNvSpPr>
          <p:nvPr/>
        </p:nvSpPr>
        <p:spPr>
          <a:xfrm>
            <a:off x="6472181" y="1475571"/>
            <a:ext cx="4845066" cy="1502883"/>
          </a:xfrm>
          <a:prstGeom prst="rect">
            <a:avLst/>
          </a:prstGeom>
        </p:spPr>
        <p:txBody>
          <a:bodyPr vert="horz" lIns="0" tIns="45720" rIns="0" bIns="45720" rtlCol="0">
            <a:normAutofit/>
          </a:bodyPr>
          <a:lstStyle>
            <a:lvl1pPr marL="182880" indent="-182880" algn="l" defTabSz="914400" rtl="0" eaLnBrk="1" latinLnBrk="0" hangingPunct="1">
              <a:lnSpc>
                <a:spcPct val="100000"/>
              </a:lnSpc>
              <a:spcBef>
                <a:spcPts val="1200"/>
              </a:spcBef>
              <a:spcAft>
                <a:spcPts val="200"/>
              </a:spcAft>
              <a:buClr>
                <a:srgbClr val="C5AE76"/>
              </a:buClr>
              <a:buSzPct val="100000"/>
              <a:buFont typeface="Arial" panose="020B0604020202020204" pitchFamily="34" charset="0"/>
              <a:buChar char="•"/>
              <a:defRPr sz="2000" kern="1200">
                <a:solidFill>
                  <a:schemeClr val="tx1">
                    <a:lumMod val="75000"/>
                    <a:lumOff val="25000"/>
                  </a:schemeClr>
                </a:solidFill>
                <a:latin typeface="+mj-lt"/>
                <a:ea typeface="+mn-ea"/>
                <a:cs typeface="+mn-cs"/>
              </a:defRPr>
            </a:lvl1pPr>
            <a:lvl2pPr marL="38404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800" kern="1200">
                <a:solidFill>
                  <a:schemeClr val="tx1">
                    <a:lumMod val="75000"/>
                    <a:lumOff val="25000"/>
                  </a:schemeClr>
                </a:solidFill>
                <a:latin typeface="+mj-lt"/>
                <a:ea typeface="+mn-ea"/>
                <a:cs typeface="+mn-cs"/>
              </a:defRPr>
            </a:lvl2pPr>
            <a:lvl3pPr marL="56692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3pPr>
            <a:lvl4pPr marL="74980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4pPr>
            <a:lvl5pPr marL="93268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MX" dirty="0">
                <a:solidFill>
                  <a:schemeClr val="tx1"/>
                </a:solidFill>
              </a:rPr>
              <a:t>Redes Neuronales Artificiales, ANN</a:t>
            </a:r>
          </a:p>
        </p:txBody>
      </p:sp>
      <p:sp>
        <p:nvSpPr>
          <p:cNvPr id="20" name="Rectángulo 19">
            <a:extLst>
              <a:ext uri="{FF2B5EF4-FFF2-40B4-BE49-F238E27FC236}">
                <a16:creationId xmlns:a16="http://schemas.microsoft.com/office/drawing/2014/main" id="{A56112F4-2A90-4DA6-8323-340FBE6707B6}"/>
              </a:ext>
            </a:extLst>
          </p:cNvPr>
          <p:cNvSpPr/>
          <p:nvPr/>
        </p:nvSpPr>
        <p:spPr>
          <a:xfrm rot="19016702">
            <a:off x="7366076" y="4041654"/>
            <a:ext cx="6936591" cy="3439167"/>
          </a:xfrm>
          <a:custGeom>
            <a:avLst/>
            <a:gdLst>
              <a:gd name="connsiteX0" fmla="*/ 0 w 6957470"/>
              <a:gd name="connsiteY0" fmla="*/ 0 h 4334006"/>
              <a:gd name="connsiteX1" fmla="*/ 6957470 w 6957470"/>
              <a:gd name="connsiteY1" fmla="*/ 0 h 4334006"/>
              <a:gd name="connsiteX2" fmla="*/ 6957470 w 6957470"/>
              <a:gd name="connsiteY2" fmla="*/ 4334006 h 4334006"/>
              <a:gd name="connsiteX3" fmla="*/ 0 w 6957470"/>
              <a:gd name="connsiteY3" fmla="*/ 4334006 h 4334006"/>
              <a:gd name="connsiteX4" fmla="*/ 0 w 6957470"/>
              <a:gd name="connsiteY4" fmla="*/ 0 h 4334006"/>
              <a:gd name="connsiteX0" fmla="*/ 0 w 6957470"/>
              <a:gd name="connsiteY0" fmla="*/ 0 h 4334006"/>
              <a:gd name="connsiteX1" fmla="*/ 6957470 w 6957470"/>
              <a:gd name="connsiteY1" fmla="*/ 0 h 4334006"/>
              <a:gd name="connsiteX2" fmla="*/ 6957470 w 6957470"/>
              <a:gd name="connsiteY2" fmla="*/ 4334006 h 4334006"/>
              <a:gd name="connsiteX3" fmla="*/ 2159359 w 6957470"/>
              <a:gd name="connsiteY3" fmla="*/ 2036779 h 4334006"/>
              <a:gd name="connsiteX4" fmla="*/ 0 w 6957470"/>
              <a:gd name="connsiteY4" fmla="*/ 0 h 4334006"/>
              <a:gd name="connsiteX0" fmla="*/ 0 w 6957470"/>
              <a:gd name="connsiteY0" fmla="*/ 0 h 4334006"/>
              <a:gd name="connsiteX1" fmla="*/ 6957470 w 6957470"/>
              <a:gd name="connsiteY1" fmla="*/ 0 h 4334006"/>
              <a:gd name="connsiteX2" fmla="*/ 6957470 w 6957470"/>
              <a:gd name="connsiteY2" fmla="*/ 4334006 h 4334006"/>
              <a:gd name="connsiteX3" fmla="*/ 2159359 w 6957470"/>
              <a:gd name="connsiteY3" fmla="*/ 2036779 h 4334006"/>
              <a:gd name="connsiteX4" fmla="*/ 0 w 6957470"/>
              <a:gd name="connsiteY4" fmla="*/ 0 h 4334006"/>
              <a:gd name="connsiteX0" fmla="*/ 0 w 6957470"/>
              <a:gd name="connsiteY0" fmla="*/ 0 h 3419659"/>
              <a:gd name="connsiteX1" fmla="*/ 6957470 w 6957470"/>
              <a:gd name="connsiteY1" fmla="*/ 0 h 3419659"/>
              <a:gd name="connsiteX2" fmla="*/ 3718619 w 6957470"/>
              <a:gd name="connsiteY2" fmla="*/ 3419659 h 3419659"/>
              <a:gd name="connsiteX3" fmla="*/ 2159359 w 6957470"/>
              <a:gd name="connsiteY3" fmla="*/ 2036779 h 3419659"/>
              <a:gd name="connsiteX4" fmla="*/ 0 w 6957470"/>
              <a:gd name="connsiteY4" fmla="*/ 0 h 3419659"/>
              <a:gd name="connsiteX0" fmla="*/ 0 w 6957470"/>
              <a:gd name="connsiteY0" fmla="*/ 0 h 3419659"/>
              <a:gd name="connsiteX1" fmla="*/ 6957470 w 6957470"/>
              <a:gd name="connsiteY1" fmla="*/ 0 h 3419659"/>
              <a:gd name="connsiteX2" fmla="*/ 3718619 w 6957470"/>
              <a:gd name="connsiteY2" fmla="*/ 3419659 h 3419659"/>
              <a:gd name="connsiteX3" fmla="*/ 2159359 w 6957470"/>
              <a:gd name="connsiteY3" fmla="*/ 2036779 h 3419659"/>
              <a:gd name="connsiteX4" fmla="*/ 0 w 6957470"/>
              <a:gd name="connsiteY4" fmla="*/ 0 h 3419659"/>
              <a:gd name="connsiteX0" fmla="*/ 0 w 6936591"/>
              <a:gd name="connsiteY0" fmla="*/ 19508 h 3439167"/>
              <a:gd name="connsiteX1" fmla="*/ 6936591 w 6936591"/>
              <a:gd name="connsiteY1" fmla="*/ 0 h 3439167"/>
              <a:gd name="connsiteX2" fmla="*/ 3718619 w 6936591"/>
              <a:gd name="connsiteY2" fmla="*/ 3439167 h 3439167"/>
              <a:gd name="connsiteX3" fmla="*/ 2159359 w 6936591"/>
              <a:gd name="connsiteY3" fmla="*/ 2056287 h 3439167"/>
              <a:gd name="connsiteX4" fmla="*/ 0 w 6936591"/>
              <a:gd name="connsiteY4" fmla="*/ 19508 h 3439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6591" h="3439167">
                <a:moveTo>
                  <a:pt x="0" y="19508"/>
                </a:moveTo>
                <a:lnTo>
                  <a:pt x="6936591" y="0"/>
                </a:lnTo>
                <a:lnTo>
                  <a:pt x="3718619" y="3439167"/>
                </a:lnTo>
                <a:cubicBezTo>
                  <a:pt x="2325609" y="2201421"/>
                  <a:pt x="3698984" y="3444053"/>
                  <a:pt x="2159359" y="2056287"/>
                </a:cubicBezTo>
                <a:lnTo>
                  <a:pt x="0" y="1950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Imagen 21" descr="Gráfico, Gráfico de dispersión&#10;&#10;Descripción generada automáticamente">
            <a:extLst>
              <a:ext uri="{FF2B5EF4-FFF2-40B4-BE49-F238E27FC236}">
                <a16:creationId xmlns:a16="http://schemas.microsoft.com/office/drawing/2014/main" id="{5142C218-F325-45FD-BA70-77D8DA80B7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297" y="1986915"/>
            <a:ext cx="3021104" cy="2884170"/>
          </a:xfrm>
          <a:prstGeom prst="rect">
            <a:avLst/>
          </a:prstGeom>
        </p:spPr>
      </p:pic>
      <p:sp>
        <p:nvSpPr>
          <p:cNvPr id="23" name="Marcador de contenido 9">
            <a:extLst>
              <a:ext uri="{FF2B5EF4-FFF2-40B4-BE49-F238E27FC236}">
                <a16:creationId xmlns:a16="http://schemas.microsoft.com/office/drawing/2014/main" id="{145A08FB-DEC3-4F21-93B4-580A3D283E69}"/>
              </a:ext>
            </a:extLst>
          </p:cNvPr>
          <p:cNvSpPr txBox="1">
            <a:spLocks/>
          </p:cNvSpPr>
          <p:nvPr/>
        </p:nvSpPr>
        <p:spPr>
          <a:xfrm>
            <a:off x="814536" y="5257445"/>
            <a:ext cx="4845066" cy="1502883"/>
          </a:xfrm>
          <a:prstGeom prst="rect">
            <a:avLst/>
          </a:prstGeom>
        </p:spPr>
        <p:txBody>
          <a:bodyPr vert="horz" lIns="0" tIns="45720" rIns="0" bIns="45720" rtlCol="0">
            <a:normAutofit/>
          </a:bodyPr>
          <a:lstStyle>
            <a:lvl1pPr marL="182880" indent="-182880" algn="l" defTabSz="914400" rtl="0" eaLnBrk="1" latinLnBrk="0" hangingPunct="1">
              <a:lnSpc>
                <a:spcPct val="100000"/>
              </a:lnSpc>
              <a:spcBef>
                <a:spcPts val="1200"/>
              </a:spcBef>
              <a:spcAft>
                <a:spcPts val="200"/>
              </a:spcAft>
              <a:buClr>
                <a:srgbClr val="C5AE76"/>
              </a:buClr>
              <a:buSzPct val="100000"/>
              <a:buFont typeface="Arial" panose="020B0604020202020204" pitchFamily="34" charset="0"/>
              <a:buChar char="•"/>
              <a:defRPr sz="2000" kern="1200">
                <a:solidFill>
                  <a:schemeClr val="tx1">
                    <a:lumMod val="75000"/>
                    <a:lumOff val="25000"/>
                  </a:schemeClr>
                </a:solidFill>
                <a:latin typeface="+mj-lt"/>
                <a:ea typeface="+mn-ea"/>
                <a:cs typeface="+mn-cs"/>
              </a:defRPr>
            </a:lvl1pPr>
            <a:lvl2pPr marL="38404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800" kern="1200">
                <a:solidFill>
                  <a:schemeClr val="tx1">
                    <a:lumMod val="75000"/>
                    <a:lumOff val="25000"/>
                  </a:schemeClr>
                </a:solidFill>
                <a:latin typeface="+mj-lt"/>
                <a:ea typeface="+mn-ea"/>
                <a:cs typeface="+mn-cs"/>
              </a:defRPr>
            </a:lvl2pPr>
            <a:lvl3pPr marL="56692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3pPr>
            <a:lvl4pPr marL="74980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4pPr>
            <a:lvl5pPr marL="93268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à"/>
            </a:pPr>
            <a:r>
              <a:rPr lang="es-MX" dirty="0">
                <a:solidFill>
                  <a:schemeClr val="tx1"/>
                </a:solidFill>
                <a:sym typeface="Wingdings" panose="05000000000000000000" pitchFamily="2" charset="2"/>
              </a:rPr>
              <a:t>SVM lineal</a:t>
            </a:r>
          </a:p>
          <a:p>
            <a:pPr>
              <a:buFont typeface="Wingdings" panose="05000000000000000000" pitchFamily="2" charset="2"/>
              <a:buChar char="à"/>
            </a:pPr>
            <a:r>
              <a:rPr lang="es-MX" dirty="0">
                <a:solidFill>
                  <a:schemeClr val="tx1"/>
                </a:solidFill>
              </a:rPr>
              <a:t>SVM no lineal</a:t>
            </a:r>
          </a:p>
        </p:txBody>
      </p:sp>
      <p:sp>
        <p:nvSpPr>
          <p:cNvPr id="24" name="Marcador de contenido 9">
            <a:extLst>
              <a:ext uri="{FF2B5EF4-FFF2-40B4-BE49-F238E27FC236}">
                <a16:creationId xmlns:a16="http://schemas.microsoft.com/office/drawing/2014/main" id="{6696F304-8F49-4083-A2FA-4B25A398609F}"/>
              </a:ext>
            </a:extLst>
          </p:cNvPr>
          <p:cNvSpPr txBox="1">
            <a:spLocks/>
          </p:cNvSpPr>
          <p:nvPr/>
        </p:nvSpPr>
        <p:spPr>
          <a:xfrm>
            <a:off x="715297" y="4839677"/>
            <a:ext cx="2904548"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a:solidFill>
                  <a:schemeClr val="tx1"/>
                </a:solidFill>
              </a:rPr>
              <a:t>FIG 4: HIPERPLANO ÓPTIMO SVM [11].</a:t>
            </a:r>
          </a:p>
        </p:txBody>
      </p:sp>
      <p:pic>
        <p:nvPicPr>
          <p:cNvPr id="26" name="Imagen 25" descr="Diagrama&#10;&#10;Descripción generada automáticamente">
            <a:extLst>
              <a:ext uri="{FF2B5EF4-FFF2-40B4-BE49-F238E27FC236}">
                <a16:creationId xmlns:a16="http://schemas.microsoft.com/office/drawing/2014/main" id="{77DE58A8-3D13-4EBE-950F-E8149A0809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0364" y="2136935"/>
            <a:ext cx="3625684" cy="1958341"/>
          </a:xfrm>
          <a:prstGeom prst="rect">
            <a:avLst/>
          </a:prstGeom>
        </p:spPr>
      </p:pic>
      <p:sp>
        <p:nvSpPr>
          <p:cNvPr id="27" name="Marcador de contenido 9">
            <a:extLst>
              <a:ext uri="{FF2B5EF4-FFF2-40B4-BE49-F238E27FC236}">
                <a16:creationId xmlns:a16="http://schemas.microsoft.com/office/drawing/2014/main" id="{5A72E994-5E16-44D6-9148-314E4F068360}"/>
              </a:ext>
            </a:extLst>
          </p:cNvPr>
          <p:cNvSpPr txBox="1">
            <a:spLocks/>
          </p:cNvSpPr>
          <p:nvPr/>
        </p:nvSpPr>
        <p:spPr>
          <a:xfrm>
            <a:off x="6743356" y="4679113"/>
            <a:ext cx="4845066" cy="1502883"/>
          </a:xfrm>
          <a:prstGeom prst="rect">
            <a:avLst/>
          </a:prstGeom>
        </p:spPr>
        <p:txBody>
          <a:bodyPr vert="horz" lIns="0" tIns="45720" rIns="0" bIns="45720" rtlCol="0">
            <a:normAutofit/>
          </a:bodyPr>
          <a:lstStyle>
            <a:lvl1pPr marL="182880" indent="-182880" algn="l" defTabSz="914400" rtl="0" eaLnBrk="1" latinLnBrk="0" hangingPunct="1">
              <a:lnSpc>
                <a:spcPct val="100000"/>
              </a:lnSpc>
              <a:spcBef>
                <a:spcPts val="1200"/>
              </a:spcBef>
              <a:spcAft>
                <a:spcPts val="200"/>
              </a:spcAft>
              <a:buClr>
                <a:srgbClr val="C5AE76"/>
              </a:buClr>
              <a:buSzPct val="100000"/>
              <a:buFont typeface="Arial" panose="020B0604020202020204" pitchFamily="34" charset="0"/>
              <a:buChar char="•"/>
              <a:defRPr sz="2000" kern="1200">
                <a:solidFill>
                  <a:schemeClr val="tx1">
                    <a:lumMod val="75000"/>
                    <a:lumOff val="25000"/>
                  </a:schemeClr>
                </a:solidFill>
                <a:latin typeface="+mj-lt"/>
                <a:ea typeface="+mn-ea"/>
                <a:cs typeface="+mn-cs"/>
              </a:defRPr>
            </a:lvl1pPr>
            <a:lvl2pPr marL="38404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800" kern="1200">
                <a:solidFill>
                  <a:schemeClr val="tx1">
                    <a:lumMod val="75000"/>
                    <a:lumOff val="25000"/>
                  </a:schemeClr>
                </a:solidFill>
                <a:latin typeface="+mj-lt"/>
                <a:ea typeface="+mn-ea"/>
                <a:cs typeface="+mn-cs"/>
              </a:defRPr>
            </a:lvl2pPr>
            <a:lvl3pPr marL="56692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3pPr>
            <a:lvl4pPr marL="74980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4pPr>
            <a:lvl5pPr marL="932688" indent="-182880" algn="l"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tx1">
                    <a:lumMod val="75000"/>
                    <a:lumOff val="25000"/>
                  </a:schemeClr>
                </a:solidFill>
                <a:latin typeface="+mj-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à"/>
            </a:pPr>
            <a:r>
              <a:rPr lang="es-MX" dirty="0">
                <a:solidFill>
                  <a:schemeClr val="tx1"/>
                </a:solidFill>
                <a:sym typeface="Wingdings" panose="05000000000000000000" pitchFamily="2" charset="2"/>
              </a:rPr>
              <a:t>Capas de entrada</a:t>
            </a:r>
          </a:p>
          <a:p>
            <a:pPr>
              <a:buFont typeface="Wingdings" panose="05000000000000000000" pitchFamily="2" charset="2"/>
              <a:buChar char="à"/>
            </a:pPr>
            <a:r>
              <a:rPr lang="es-MX" dirty="0">
                <a:solidFill>
                  <a:schemeClr val="tx1"/>
                </a:solidFill>
              </a:rPr>
              <a:t>Capas ocultas</a:t>
            </a:r>
          </a:p>
          <a:p>
            <a:pPr>
              <a:buFont typeface="Wingdings" panose="05000000000000000000" pitchFamily="2" charset="2"/>
              <a:buChar char="à"/>
            </a:pPr>
            <a:r>
              <a:rPr lang="es-MX" dirty="0">
                <a:solidFill>
                  <a:schemeClr val="tx1"/>
                </a:solidFill>
              </a:rPr>
              <a:t>Capas de salida</a:t>
            </a:r>
          </a:p>
        </p:txBody>
      </p:sp>
      <p:sp>
        <p:nvSpPr>
          <p:cNvPr id="28" name="Marcador de contenido 9">
            <a:extLst>
              <a:ext uri="{FF2B5EF4-FFF2-40B4-BE49-F238E27FC236}">
                <a16:creationId xmlns:a16="http://schemas.microsoft.com/office/drawing/2014/main" id="{F90C2E39-4E74-4ED3-91E9-9EDE8E2D0135}"/>
              </a:ext>
            </a:extLst>
          </p:cNvPr>
          <p:cNvSpPr txBox="1">
            <a:spLocks/>
          </p:cNvSpPr>
          <p:nvPr/>
        </p:nvSpPr>
        <p:spPr>
          <a:xfrm>
            <a:off x="6430430" y="4088234"/>
            <a:ext cx="3748490"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a:solidFill>
                  <a:schemeClr val="tx1"/>
                </a:solidFill>
              </a:rPr>
              <a:t>FIG 5: ESTRUCTURA DE RED PERCEPTRÓN MULTICAPA [1]. </a:t>
            </a:r>
          </a:p>
        </p:txBody>
      </p:sp>
      <p:sp>
        <p:nvSpPr>
          <p:cNvPr id="12" name="Título 3">
            <a:extLst>
              <a:ext uri="{FF2B5EF4-FFF2-40B4-BE49-F238E27FC236}">
                <a16:creationId xmlns:a16="http://schemas.microsoft.com/office/drawing/2014/main" id="{E0406266-01AF-4C3B-9AD9-3B94B1D05029}"/>
              </a:ext>
            </a:extLst>
          </p:cNvPr>
          <p:cNvSpPr>
            <a:spLocks noGrp="1"/>
          </p:cNvSpPr>
          <p:nvPr>
            <p:ph type="title"/>
          </p:nvPr>
        </p:nvSpPr>
        <p:spPr>
          <a:xfrm>
            <a:off x="129112" y="371899"/>
            <a:ext cx="11432927" cy="910492"/>
          </a:xfrm>
        </p:spPr>
        <p:txBody>
          <a:bodyPr>
            <a:noAutofit/>
          </a:bodyPr>
          <a:lstStyle/>
          <a:p>
            <a:r>
              <a:rPr lang="es-GT" sz="4000" dirty="0">
                <a:solidFill>
                  <a:srgbClr val="C5AE76"/>
                </a:solidFill>
              </a:rPr>
              <a:t>Aprendizaje</a:t>
            </a:r>
            <a:r>
              <a:rPr lang="en-US" sz="4000" dirty="0">
                <a:solidFill>
                  <a:srgbClr val="C5AE76"/>
                </a:solidFill>
              </a:rPr>
              <a:t> </a:t>
            </a:r>
            <a:r>
              <a:rPr lang="es-GT" sz="4000" dirty="0">
                <a:solidFill>
                  <a:srgbClr val="C5AE76"/>
                </a:solidFill>
              </a:rPr>
              <a:t>Supervisado: Algoritmos de Clasificación</a:t>
            </a:r>
          </a:p>
        </p:txBody>
      </p:sp>
    </p:spTree>
    <p:extLst>
      <p:ext uri="{BB962C8B-B14F-4D97-AF65-F5344CB8AC3E}">
        <p14:creationId xmlns:p14="http://schemas.microsoft.com/office/powerpoint/2010/main" val="356298995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3" grpId="0"/>
      <p:bldP spid="24" grpId="0"/>
      <p:bldP spid="27"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8B98D-A943-4557-A450-06FD1E297F9C}"/>
              </a:ext>
            </a:extLst>
          </p:cNvPr>
          <p:cNvSpPr>
            <a:spLocks noGrp="1"/>
          </p:cNvSpPr>
          <p:nvPr>
            <p:ph type="title"/>
          </p:nvPr>
        </p:nvSpPr>
        <p:spPr>
          <a:xfrm>
            <a:off x="597273" y="923925"/>
            <a:ext cx="6020921" cy="910492"/>
          </a:xfrm>
        </p:spPr>
        <p:txBody>
          <a:bodyPr rtlCol="0" anchor="ctr">
            <a:normAutofit/>
          </a:bodyPr>
          <a:lstStyle/>
          <a:p>
            <a:pPr rtl="0"/>
            <a:r>
              <a:rPr lang="es-ES" dirty="0">
                <a:solidFill>
                  <a:srgbClr val="C5AE76"/>
                </a:solidFill>
              </a:rPr>
              <a:t>Diseño Experimental</a:t>
            </a:r>
          </a:p>
        </p:txBody>
      </p:sp>
      <p:sp>
        <p:nvSpPr>
          <p:cNvPr id="3" name="Rectángulo: esquinas redondeadas 2">
            <a:extLst>
              <a:ext uri="{FF2B5EF4-FFF2-40B4-BE49-F238E27FC236}">
                <a16:creationId xmlns:a16="http://schemas.microsoft.com/office/drawing/2014/main" id="{CB221CF3-2A86-4DE6-A5AA-D2E0912F2682}"/>
              </a:ext>
            </a:extLst>
          </p:cNvPr>
          <p:cNvSpPr/>
          <p:nvPr/>
        </p:nvSpPr>
        <p:spPr>
          <a:xfrm>
            <a:off x="811586" y="2260062"/>
            <a:ext cx="1706321" cy="1205978"/>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9" name="Rectángulo: esquinas redondeadas 8">
            <a:extLst>
              <a:ext uri="{FF2B5EF4-FFF2-40B4-BE49-F238E27FC236}">
                <a16:creationId xmlns:a16="http://schemas.microsoft.com/office/drawing/2014/main" id="{A2D58B0C-1895-444C-BC3D-85E415B830F6}"/>
              </a:ext>
            </a:extLst>
          </p:cNvPr>
          <p:cNvSpPr/>
          <p:nvPr/>
        </p:nvSpPr>
        <p:spPr>
          <a:xfrm>
            <a:off x="3121992" y="2377426"/>
            <a:ext cx="1569181" cy="706874"/>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Rectángulo: esquinas redondeadas 9">
            <a:extLst>
              <a:ext uri="{FF2B5EF4-FFF2-40B4-BE49-F238E27FC236}">
                <a16:creationId xmlns:a16="http://schemas.microsoft.com/office/drawing/2014/main" id="{81350148-0345-4A3B-9D7F-065DC9FFC529}"/>
              </a:ext>
            </a:extLst>
          </p:cNvPr>
          <p:cNvSpPr/>
          <p:nvPr/>
        </p:nvSpPr>
        <p:spPr>
          <a:xfrm>
            <a:off x="5282107" y="2260061"/>
            <a:ext cx="2310687" cy="1205977"/>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Flecha: a la derecha 3">
            <a:extLst>
              <a:ext uri="{FF2B5EF4-FFF2-40B4-BE49-F238E27FC236}">
                <a16:creationId xmlns:a16="http://schemas.microsoft.com/office/drawing/2014/main" id="{1204C44B-4BAE-4428-9A2D-FAFE95AD8FE5}"/>
              </a:ext>
            </a:extLst>
          </p:cNvPr>
          <p:cNvSpPr/>
          <p:nvPr/>
        </p:nvSpPr>
        <p:spPr>
          <a:xfrm>
            <a:off x="2594107" y="2555076"/>
            <a:ext cx="479394" cy="351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8" name="Flecha: a la derecha 17">
            <a:extLst>
              <a:ext uri="{FF2B5EF4-FFF2-40B4-BE49-F238E27FC236}">
                <a16:creationId xmlns:a16="http://schemas.microsoft.com/office/drawing/2014/main" id="{C8BA7E9E-DDBD-4699-A37C-271AD59D34E6}"/>
              </a:ext>
            </a:extLst>
          </p:cNvPr>
          <p:cNvSpPr/>
          <p:nvPr/>
        </p:nvSpPr>
        <p:spPr>
          <a:xfrm>
            <a:off x="4773627" y="2511476"/>
            <a:ext cx="479394" cy="351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1" name="Rectángulo: esquinas redondeadas 20">
            <a:extLst>
              <a:ext uri="{FF2B5EF4-FFF2-40B4-BE49-F238E27FC236}">
                <a16:creationId xmlns:a16="http://schemas.microsoft.com/office/drawing/2014/main" id="{231CEFBF-3E69-4649-A0D8-31CC7C6B968D}"/>
              </a:ext>
            </a:extLst>
          </p:cNvPr>
          <p:cNvSpPr/>
          <p:nvPr/>
        </p:nvSpPr>
        <p:spPr>
          <a:xfrm>
            <a:off x="5473058" y="2703542"/>
            <a:ext cx="952652" cy="414179"/>
          </a:xfrm>
          <a:prstGeom prst="roundRect">
            <a:avLst>
              <a:gd name="adj" fmla="val 1356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2" name="Rectángulo: esquinas redondeadas 21">
            <a:extLst>
              <a:ext uri="{FF2B5EF4-FFF2-40B4-BE49-F238E27FC236}">
                <a16:creationId xmlns:a16="http://schemas.microsoft.com/office/drawing/2014/main" id="{705A3A8C-4D5F-4B51-B20E-107E2060BF27}"/>
              </a:ext>
            </a:extLst>
          </p:cNvPr>
          <p:cNvSpPr/>
          <p:nvPr/>
        </p:nvSpPr>
        <p:spPr>
          <a:xfrm>
            <a:off x="6507222" y="2703541"/>
            <a:ext cx="952652" cy="414179"/>
          </a:xfrm>
          <a:prstGeom prst="roundRect">
            <a:avLst>
              <a:gd name="adj" fmla="val 1356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5" name="CuadroTexto 24">
            <a:extLst>
              <a:ext uri="{FF2B5EF4-FFF2-40B4-BE49-F238E27FC236}">
                <a16:creationId xmlns:a16="http://schemas.microsoft.com/office/drawing/2014/main" id="{0F11AE4E-BFDA-4A0E-B188-739C0A8F450D}"/>
              </a:ext>
            </a:extLst>
          </p:cNvPr>
          <p:cNvSpPr txBox="1"/>
          <p:nvPr/>
        </p:nvSpPr>
        <p:spPr>
          <a:xfrm>
            <a:off x="825925" y="2260061"/>
            <a:ext cx="1723219" cy="1169551"/>
          </a:xfrm>
          <a:prstGeom prst="rect">
            <a:avLst/>
          </a:prstGeom>
          <a:noFill/>
        </p:spPr>
        <p:txBody>
          <a:bodyPr wrap="square" rtlCol="0">
            <a:spAutoFit/>
          </a:bodyPr>
          <a:lstStyle/>
          <a:p>
            <a:r>
              <a:rPr lang="en-US" sz="1400" b="1" dirty="0">
                <a:latin typeface="Abadi Extra Light" panose="020B0204020104020204" pitchFamily="34" charset="0"/>
              </a:rPr>
              <a:t>Base de </a:t>
            </a:r>
            <a:r>
              <a:rPr lang="en-US" sz="1400" b="1" dirty="0" err="1">
                <a:latin typeface="Abadi Extra Light" panose="020B0204020104020204" pitchFamily="34" charset="0"/>
              </a:rPr>
              <a:t>Datos</a:t>
            </a:r>
            <a:r>
              <a:rPr lang="en-US" sz="1400" b="1" dirty="0">
                <a:latin typeface="Abadi Extra Light" panose="020B0204020104020204" pitchFamily="34" charset="0"/>
              </a:rPr>
              <a:t> EEG</a:t>
            </a:r>
            <a:br>
              <a:rPr lang="en-US" sz="1400" b="1" dirty="0">
                <a:latin typeface="Abadi Extra Light" panose="020B0204020104020204" pitchFamily="34" charset="0"/>
              </a:rPr>
            </a:br>
            <a:r>
              <a:rPr lang="en-US" sz="1400" b="1" dirty="0">
                <a:latin typeface="Abadi Extra Light" panose="020B0204020104020204" pitchFamily="34" charset="0"/>
              </a:rPr>
              <a:t>Normal/Ictal </a:t>
            </a:r>
            <a:br>
              <a:rPr lang="en-US" sz="600" b="1" dirty="0">
                <a:latin typeface="Abadi Extra Light" panose="020B0204020104020204" pitchFamily="34" charset="0"/>
              </a:rPr>
            </a:br>
            <a:br>
              <a:rPr lang="en-US" sz="1400" b="1" dirty="0">
                <a:latin typeface="Abadi Extra Light" panose="020B0204020104020204" pitchFamily="34" charset="0"/>
              </a:rPr>
            </a:br>
            <a:r>
              <a:rPr lang="en-US" sz="1400" b="1" dirty="0">
                <a:latin typeface="Abadi Extra Light" panose="020B0204020104020204" pitchFamily="34" charset="0"/>
              </a:rPr>
              <a:t>*CHB-MIT Scalp</a:t>
            </a:r>
            <a:br>
              <a:rPr lang="en-US" sz="1400" b="1" dirty="0">
                <a:latin typeface="Abadi Extra Light" panose="020B0204020104020204" pitchFamily="34" charset="0"/>
              </a:rPr>
            </a:br>
            <a:r>
              <a:rPr lang="en-US" sz="1400" b="1" dirty="0">
                <a:latin typeface="Abadi Extra Light" panose="020B0204020104020204" pitchFamily="34" charset="0"/>
              </a:rPr>
              <a:t>*</a:t>
            </a:r>
            <a:r>
              <a:rPr lang="en-US" sz="1400" b="1" dirty="0" err="1">
                <a:latin typeface="Abadi Extra Light" panose="020B0204020104020204" pitchFamily="34" charset="0"/>
              </a:rPr>
              <a:t>Ubonn</a:t>
            </a:r>
            <a:r>
              <a:rPr lang="en-US" sz="1400" b="1" dirty="0">
                <a:latin typeface="Abadi Extra Light" panose="020B0204020104020204" pitchFamily="34" charset="0"/>
              </a:rPr>
              <a:t> Dataset</a:t>
            </a:r>
          </a:p>
        </p:txBody>
      </p:sp>
      <p:sp>
        <p:nvSpPr>
          <p:cNvPr id="26" name="CuadroTexto 25">
            <a:extLst>
              <a:ext uri="{FF2B5EF4-FFF2-40B4-BE49-F238E27FC236}">
                <a16:creationId xmlns:a16="http://schemas.microsoft.com/office/drawing/2014/main" id="{E5E1DD02-7D90-4EF7-87E3-D392E77E703D}"/>
              </a:ext>
            </a:extLst>
          </p:cNvPr>
          <p:cNvSpPr txBox="1"/>
          <p:nvPr/>
        </p:nvSpPr>
        <p:spPr>
          <a:xfrm>
            <a:off x="3101372" y="2452596"/>
            <a:ext cx="1589801" cy="492443"/>
          </a:xfrm>
          <a:prstGeom prst="rect">
            <a:avLst/>
          </a:prstGeom>
          <a:noFill/>
        </p:spPr>
        <p:txBody>
          <a:bodyPr wrap="square" rtlCol="0">
            <a:spAutoFit/>
          </a:bodyPr>
          <a:lstStyle/>
          <a:p>
            <a:pPr algn="ctr"/>
            <a:r>
              <a:rPr lang="en-US" sz="1300" b="1" dirty="0" err="1">
                <a:latin typeface="Abadi Extra Light" panose="020B0204020104020204" pitchFamily="34" charset="0"/>
              </a:rPr>
              <a:t>Preprocesamiento</a:t>
            </a:r>
            <a:r>
              <a:rPr lang="en-US" sz="1300" b="1" dirty="0">
                <a:latin typeface="Abadi Extra Light" panose="020B0204020104020204" pitchFamily="34" charset="0"/>
              </a:rPr>
              <a:t> y</a:t>
            </a:r>
            <a:br>
              <a:rPr lang="en-US" sz="1300" b="1" dirty="0">
                <a:latin typeface="Abadi Extra Light" panose="020B0204020104020204" pitchFamily="34" charset="0"/>
              </a:rPr>
            </a:br>
            <a:r>
              <a:rPr lang="en-US" sz="1300" b="1" dirty="0" err="1">
                <a:latin typeface="Abadi Extra Light" panose="020B0204020104020204" pitchFamily="34" charset="0"/>
              </a:rPr>
              <a:t>Selección</a:t>
            </a:r>
            <a:r>
              <a:rPr lang="en-US" sz="1300" b="1" dirty="0">
                <a:latin typeface="Abadi Extra Light" panose="020B0204020104020204" pitchFamily="34" charset="0"/>
              </a:rPr>
              <a:t> de </a:t>
            </a:r>
            <a:r>
              <a:rPr lang="en-US" sz="1300" b="1" dirty="0" err="1">
                <a:latin typeface="Abadi Extra Light" panose="020B0204020104020204" pitchFamily="34" charset="0"/>
              </a:rPr>
              <a:t>Señales</a:t>
            </a:r>
            <a:endParaRPr lang="en-US" sz="1300" b="1" dirty="0">
              <a:latin typeface="Abadi Extra Light" panose="020B0204020104020204" pitchFamily="34" charset="0"/>
            </a:endParaRPr>
          </a:p>
        </p:txBody>
      </p:sp>
      <p:sp>
        <p:nvSpPr>
          <p:cNvPr id="27" name="CuadroTexto 26">
            <a:extLst>
              <a:ext uri="{FF2B5EF4-FFF2-40B4-BE49-F238E27FC236}">
                <a16:creationId xmlns:a16="http://schemas.microsoft.com/office/drawing/2014/main" id="{160A1DB4-438B-4A78-BE5C-4147E14FC5E4}"/>
              </a:ext>
            </a:extLst>
          </p:cNvPr>
          <p:cNvSpPr txBox="1"/>
          <p:nvPr/>
        </p:nvSpPr>
        <p:spPr>
          <a:xfrm>
            <a:off x="5363613" y="2359037"/>
            <a:ext cx="2294687" cy="292388"/>
          </a:xfrm>
          <a:prstGeom prst="rect">
            <a:avLst/>
          </a:prstGeom>
          <a:noFill/>
        </p:spPr>
        <p:txBody>
          <a:bodyPr wrap="square" rtlCol="0">
            <a:spAutoFit/>
          </a:bodyPr>
          <a:lstStyle/>
          <a:p>
            <a:r>
              <a:rPr lang="en-US" sz="1300" b="1" dirty="0">
                <a:latin typeface="Abadi Extra Light" panose="020B0204020104020204" pitchFamily="34" charset="0"/>
              </a:rPr>
              <a:t>Extracción de Características</a:t>
            </a:r>
          </a:p>
        </p:txBody>
      </p:sp>
      <p:sp>
        <p:nvSpPr>
          <p:cNvPr id="33" name="CuadroTexto 32">
            <a:extLst>
              <a:ext uri="{FF2B5EF4-FFF2-40B4-BE49-F238E27FC236}">
                <a16:creationId xmlns:a16="http://schemas.microsoft.com/office/drawing/2014/main" id="{F15FD607-573A-499C-A83E-DB4B92560465}"/>
              </a:ext>
            </a:extLst>
          </p:cNvPr>
          <p:cNvSpPr txBox="1"/>
          <p:nvPr/>
        </p:nvSpPr>
        <p:spPr>
          <a:xfrm>
            <a:off x="5455168" y="2702401"/>
            <a:ext cx="1007091" cy="430887"/>
          </a:xfrm>
          <a:prstGeom prst="rect">
            <a:avLst/>
          </a:prstGeom>
          <a:noFill/>
        </p:spPr>
        <p:txBody>
          <a:bodyPr wrap="square" rtlCol="0">
            <a:spAutoFit/>
          </a:bodyPr>
          <a:lstStyle/>
          <a:p>
            <a:pPr algn="ctr"/>
            <a:r>
              <a:rPr lang="es-GT" sz="1100" b="1" dirty="0">
                <a:latin typeface="Abadi Extra Light" panose="020B0204020104020204" pitchFamily="34" charset="0"/>
              </a:rPr>
              <a:t>Dominio del</a:t>
            </a:r>
            <a:br>
              <a:rPr lang="es-GT" sz="1100" b="1" dirty="0">
                <a:latin typeface="Abadi Extra Light" panose="020B0204020104020204" pitchFamily="34" charset="0"/>
              </a:rPr>
            </a:br>
            <a:r>
              <a:rPr lang="es-GT" sz="1100" b="1" dirty="0">
                <a:latin typeface="Abadi Extra Light" panose="020B0204020104020204" pitchFamily="34" charset="0"/>
              </a:rPr>
              <a:t>Tiempo</a:t>
            </a:r>
          </a:p>
        </p:txBody>
      </p:sp>
      <p:sp>
        <p:nvSpPr>
          <p:cNvPr id="34" name="CuadroTexto 33">
            <a:extLst>
              <a:ext uri="{FF2B5EF4-FFF2-40B4-BE49-F238E27FC236}">
                <a16:creationId xmlns:a16="http://schemas.microsoft.com/office/drawing/2014/main" id="{52499FFB-9377-4C35-AFE3-1D6906F381FE}"/>
              </a:ext>
            </a:extLst>
          </p:cNvPr>
          <p:cNvSpPr txBox="1"/>
          <p:nvPr/>
        </p:nvSpPr>
        <p:spPr>
          <a:xfrm>
            <a:off x="6465157" y="2698818"/>
            <a:ext cx="1007091" cy="430887"/>
          </a:xfrm>
          <a:prstGeom prst="rect">
            <a:avLst/>
          </a:prstGeom>
          <a:noFill/>
        </p:spPr>
        <p:txBody>
          <a:bodyPr wrap="square" rtlCol="0">
            <a:spAutoFit/>
          </a:bodyPr>
          <a:lstStyle/>
          <a:p>
            <a:pPr algn="ctr"/>
            <a:r>
              <a:rPr lang="es-GT" sz="1100" b="1" dirty="0">
                <a:latin typeface="Abadi Extra Light" panose="020B0204020104020204" pitchFamily="34" charset="0"/>
              </a:rPr>
              <a:t>Características</a:t>
            </a:r>
            <a:br>
              <a:rPr lang="es-GT" sz="1100" b="1" dirty="0">
                <a:latin typeface="Abadi Extra Light" panose="020B0204020104020204" pitchFamily="34" charset="0"/>
              </a:rPr>
            </a:br>
            <a:r>
              <a:rPr lang="es-GT" sz="1100" b="1" dirty="0">
                <a:latin typeface="Abadi Extra Light" panose="020B0204020104020204" pitchFamily="34" charset="0"/>
              </a:rPr>
              <a:t>Wavelet</a:t>
            </a:r>
          </a:p>
        </p:txBody>
      </p:sp>
    </p:spTree>
    <p:extLst>
      <p:ext uri="{BB962C8B-B14F-4D97-AF65-F5344CB8AC3E}">
        <p14:creationId xmlns:p14="http://schemas.microsoft.com/office/powerpoint/2010/main" val="182831316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4" grpId="0" animBg="1"/>
      <p:bldP spid="18" grpId="0" animBg="1"/>
      <p:bldP spid="21" grpId="0" animBg="1"/>
      <p:bldP spid="22" grpId="0" animBg="1"/>
      <p:bldP spid="25" grpId="0"/>
      <p:bldP spid="26" grpId="0"/>
      <p:bldP spid="27" grpId="0"/>
      <p:bldP spid="33" grpId="0"/>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623DBC43-2FBF-624E-ADB3-BA3583AE3449}"/>
              </a:ext>
            </a:extLst>
          </p:cNvPr>
          <p:cNvSpPr>
            <a:spLocks noGrp="1"/>
          </p:cNvSpPr>
          <p:nvPr>
            <p:ph type="body" idx="1"/>
          </p:nvPr>
        </p:nvSpPr>
        <p:spPr/>
        <p:txBody>
          <a:bodyPr rtlCol="0"/>
          <a:lstStyle/>
          <a:p>
            <a:pPr rtl="0"/>
            <a:r>
              <a:rPr lang="es" dirty="0"/>
              <a:t>ANÁLISIS DIRECTO</a:t>
            </a:r>
          </a:p>
        </p:txBody>
      </p:sp>
      <p:sp>
        <p:nvSpPr>
          <p:cNvPr id="5" name="Marcador de texto 4">
            <a:extLst>
              <a:ext uri="{FF2B5EF4-FFF2-40B4-BE49-F238E27FC236}">
                <a16:creationId xmlns:a16="http://schemas.microsoft.com/office/drawing/2014/main" id="{F06F519B-5706-804A-8C82-1D9EDAA812F9}"/>
              </a:ext>
            </a:extLst>
          </p:cNvPr>
          <p:cNvSpPr>
            <a:spLocks noGrp="1"/>
          </p:cNvSpPr>
          <p:nvPr>
            <p:ph type="body" idx="13"/>
          </p:nvPr>
        </p:nvSpPr>
        <p:spPr/>
        <p:txBody>
          <a:bodyPr rtlCol="0"/>
          <a:lstStyle/>
          <a:p>
            <a:pPr rtl="0"/>
            <a:r>
              <a:rPr lang="es" dirty="0"/>
              <a:t>ANÁLISIS WAVELET</a:t>
            </a:r>
          </a:p>
        </p:txBody>
      </p:sp>
      <p:sp>
        <p:nvSpPr>
          <p:cNvPr id="2" name="Título 1">
            <a:extLst>
              <a:ext uri="{FF2B5EF4-FFF2-40B4-BE49-F238E27FC236}">
                <a16:creationId xmlns:a16="http://schemas.microsoft.com/office/drawing/2014/main" id="{DDA2F4C6-F233-E149-AA45-4C25835FC4B7}"/>
              </a:ext>
            </a:extLst>
          </p:cNvPr>
          <p:cNvSpPr>
            <a:spLocks noGrp="1"/>
          </p:cNvSpPr>
          <p:nvPr>
            <p:ph type="title"/>
          </p:nvPr>
        </p:nvSpPr>
        <p:spPr>
          <a:xfrm>
            <a:off x="645125" y="833133"/>
            <a:ext cx="7232050" cy="910492"/>
          </a:xfrm>
        </p:spPr>
        <p:txBody>
          <a:bodyPr rtlCol="0">
            <a:normAutofit/>
          </a:bodyPr>
          <a:lstStyle/>
          <a:p>
            <a:pPr rtl="0"/>
            <a:r>
              <a:rPr lang="es" dirty="0">
                <a:solidFill>
                  <a:srgbClr val="C5AE76"/>
                </a:solidFill>
              </a:rPr>
              <a:t>Extracción de Características</a:t>
            </a:r>
          </a:p>
        </p:txBody>
      </p:sp>
      <p:sp>
        <p:nvSpPr>
          <p:cNvPr id="4" name="Rectángulo: esquinas redondeadas 3">
            <a:extLst>
              <a:ext uri="{FF2B5EF4-FFF2-40B4-BE49-F238E27FC236}">
                <a16:creationId xmlns:a16="http://schemas.microsoft.com/office/drawing/2014/main" id="{0C82CD74-355D-434F-81CA-5138FF0FEAF6}"/>
              </a:ext>
            </a:extLst>
          </p:cNvPr>
          <p:cNvSpPr/>
          <p:nvPr/>
        </p:nvSpPr>
        <p:spPr>
          <a:xfrm>
            <a:off x="762000" y="3257551"/>
            <a:ext cx="1428750" cy="819150"/>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6E8B18A-47F8-4695-83FF-9DFEE6D8EB3D}"/>
              </a:ext>
            </a:extLst>
          </p:cNvPr>
          <p:cNvSpPr txBox="1"/>
          <p:nvPr/>
        </p:nvSpPr>
        <p:spPr>
          <a:xfrm>
            <a:off x="762000" y="3374738"/>
            <a:ext cx="1428750" cy="584775"/>
          </a:xfrm>
          <a:prstGeom prst="rect">
            <a:avLst/>
          </a:prstGeom>
          <a:noFill/>
        </p:spPr>
        <p:txBody>
          <a:bodyPr wrap="square" rtlCol="0">
            <a:spAutoFit/>
          </a:bodyPr>
          <a:lstStyle/>
          <a:p>
            <a:pPr algn="ctr"/>
            <a:r>
              <a:rPr lang="en-US" sz="1600" dirty="0"/>
              <a:t>Señal EEG </a:t>
            </a:r>
            <a:br>
              <a:rPr lang="en-US" sz="1600" dirty="0"/>
            </a:br>
            <a:r>
              <a:rPr lang="en-US" sz="1600" dirty="0"/>
              <a:t>Enventanada</a:t>
            </a:r>
          </a:p>
        </p:txBody>
      </p:sp>
      <p:sp>
        <p:nvSpPr>
          <p:cNvPr id="11" name="Flecha: a la derecha 10">
            <a:extLst>
              <a:ext uri="{FF2B5EF4-FFF2-40B4-BE49-F238E27FC236}">
                <a16:creationId xmlns:a16="http://schemas.microsoft.com/office/drawing/2014/main" id="{57DE8ECC-8454-400F-95FB-392AFA6B2115}"/>
              </a:ext>
            </a:extLst>
          </p:cNvPr>
          <p:cNvSpPr/>
          <p:nvPr/>
        </p:nvSpPr>
        <p:spPr>
          <a:xfrm>
            <a:off x="2257425" y="3478068"/>
            <a:ext cx="619125" cy="378113"/>
          </a:xfrm>
          <a:prstGeom prst="rightArrow">
            <a:avLst/>
          </a:prstGeom>
          <a:solidFill>
            <a:srgbClr val="C5AE7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esquinas redondeadas 11">
            <a:extLst>
              <a:ext uri="{FF2B5EF4-FFF2-40B4-BE49-F238E27FC236}">
                <a16:creationId xmlns:a16="http://schemas.microsoft.com/office/drawing/2014/main" id="{F97ADE14-28E9-4F2E-A147-94F31CB37B8C}"/>
              </a:ext>
            </a:extLst>
          </p:cNvPr>
          <p:cNvSpPr/>
          <p:nvPr/>
        </p:nvSpPr>
        <p:spPr>
          <a:xfrm>
            <a:off x="2964992" y="3257549"/>
            <a:ext cx="2178507" cy="2333626"/>
          </a:xfrm>
          <a:prstGeom prst="roundRect">
            <a:avLst>
              <a:gd name="adj" fmla="val 11928"/>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adroTexto 12">
            <a:extLst>
              <a:ext uri="{FF2B5EF4-FFF2-40B4-BE49-F238E27FC236}">
                <a16:creationId xmlns:a16="http://schemas.microsoft.com/office/drawing/2014/main" id="{1053C825-8F0E-48EC-B847-47DC069B78A0}"/>
              </a:ext>
            </a:extLst>
          </p:cNvPr>
          <p:cNvSpPr txBox="1"/>
          <p:nvPr/>
        </p:nvSpPr>
        <p:spPr>
          <a:xfrm>
            <a:off x="2998435" y="3271406"/>
            <a:ext cx="2111620" cy="584775"/>
          </a:xfrm>
          <a:prstGeom prst="rect">
            <a:avLst/>
          </a:prstGeom>
          <a:noFill/>
        </p:spPr>
        <p:txBody>
          <a:bodyPr wrap="square" rtlCol="0">
            <a:spAutoFit/>
          </a:bodyPr>
          <a:lstStyle/>
          <a:p>
            <a:pPr algn="ctr"/>
            <a:r>
              <a:rPr lang="en-US" sz="1600" dirty="0"/>
              <a:t>Calcular características del </a:t>
            </a:r>
            <a:r>
              <a:rPr lang="es-GT" sz="1600" dirty="0"/>
              <a:t>dominio</a:t>
            </a:r>
            <a:r>
              <a:rPr lang="en-US" sz="1600" dirty="0"/>
              <a:t> del tiempo</a:t>
            </a:r>
          </a:p>
        </p:txBody>
      </p:sp>
      <p:sp>
        <p:nvSpPr>
          <p:cNvPr id="6" name="Rectángulo: esquinas redondeadas 5">
            <a:extLst>
              <a:ext uri="{FF2B5EF4-FFF2-40B4-BE49-F238E27FC236}">
                <a16:creationId xmlns:a16="http://schemas.microsoft.com/office/drawing/2014/main" id="{3EB4946D-3485-4B24-9669-80BA14528A41}"/>
              </a:ext>
            </a:extLst>
          </p:cNvPr>
          <p:cNvSpPr/>
          <p:nvPr/>
        </p:nvSpPr>
        <p:spPr>
          <a:xfrm>
            <a:off x="3225095" y="3931083"/>
            <a:ext cx="1613605" cy="298017"/>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uadroTexto 13">
            <a:extLst>
              <a:ext uri="{FF2B5EF4-FFF2-40B4-BE49-F238E27FC236}">
                <a16:creationId xmlns:a16="http://schemas.microsoft.com/office/drawing/2014/main" id="{DD0A381F-9B4F-4162-86AB-E1572ED742FB}"/>
              </a:ext>
            </a:extLst>
          </p:cNvPr>
          <p:cNvSpPr txBox="1"/>
          <p:nvPr/>
        </p:nvSpPr>
        <p:spPr>
          <a:xfrm>
            <a:off x="3225095" y="3910066"/>
            <a:ext cx="1520121" cy="307777"/>
          </a:xfrm>
          <a:prstGeom prst="rect">
            <a:avLst/>
          </a:prstGeom>
          <a:noFill/>
        </p:spPr>
        <p:txBody>
          <a:bodyPr wrap="square" rtlCol="0">
            <a:spAutoFit/>
          </a:bodyPr>
          <a:lstStyle/>
          <a:p>
            <a:pPr algn="ctr"/>
            <a:r>
              <a:rPr lang="en-US" sz="1400" dirty="0"/>
              <a:t>Cruces por cero</a:t>
            </a:r>
          </a:p>
        </p:txBody>
      </p:sp>
      <p:sp>
        <p:nvSpPr>
          <p:cNvPr id="15" name="Rectángulo: esquinas redondeadas 14">
            <a:extLst>
              <a:ext uri="{FF2B5EF4-FFF2-40B4-BE49-F238E27FC236}">
                <a16:creationId xmlns:a16="http://schemas.microsoft.com/office/drawing/2014/main" id="{8156495B-D9AE-4414-8CA6-DF75A935C253}"/>
              </a:ext>
            </a:extLst>
          </p:cNvPr>
          <p:cNvSpPr/>
          <p:nvPr/>
        </p:nvSpPr>
        <p:spPr>
          <a:xfrm>
            <a:off x="3225095" y="4325490"/>
            <a:ext cx="1613605" cy="298017"/>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uadroTexto 15">
            <a:extLst>
              <a:ext uri="{FF2B5EF4-FFF2-40B4-BE49-F238E27FC236}">
                <a16:creationId xmlns:a16="http://schemas.microsoft.com/office/drawing/2014/main" id="{C715B40E-4185-4F9F-8B9C-7A4984DC593C}"/>
              </a:ext>
            </a:extLst>
          </p:cNvPr>
          <p:cNvSpPr txBox="1"/>
          <p:nvPr/>
        </p:nvSpPr>
        <p:spPr>
          <a:xfrm>
            <a:off x="3028474" y="4313997"/>
            <a:ext cx="2006846" cy="307777"/>
          </a:xfrm>
          <a:prstGeom prst="rect">
            <a:avLst/>
          </a:prstGeom>
          <a:noFill/>
        </p:spPr>
        <p:txBody>
          <a:bodyPr wrap="square" rtlCol="0">
            <a:spAutoFit/>
          </a:bodyPr>
          <a:lstStyle/>
          <a:p>
            <a:pPr algn="ctr"/>
            <a:r>
              <a:rPr lang="en-US" sz="1400" dirty="0"/>
              <a:t>Valor medio absoluto</a:t>
            </a:r>
          </a:p>
        </p:txBody>
      </p:sp>
      <p:sp>
        <p:nvSpPr>
          <p:cNvPr id="17" name="Rectángulo: esquinas redondeadas 16">
            <a:extLst>
              <a:ext uri="{FF2B5EF4-FFF2-40B4-BE49-F238E27FC236}">
                <a16:creationId xmlns:a16="http://schemas.microsoft.com/office/drawing/2014/main" id="{6C6E1A31-AFE2-4006-B665-E21E5962FB22}"/>
              </a:ext>
            </a:extLst>
          </p:cNvPr>
          <p:cNvSpPr/>
          <p:nvPr/>
        </p:nvSpPr>
        <p:spPr>
          <a:xfrm>
            <a:off x="3225095" y="4698644"/>
            <a:ext cx="1613605" cy="298017"/>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uadroTexto 17">
            <a:extLst>
              <a:ext uri="{FF2B5EF4-FFF2-40B4-BE49-F238E27FC236}">
                <a16:creationId xmlns:a16="http://schemas.microsoft.com/office/drawing/2014/main" id="{EB031124-9CAC-4F6C-A89E-62AAA08A528C}"/>
              </a:ext>
            </a:extLst>
          </p:cNvPr>
          <p:cNvSpPr txBox="1"/>
          <p:nvPr/>
        </p:nvSpPr>
        <p:spPr>
          <a:xfrm>
            <a:off x="3255897" y="4667631"/>
            <a:ext cx="1520121" cy="307777"/>
          </a:xfrm>
          <a:prstGeom prst="rect">
            <a:avLst/>
          </a:prstGeom>
          <a:noFill/>
        </p:spPr>
        <p:txBody>
          <a:bodyPr wrap="square" rtlCol="0">
            <a:spAutoFit/>
          </a:bodyPr>
          <a:lstStyle/>
          <a:p>
            <a:pPr algn="ctr"/>
            <a:r>
              <a:rPr lang="en-US" sz="1400" dirty="0"/>
              <a:t>Curtosis</a:t>
            </a:r>
          </a:p>
        </p:txBody>
      </p:sp>
      <p:sp>
        <p:nvSpPr>
          <p:cNvPr id="19" name="Rectángulo: esquinas redondeadas 18">
            <a:extLst>
              <a:ext uri="{FF2B5EF4-FFF2-40B4-BE49-F238E27FC236}">
                <a16:creationId xmlns:a16="http://schemas.microsoft.com/office/drawing/2014/main" id="{390BFB6C-683F-4339-A5AE-CE27BBA58132}"/>
              </a:ext>
            </a:extLst>
          </p:cNvPr>
          <p:cNvSpPr/>
          <p:nvPr/>
        </p:nvSpPr>
        <p:spPr>
          <a:xfrm>
            <a:off x="3225095" y="5081558"/>
            <a:ext cx="1613605" cy="298017"/>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uadroTexto 19">
            <a:extLst>
              <a:ext uri="{FF2B5EF4-FFF2-40B4-BE49-F238E27FC236}">
                <a16:creationId xmlns:a16="http://schemas.microsoft.com/office/drawing/2014/main" id="{62B57528-040A-44D6-A3FE-A0D48182F297}"/>
              </a:ext>
            </a:extLst>
          </p:cNvPr>
          <p:cNvSpPr txBox="1"/>
          <p:nvPr/>
        </p:nvSpPr>
        <p:spPr>
          <a:xfrm>
            <a:off x="3150937" y="5060305"/>
            <a:ext cx="1796927" cy="307777"/>
          </a:xfrm>
          <a:prstGeom prst="rect">
            <a:avLst/>
          </a:prstGeom>
          <a:noFill/>
        </p:spPr>
        <p:txBody>
          <a:bodyPr wrap="square" rtlCol="0">
            <a:spAutoFit/>
          </a:bodyPr>
          <a:lstStyle/>
          <a:p>
            <a:pPr algn="ctr"/>
            <a:r>
              <a:rPr lang="en-US" sz="1400" dirty="0"/>
              <a:t>Desviación estándar</a:t>
            </a:r>
          </a:p>
        </p:txBody>
      </p:sp>
      <p:sp>
        <p:nvSpPr>
          <p:cNvPr id="21" name="Rectángulo: esquinas redondeadas 20">
            <a:extLst>
              <a:ext uri="{FF2B5EF4-FFF2-40B4-BE49-F238E27FC236}">
                <a16:creationId xmlns:a16="http://schemas.microsoft.com/office/drawing/2014/main" id="{3738D134-7E7F-4DBB-BA92-4EAB384ED8AE}"/>
              </a:ext>
            </a:extLst>
          </p:cNvPr>
          <p:cNvSpPr/>
          <p:nvPr/>
        </p:nvSpPr>
        <p:spPr>
          <a:xfrm>
            <a:off x="6316947" y="2948407"/>
            <a:ext cx="1355671" cy="703135"/>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uadroTexto 21">
            <a:extLst>
              <a:ext uri="{FF2B5EF4-FFF2-40B4-BE49-F238E27FC236}">
                <a16:creationId xmlns:a16="http://schemas.microsoft.com/office/drawing/2014/main" id="{2346BDAD-687D-4ECE-947D-2A082E00F151}"/>
              </a:ext>
            </a:extLst>
          </p:cNvPr>
          <p:cNvSpPr txBox="1"/>
          <p:nvPr/>
        </p:nvSpPr>
        <p:spPr>
          <a:xfrm>
            <a:off x="6452146" y="3004602"/>
            <a:ext cx="1114425" cy="523220"/>
          </a:xfrm>
          <a:prstGeom prst="rect">
            <a:avLst/>
          </a:prstGeom>
          <a:noFill/>
        </p:spPr>
        <p:txBody>
          <a:bodyPr wrap="square" rtlCol="0">
            <a:spAutoFit/>
          </a:bodyPr>
          <a:lstStyle/>
          <a:p>
            <a:pPr algn="ctr"/>
            <a:r>
              <a:rPr lang="en-US" sz="1400" dirty="0"/>
              <a:t>Señal EEG </a:t>
            </a:r>
            <a:br>
              <a:rPr lang="en-US" sz="1400" dirty="0"/>
            </a:br>
            <a:r>
              <a:rPr lang="en-US" sz="1400" dirty="0"/>
              <a:t>Enventanada</a:t>
            </a:r>
          </a:p>
        </p:txBody>
      </p:sp>
      <p:sp>
        <p:nvSpPr>
          <p:cNvPr id="23" name="Flecha: a la derecha 22">
            <a:extLst>
              <a:ext uri="{FF2B5EF4-FFF2-40B4-BE49-F238E27FC236}">
                <a16:creationId xmlns:a16="http://schemas.microsoft.com/office/drawing/2014/main" id="{FF0D87D3-A3CB-434C-9975-5FC896D615FB}"/>
              </a:ext>
            </a:extLst>
          </p:cNvPr>
          <p:cNvSpPr/>
          <p:nvPr/>
        </p:nvSpPr>
        <p:spPr>
          <a:xfrm>
            <a:off x="7696508" y="4389253"/>
            <a:ext cx="499390" cy="378113"/>
          </a:xfrm>
          <a:prstGeom prst="rightArrow">
            <a:avLst/>
          </a:prstGeom>
          <a:solidFill>
            <a:srgbClr val="C5AE7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ángulo: esquinas redondeadas 23">
            <a:extLst>
              <a:ext uri="{FF2B5EF4-FFF2-40B4-BE49-F238E27FC236}">
                <a16:creationId xmlns:a16="http://schemas.microsoft.com/office/drawing/2014/main" id="{71029AC5-F77C-48BC-AAA1-5BA61B17B1F7}"/>
              </a:ext>
            </a:extLst>
          </p:cNvPr>
          <p:cNvSpPr/>
          <p:nvPr/>
        </p:nvSpPr>
        <p:spPr>
          <a:xfrm>
            <a:off x="8299659" y="3280930"/>
            <a:ext cx="3130341" cy="2115728"/>
          </a:xfrm>
          <a:prstGeom prst="roundRect">
            <a:avLst>
              <a:gd name="adj" fmla="val 11928"/>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uadroTexto 24">
            <a:extLst>
              <a:ext uri="{FF2B5EF4-FFF2-40B4-BE49-F238E27FC236}">
                <a16:creationId xmlns:a16="http://schemas.microsoft.com/office/drawing/2014/main" id="{80CF96AD-EAE7-4F46-A49A-3FFE42B968AA}"/>
              </a:ext>
            </a:extLst>
          </p:cNvPr>
          <p:cNvSpPr txBox="1"/>
          <p:nvPr/>
        </p:nvSpPr>
        <p:spPr>
          <a:xfrm>
            <a:off x="8452431" y="3400825"/>
            <a:ext cx="2864984" cy="523220"/>
          </a:xfrm>
          <a:prstGeom prst="rect">
            <a:avLst/>
          </a:prstGeom>
          <a:noFill/>
        </p:spPr>
        <p:txBody>
          <a:bodyPr wrap="square" rtlCol="0">
            <a:spAutoFit/>
          </a:bodyPr>
          <a:lstStyle/>
          <a:p>
            <a:pPr algn="ctr"/>
            <a:r>
              <a:rPr lang="en-US" sz="1400" dirty="0"/>
              <a:t>Calcular características a coeficientes wavelets en cada subbanda</a:t>
            </a:r>
          </a:p>
        </p:txBody>
      </p:sp>
      <p:sp>
        <p:nvSpPr>
          <p:cNvPr id="26" name="Rectángulo: esquinas redondeadas 25">
            <a:extLst>
              <a:ext uri="{FF2B5EF4-FFF2-40B4-BE49-F238E27FC236}">
                <a16:creationId xmlns:a16="http://schemas.microsoft.com/office/drawing/2014/main" id="{EB88D91A-3BAD-440F-8BD2-30B58775FBB2}"/>
              </a:ext>
            </a:extLst>
          </p:cNvPr>
          <p:cNvSpPr/>
          <p:nvPr/>
        </p:nvSpPr>
        <p:spPr>
          <a:xfrm>
            <a:off x="8468244" y="4087117"/>
            <a:ext cx="1371081" cy="255983"/>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uadroTexto 26">
            <a:extLst>
              <a:ext uri="{FF2B5EF4-FFF2-40B4-BE49-F238E27FC236}">
                <a16:creationId xmlns:a16="http://schemas.microsoft.com/office/drawing/2014/main" id="{7FF270DE-F3A7-4D1B-963D-F98027942F69}"/>
              </a:ext>
            </a:extLst>
          </p:cNvPr>
          <p:cNvSpPr txBox="1"/>
          <p:nvPr/>
        </p:nvSpPr>
        <p:spPr>
          <a:xfrm>
            <a:off x="8393017" y="4062939"/>
            <a:ext cx="1520121" cy="276999"/>
          </a:xfrm>
          <a:prstGeom prst="rect">
            <a:avLst/>
          </a:prstGeom>
          <a:noFill/>
        </p:spPr>
        <p:txBody>
          <a:bodyPr wrap="square" rtlCol="0">
            <a:spAutoFit/>
          </a:bodyPr>
          <a:lstStyle/>
          <a:p>
            <a:pPr algn="ctr"/>
            <a:r>
              <a:rPr lang="en-US" sz="1200" dirty="0"/>
              <a:t>Cruces por cero</a:t>
            </a:r>
          </a:p>
        </p:txBody>
      </p:sp>
      <p:sp>
        <p:nvSpPr>
          <p:cNvPr id="28" name="Rectángulo: esquinas redondeadas 27">
            <a:extLst>
              <a:ext uri="{FF2B5EF4-FFF2-40B4-BE49-F238E27FC236}">
                <a16:creationId xmlns:a16="http://schemas.microsoft.com/office/drawing/2014/main" id="{D7EAFAB7-0513-481D-9333-444F92EA53EF}"/>
              </a:ext>
            </a:extLst>
          </p:cNvPr>
          <p:cNvSpPr/>
          <p:nvPr/>
        </p:nvSpPr>
        <p:spPr>
          <a:xfrm>
            <a:off x="8458200" y="4425616"/>
            <a:ext cx="1381125" cy="288418"/>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uadroTexto 28">
            <a:extLst>
              <a:ext uri="{FF2B5EF4-FFF2-40B4-BE49-F238E27FC236}">
                <a16:creationId xmlns:a16="http://schemas.microsoft.com/office/drawing/2014/main" id="{A523FB91-1965-48F7-84E3-F324C96C5B35}"/>
              </a:ext>
            </a:extLst>
          </p:cNvPr>
          <p:cNvSpPr txBox="1"/>
          <p:nvPr/>
        </p:nvSpPr>
        <p:spPr>
          <a:xfrm>
            <a:off x="8144356" y="4424362"/>
            <a:ext cx="2006846" cy="276999"/>
          </a:xfrm>
          <a:prstGeom prst="rect">
            <a:avLst/>
          </a:prstGeom>
          <a:noFill/>
        </p:spPr>
        <p:txBody>
          <a:bodyPr wrap="square" rtlCol="0">
            <a:spAutoFit/>
          </a:bodyPr>
          <a:lstStyle/>
          <a:p>
            <a:pPr algn="ctr"/>
            <a:r>
              <a:rPr lang="en-US" sz="1200" dirty="0"/>
              <a:t>Valor medio absoluto</a:t>
            </a:r>
          </a:p>
        </p:txBody>
      </p:sp>
      <p:sp>
        <p:nvSpPr>
          <p:cNvPr id="30" name="Rectángulo: esquinas redondeadas 29">
            <a:extLst>
              <a:ext uri="{FF2B5EF4-FFF2-40B4-BE49-F238E27FC236}">
                <a16:creationId xmlns:a16="http://schemas.microsoft.com/office/drawing/2014/main" id="{A0D29C8F-746F-461E-ABBA-63CBA63033CA}"/>
              </a:ext>
            </a:extLst>
          </p:cNvPr>
          <p:cNvSpPr/>
          <p:nvPr/>
        </p:nvSpPr>
        <p:spPr>
          <a:xfrm>
            <a:off x="8458200" y="4786990"/>
            <a:ext cx="1381125" cy="264619"/>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uadroTexto 30">
            <a:extLst>
              <a:ext uri="{FF2B5EF4-FFF2-40B4-BE49-F238E27FC236}">
                <a16:creationId xmlns:a16="http://schemas.microsoft.com/office/drawing/2014/main" id="{B4395D4C-D5C2-45C2-9C4A-3B222CCA778D}"/>
              </a:ext>
            </a:extLst>
          </p:cNvPr>
          <p:cNvSpPr txBox="1"/>
          <p:nvPr/>
        </p:nvSpPr>
        <p:spPr>
          <a:xfrm>
            <a:off x="8387719" y="4759142"/>
            <a:ext cx="1520121" cy="276999"/>
          </a:xfrm>
          <a:prstGeom prst="rect">
            <a:avLst/>
          </a:prstGeom>
          <a:noFill/>
        </p:spPr>
        <p:txBody>
          <a:bodyPr wrap="square" rtlCol="0">
            <a:spAutoFit/>
          </a:bodyPr>
          <a:lstStyle/>
          <a:p>
            <a:pPr algn="ctr"/>
            <a:r>
              <a:rPr lang="en-US" sz="1200" dirty="0"/>
              <a:t>Curtosis</a:t>
            </a:r>
          </a:p>
        </p:txBody>
      </p:sp>
      <p:sp>
        <p:nvSpPr>
          <p:cNvPr id="32" name="Rectángulo: esquinas redondeadas 31">
            <a:extLst>
              <a:ext uri="{FF2B5EF4-FFF2-40B4-BE49-F238E27FC236}">
                <a16:creationId xmlns:a16="http://schemas.microsoft.com/office/drawing/2014/main" id="{A9EE3B55-43E4-4344-AA31-469F16DA696C}"/>
              </a:ext>
            </a:extLst>
          </p:cNvPr>
          <p:cNvSpPr/>
          <p:nvPr/>
        </p:nvSpPr>
        <p:spPr>
          <a:xfrm>
            <a:off x="9925517" y="4070617"/>
            <a:ext cx="1407711" cy="264620"/>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uadroTexto 32">
            <a:extLst>
              <a:ext uri="{FF2B5EF4-FFF2-40B4-BE49-F238E27FC236}">
                <a16:creationId xmlns:a16="http://schemas.microsoft.com/office/drawing/2014/main" id="{B1300C64-D3FE-4A3C-A066-61876162F13D}"/>
              </a:ext>
            </a:extLst>
          </p:cNvPr>
          <p:cNvSpPr txBox="1"/>
          <p:nvPr/>
        </p:nvSpPr>
        <p:spPr>
          <a:xfrm>
            <a:off x="9750200" y="4048491"/>
            <a:ext cx="1796927" cy="276999"/>
          </a:xfrm>
          <a:prstGeom prst="rect">
            <a:avLst/>
          </a:prstGeom>
          <a:noFill/>
        </p:spPr>
        <p:txBody>
          <a:bodyPr wrap="square" rtlCol="0">
            <a:spAutoFit/>
          </a:bodyPr>
          <a:lstStyle/>
          <a:p>
            <a:pPr algn="ctr"/>
            <a:r>
              <a:rPr lang="en-US" sz="1200" dirty="0"/>
              <a:t>Desviación estándar</a:t>
            </a:r>
          </a:p>
        </p:txBody>
      </p:sp>
      <p:sp>
        <p:nvSpPr>
          <p:cNvPr id="34" name="Rectángulo: esquinas redondeadas 33">
            <a:extLst>
              <a:ext uri="{FF2B5EF4-FFF2-40B4-BE49-F238E27FC236}">
                <a16:creationId xmlns:a16="http://schemas.microsoft.com/office/drawing/2014/main" id="{B71D3EDE-144E-45F8-B5E8-5776272A39A3}"/>
              </a:ext>
            </a:extLst>
          </p:cNvPr>
          <p:cNvSpPr/>
          <p:nvPr/>
        </p:nvSpPr>
        <p:spPr>
          <a:xfrm>
            <a:off x="6316947" y="4148648"/>
            <a:ext cx="1304733" cy="911657"/>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CuadroTexto 34">
            <a:extLst>
              <a:ext uri="{FF2B5EF4-FFF2-40B4-BE49-F238E27FC236}">
                <a16:creationId xmlns:a16="http://schemas.microsoft.com/office/drawing/2014/main" id="{606EBD58-DBDD-45E6-9EB9-A4E3833E8CC3}"/>
              </a:ext>
            </a:extLst>
          </p:cNvPr>
          <p:cNvSpPr txBox="1"/>
          <p:nvPr/>
        </p:nvSpPr>
        <p:spPr>
          <a:xfrm>
            <a:off x="6261141" y="4245060"/>
            <a:ext cx="1389115" cy="738664"/>
          </a:xfrm>
          <a:prstGeom prst="rect">
            <a:avLst/>
          </a:prstGeom>
          <a:noFill/>
        </p:spPr>
        <p:txBody>
          <a:bodyPr wrap="square" rtlCol="0">
            <a:spAutoFit/>
          </a:bodyPr>
          <a:lstStyle/>
          <a:p>
            <a:pPr algn="ctr"/>
            <a:r>
              <a:rPr lang="es-GT" sz="1400" dirty="0"/>
              <a:t>Descomposición</a:t>
            </a:r>
            <a:br>
              <a:rPr lang="en-US" sz="1400" dirty="0"/>
            </a:br>
            <a:r>
              <a:rPr lang="en-US" sz="1400" dirty="0"/>
              <a:t>Wavelet</a:t>
            </a:r>
            <a:br>
              <a:rPr lang="en-US" sz="1400" dirty="0"/>
            </a:br>
            <a:r>
              <a:rPr lang="en-US" sz="1400" dirty="0"/>
              <a:t>7 subbandas</a:t>
            </a:r>
            <a:endParaRPr lang="en-US" sz="1400" u="sng" dirty="0"/>
          </a:p>
        </p:txBody>
      </p:sp>
      <p:sp>
        <p:nvSpPr>
          <p:cNvPr id="36" name="Flecha: a la derecha 35">
            <a:extLst>
              <a:ext uri="{FF2B5EF4-FFF2-40B4-BE49-F238E27FC236}">
                <a16:creationId xmlns:a16="http://schemas.microsoft.com/office/drawing/2014/main" id="{45BFCA94-2E14-4BD1-8228-0B3B2ECDF5ED}"/>
              </a:ext>
            </a:extLst>
          </p:cNvPr>
          <p:cNvSpPr/>
          <p:nvPr/>
        </p:nvSpPr>
        <p:spPr>
          <a:xfrm rot="5400000">
            <a:off x="6784221" y="3739032"/>
            <a:ext cx="421121" cy="341177"/>
          </a:xfrm>
          <a:prstGeom prst="rightArrow">
            <a:avLst/>
          </a:prstGeom>
          <a:solidFill>
            <a:srgbClr val="C5AE7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ángulo: esquinas redondeadas 39">
            <a:extLst>
              <a:ext uri="{FF2B5EF4-FFF2-40B4-BE49-F238E27FC236}">
                <a16:creationId xmlns:a16="http://schemas.microsoft.com/office/drawing/2014/main" id="{6E98C982-A1DB-4143-B898-7D1AB303D076}"/>
              </a:ext>
            </a:extLst>
          </p:cNvPr>
          <p:cNvSpPr/>
          <p:nvPr/>
        </p:nvSpPr>
        <p:spPr>
          <a:xfrm>
            <a:off x="9936290" y="4405992"/>
            <a:ext cx="1381125" cy="288418"/>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ángulo: esquinas redondeadas 40">
            <a:extLst>
              <a:ext uri="{FF2B5EF4-FFF2-40B4-BE49-F238E27FC236}">
                <a16:creationId xmlns:a16="http://schemas.microsoft.com/office/drawing/2014/main" id="{FE9F788A-D2EB-4F44-91A3-4D3EAA3A0154}"/>
              </a:ext>
            </a:extLst>
          </p:cNvPr>
          <p:cNvSpPr/>
          <p:nvPr/>
        </p:nvSpPr>
        <p:spPr>
          <a:xfrm>
            <a:off x="9936290" y="4767366"/>
            <a:ext cx="1381125" cy="264619"/>
          </a:xfrm>
          <a:prstGeom prst="roundRect">
            <a:avLst/>
          </a:prstGeom>
          <a:solidFill>
            <a:schemeClr val="bg1"/>
          </a:solidFill>
          <a:ln>
            <a:solidFill>
              <a:srgbClr val="EFB1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CuadroTexto 41">
            <a:extLst>
              <a:ext uri="{FF2B5EF4-FFF2-40B4-BE49-F238E27FC236}">
                <a16:creationId xmlns:a16="http://schemas.microsoft.com/office/drawing/2014/main" id="{3C40705A-5FED-4ED3-B32D-68BA8173B6C8}"/>
              </a:ext>
            </a:extLst>
          </p:cNvPr>
          <p:cNvSpPr txBox="1"/>
          <p:nvPr/>
        </p:nvSpPr>
        <p:spPr>
          <a:xfrm>
            <a:off x="9631240" y="4396139"/>
            <a:ext cx="2006846" cy="276999"/>
          </a:xfrm>
          <a:prstGeom prst="rect">
            <a:avLst/>
          </a:prstGeom>
          <a:noFill/>
        </p:spPr>
        <p:txBody>
          <a:bodyPr wrap="square" rtlCol="0">
            <a:spAutoFit/>
          </a:bodyPr>
          <a:lstStyle/>
          <a:p>
            <a:pPr algn="ctr"/>
            <a:r>
              <a:rPr lang="en-US" sz="1200" dirty="0"/>
              <a:t>Asimetría </a:t>
            </a:r>
            <a:r>
              <a:rPr lang="es-GT" sz="1200" dirty="0"/>
              <a:t>estadística</a:t>
            </a:r>
          </a:p>
        </p:txBody>
      </p:sp>
      <p:sp>
        <p:nvSpPr>
          <p:cNvPr id="43" name="CuadroTexto 42">
            <a:extLst>
              <a:ext uri="{FF2B5EF4-FFF2-40B4-BE49-F238E27FC236}">
                <a16:creationId xmlns:a16="http://schemas.microsoft.com/office/drawing/2014/main" id="{67507B33-4F1A-49F7-816D-32AEB1D40E2F}"/>
              </a:ext>
            </a:extLst>
          </p:cNvPr>
          <p:cNvSpPr txBox="1"/>
          <p:nvPr/>
        </p:nvSpPr>
        <p:spPr>
          <a:xfrm>
            <a:off x="9854740" y="4747186"/>
            <a:ext cx="1520121" cy="276999"/>
          </a:xfrm>
          <a:prstGeom prst="rect">
            <a:avLst/>
          </a:prstGeom>
          <a:noFill/>
        </p:spPr>
        <p:txBody>
          <a:bodyPr wrap="square" rtlCol="0">
            <a:spAutoFit/>
          </a:bodyPr>
          <a:lstStyle/>
          <a:p>
            <a:pPr algn="ctr"/>
            <a:r>
              <a:rPr lang="en-US" sz="1200" dirty="0"/>
              <a:t>Potencia</a:t>
            </a:r>
          </a:p>
        </p:txBody>
      </p:sp>
    </p:spTree>
    <p:extLst>
      <p:ext uri="{BB962C8B-B14F-4D97-AF65-F5344CB8AC3E}">
        <p14:creationId xmlns:p14="http://schemas.microsoft.com/office/powerpoint/2010/main" val="319873323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4" grpId="0" animBg="1"/>
      <p:bldP spid="7" grpId="0"/>
      <p:bldP spid="11" grpId="0" animBg="1"/>
      <p:bldP spid="12" grpId="0" animBg="1"/>
      <p:bldP spid="13" grpId="0"/>
      <p:bldP spid="6" grpId="0" animBg="1"/>
      <p:bldP spid="14" grpId="0"/>
      <p:bldP spid="15" grpId="0" animBg="1"/>
      <p:bldP spid="16" grpId="0"/>
      <p:bldP spid="17" grpId="0" animBg="1"/>
      <p:bldP spid="18" grpId="0"/>
      <p:bldP spid="19" grpId="0" animBg="1"/>
      <p:bldP spid="20" grpId="0"/>
      <p:bldP spid="21" grpId="0" animBg="1"/>
      <p:bldP spid="22" grpId="0"/>
      <p:bldP spid="23" grpId="0" animBg="1"/>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p:bldP spid="36" grpId="0" animBg="1"/>
      <p:bldP spid="40" grpId="0" animBg="1"/>
      <p:bldP spid="41" grpId="0" animBg="1"/>
      <p:bldP spid="42" grpId="0"/>
      <p:bldP spid="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F54BD610-9892-4B69-A156-F60B2D3F9C16}"/>
              </a:ext>
            </a:extLst>
          </p:cNvPr>
          <p:cNvSpPr>
            <a:spLocks noGrp="1"/>
          </p:cNvSpPr>
          <p:nvPr>
            <p:ph type="title"/>
          </p:nvPr>
        </p:nvSpPr>
        <p:spPr>
          <a:xfrm>
            <a:off x="568345" y="707298"/>
            <a:ext cx="10452849" cy="910492"/>
          </a:xfrm>
        </p:spPr>
        <p:txBody>
          <a:bodyPr>
            <a:normAutofit/>
          </a:bodyPr>
          <a:lstStyle/>
          <a:p>
            <a:r>
              <a:rPr lang="en-US" sz="4000" dirty="0" err="1">
                <a:solidFill>
                  <a:srgbClr val="C5AE76"/>
                </a:solidFill>
              </a:rPr>
              <a:t>Transformada</a:t>
            </a:r>
            <a:r>
              <a:rPr lang="en-US" sz="4000" dirty="0">
                <a:solidFill>
                  <a:srgbClr val="C5AE76"/>
                </a:solidFill>
              </a:rPr>
              <a:t> Wavelet  </a:t>
            </a:r>
            <a:r>
              <a:rPr lang="en-US" sz="4000" dirty="0" err="1">
                <a:solidFill>
                  <a:srgbClr val="C5AE76"/>
                </a:solidFill>
              </a:rPr>
              <a:t>Discreta</a:t>
            </a:r>
            <a:r>
              <a:rPr lang="en-US" sz="4000" dirty="0">
                <a:solidFill>
                  <a:srgbClr val="C5AE76"/>
                </a:solidFill>
              </a:rPr>
              <a:t>, DWT</a:t>
            </a:r>
          </a:p>
        </p:txBody>
      </p:sp>
      <p:pic>
        <p:nvPicPr>
          <p:cNvPr id="2" name="Imagen 1">
            <a:extLst>
              <a:ext uri="{FF2B5EF4-FFF2-40B4-BE49-F238E27FC236}">
                <a16:creationId xmlns:a16="http://schemas.microsoft.com/office/drawing/2014/main" id="{BF2A4617-5E32-4D5A-BE7D-5CFAFC286ED8}"/>
              </a:ext>
            </a:extLst>
          </p:cNvPr>
          <p:cNvPicPr>
            <a:picLocks noChangeAspect="1"/>
          </p:cNvPicPr>
          <p:nvPr/>
        </p:nvPicPr>
        <p:blipFill>
          <a:blip r:embed="rId3"/>
          <a:stretch>
            <a:fillRect/>
          </a:stretch>
        </p:blipFill>
        <p:spPr>
          <a:xfrm>
            <a:off x="956135" y="1714500"/>
            <a:ext cx="5139865" cy="3600450"/>
          </a:xfrm>
          <a:prstGeom prst="rect">
            <a:avLst/>
          </a:prstGeom>
        </p:spPr>
      </p:pic>
      <p:sp>
        <p:nvSpPr>
          <p:cNvPr id="4" name="Marcador de contenido 9">
            <a:extLst>
              <a:ext uri="{FF2B5EF4-FFF2-40B4-BE49-F238E27FC236}">
                <a16:creationId xmlns:a16="http://schemas.microsoft.com/office/drawing/2014/main" id="{401A7012-C9E6-403E-B621-57380120EABE}"/>
              </a:ext>
            </a:extLst>
          </p:cNvPr>
          <p:cNvSpPr txBox="1">
            <a:spLocks/>
          </p:cNvSpPr>
          <p:nvPr/>
        </p:nvSpPr>
        <p:spPr>
          <a:xfrm>
            <a:off x="1915446" y="5411660"/>
            <a:ext cx="3644501"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a:solidFill>
                  <a:schemeClr val="tx1"/>
                </a:solidFill>
              </a:rPr>
              <a:t>FIG 6A: FAMILIAS TÍPICAS DE FUNCIONES WAVELET [12].</a:t>
            </a:r>
          </a:p>
        </p:txBody>
      </p:sp>
      <p:pic>
        <p:nvPicPr>
          <p:cNvPr id="3" name="Imagen 2">
            <a:extLst>
              <a:ext uri="{FF2B5EF4-FFF2-40B4-BE49-F238E27FC236}">
                <a16:creationId xmlns:a16="http://schemas.microsoft.com/office/drawing/2014/main" id="{608CFAA6-3869-4BA2-9B55-5DCCCD408ADD}"/>
              </a:ext>
            </a:extLst>
          </p:cNvPr>
          <p:cNvPicPr>
            <a:picLocks noChangeAspect="1"/>
          </p:cNvPicPr>
          <p:nvPr/>
        </p:nvPicPr>
        <p:blipFill>
          <a:blip r:embed="rId4"/>
          <a:stretch>
            <a:fillRect/>
          </a:stretch>
        </p:blipFill>
        <p:spPr>
          <a:xfrm>
            <a:off x="7105653" y="1522242"/>
            <a:ext cx="3538252" cy="3984965"/>
          </a:xfrm>
          <a:prstGeom prst="rect">
            <a:avLst/>
          </a:prstGeom>
        </p:spPr>
      </p:pic>
      <p:sp>
        <p:nvSpPr>
          <p:cNvPr id="6" name="Marcador de contenido 9">
            <a:extLst>
              <a:ext uri="{FF2B5EF4-FFF2-40B4-BE49-F238E27FC236}">
                <a16:creationId xmlns:a16="http://schemas.microsoft.com/office/drawing/2014/main" id="{DC27A63F-9250-4B76-829B-483DFC2AC3EE}"/>
              </a:ext>
            </a:extLst>
          </p:cNvPr>
          <p:cNvSpPr txBox="1">
            <a:spLocks/>
          </p:cNvSpPr>
          <p:nvPr/>
        </p:nvSpPr>
        <p:spPr>
          <a:xfrm>
            <a:off x="7052528" y="5507207"/>
            <a:ext cx="3644501"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a:solidFill>
                  <a:schemeClr val="tx1"/>
                </a:solidFill>
              </a:rPr>
              <a:t>FIG 6B: EJEMPLO DE DESCOMPOSICIÓN SEÑAL EEG 1 CANAL.</a:t>
            </a:r>
          </a:p>
        </p:txBody>
      </p:sp>
    </p:spTree>
    <p:extLst>
      <p:ext uri="{BB962C8B-B14F-4D97-AF65-F5344CB8AC3E}">
        <p14:creationId xmlns:p14="http://schemas.microsoft.com/office/powerpoint/2010/main" val="130566642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F54BD610-9892-4B69-A156-F60B2D3F9C16}"/>
              </a:ext>
            </a:extLst>
          </p:cNvPr>
          <p:cNvSpPr>
            <a:spLocks noGrp="1"/>
          </p:cNvSpPr>
          <p:nvPr>
            <p:ph type="title"/>
          </p:nvPr>
        </p:nvSpPr>
        <p:spPr>
          <a:xfrm>
            <a:off x="568345" y="707298"/>
            <a:ext cx="10452849" cy="910492"/>
          </a:xfrm>
        </p:spPr>
        <p:txBody>
          <a:bodyPr>
            <a:normAutofit/>
          </a:bodyPr>
          <a:lstStyle/>
          <a:p>
            <a:r>
              <a:rPr lang="en-US" sz="4000" dirty="0">
                <a:solidFill>
                  <a:srgbClr val="C5AE76"/>
                </a:solidFill>
              </a:rPr>
              <a:t>DWT: Árbol de </a:t>
            </a:r>
            <a:r>
              <a:rPr lang="es-GT" sz="4000" dirty="0">
                <a:solidFill>
                  <a:srgbClr val="C5AE76"/>
                </a:solidFill>
              </a:rPr>
              <a:t>descomposición</a:t>
            </a:r>
          </a:p>
        </p:txBody>
      </p:sp>
      <p:pic>
        <p:nvPicPr>
          <p:cNvPr id="8" name="Imagen 7" descr="Imagen que contiene Texto&#10;&#10;Descripción generada automáticamente">
            <a:extLst>
              <a:ext uri="{FF2B5EF4-FFF2-40B4-BE49-F238E27FC236}">
                <a16:creationId xmlns:a16="http://schemas.microsoft.com/office/drawing/2014/main" id="{B64E9EB6-E8CD-4538-B01C-582393FE1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139" y="1852528"/>
            <a:ext cx="9553260" cy="4200508"/>
          </a:xfrm>
          <a:prstGeom prst="rect">
            <a:avLst/>
          </a:prstGeom>
        </p:spPr>
      </p:pic>
      <p:sp>
        <p:nvSpPr>
          <p:cNvPr id="9" name="Marcador de contenido 9">
            <a:extLst>
              <a:ext uri="{FF2B5EF4-FFF2-40B4-BE49-F238E27FC236}">
                <a16:creationId xmlns:a16="http://schemas.microsoft.com/office/drawing/2014/main" id="{D4E8CD75-49B0-4F78-95C0-9DB909523E42}"/>
              </a:ext>
            </a:extLst>
          </p:cNvPr>
          <p:cNvSpPr txBox="1">
            <a:spLocks/>
          </p:cNvSpPr>
          <p:nvPr/>
        </p:nvSpPr>
        <p:spPr>
          <a:xfrm>
            <a:off x="6926898" y="1617790"/>
            <a:ext cx="3644501"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err="1">
                <a:solidFill>
                  <a:schemeClr val="tx1"/>
                </a:solidFill>
              </a:rPr>
              <a:t>Ubonn</a:t>
            </a:r>
            <a:r>
              <a:rPr lang="es-ES" sz="1000" dirty="0">
                <a:solidFill>
                  <a:schemeClr val="tx1"/>
                </a:solidFill>
              </a:rPr>
              <a:t> </a:t>
            </a:r>
            <a:r>
              <a:rPr lang="es-ES" sz="1000" dirty="0" err="1">
                <a:solidFill>
                  <a:schemeClr val="tx1"/>
                </a:solidFill>
              </a:rPr>
              <a:t>Dataset</a:t>
            </a:r>
            <a:endParaRPr lang="es-ES" sz="1000" dirty="0">
              <a:solidFill>
                <a:schemeClr val="tx1"/>
              </a:solidFill>
            </a:endParaRPr>
          </a:p>
        </p:txBody>
      </p:sp>
      <p:sp>
        <p:nvSpPr>
          <p:cNvPr id="10" name="Marcador de contenido 9">
            <a:extLst>
              <a:ext uri="{FF2B5EF4-FFF2-40B4-BE49-F238E27FC236}">
                <a16:creationId xmlns:a16="http://schemas.microsoft.com/office/drawing/2014/main" id="{9DA849DD-BA0E-4D0B-81B4-20787182D2CE}"/>
              </a:ext>
            </a:extLst>
          </p:cNvPr>
          <p:cNvSpPr txBox="1">
            <a:spLocks/>
          </p:cNvSpPr>
          <p:nvPr/>
        </p:nvSpPr>
        <p:spPr>
          <a:xfrm>
            <a:off x="2451499" y="1638083"/>
            <a:ext cx="3644501"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a:solidFill>
                  <a:schemeClr val="tx1"/>
                </a:solidFill>
              </a:rPr>
              <a:t>CHB-MIT </a:t>
            </a:r>
            <a:r>
              <a:rPr lang="es-ES" sz="1000" dirty="0" err="1">
                <a:solidFill>
                  <a:schemeClr val="tx1"/>
                </a:solidFill>
              </a:rPr>
              <a:t>Scalp</a:t>
            </a:r>
            <a:endParaRPr lang="es-ES" sz="1000" dirty="0">
              <a:solidFill>
                <a:schemeClr val="tx1"/>
              </a:solidFill>
            </a:endParaRPr>
          </a:p>
        </p:txBody>
      </p:sp>
    </p:spTree>
    <p:extLst>
      <p:ext uri="{BB962C8B-B14F-4D97-AF65-F5344CB8AC3E}">
        <p14:creationId xmlns:p14="http://schemas.microsoft.com/office/powerpoint/2010/main" val="81288709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8B98D-A943-4557-A450-06FD1E297F9C}"/>
              </a:ext>
            </a:extLst>
          </p:cNvPr>
          <p:cNvSpPr>
            <a:spLocks noGrp="1"/>
          </p:cNvSpPr>
          <p:nvPr>
            <p:ph type="title"/>
          </p:nvPr>
        </p:nvSpPr>
        <p:spPr>
          <a:xfrm>
            <a:off x="597273" y="923925"/>
            <a:ext cx="6020921" cy="910492"/>
          </a:xfrm>
        </p:spPr>
        <p:txBody>
          <a:bodyPr rtlCol="0" anchor="ctr">
            <a:normAutofit/>
          </a:bodyPr>
          <a:lstStyle/>
          <a:p>
            <a:pPr rtl="0"/>
            <a:r>
              <a:rPr lang="es-ES" dirty="0">
                <a:solidFill>
                  <a:srgbClr val="C5AE76"/>
                </a:solidFill>
              </a:rPr>
              <a:t>Diseño Experimental</a:t>
            </a:r>
          </a:p>
        </p:txBody>
      </p:sp>
      <p:sp>
        <p:nvSpPr>
          <p:cNvPr id="11" name="Elipse 10">
            <a:extLst>
              <a:ext uri="{FF2B5EF4-FFF2-40B4-BE49-F238E27FC236}">
                <a16:creationId xmlns:a16="http://schemas.microsoft.com/office/drawing/2014/main" id="{4189324E-ED55-446F-B4CF-4CA1F148409F}"/>
              </a:ext>
            </a:extLst>
          </p:cNvPr>
          <p:cNvSpPr/>
          <p:nvPr/>
        </p:nvSpPr>
        <p:spPr>
          <a:xfrm>
            <a:off x="8584267" y="923925"/>
            <a:ext cx="2886075" cy="26289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a:extLst>
              <a:ext uri="{FF2B5EF4-FFF2-40B4-BE49-F238E27FC236}">
                <a16:creationId xmlns:a16="http://schemas.microsoft.com/office/drawing/2014/main" id="{ABA80205-64EA-45D8-AF45-C7B5D10D7088}"/>
              </a:ext>
            </a:extLst>
          </p:cNvPr>
          <p:cNvSpPr/>
          <p:nvPr/>
        </p:nvSpPr>
        <p:spPr>
          <a:xfrm>
            <a:off x="8674192" y="1047750"/>
            <a:ext cx="2706221" cy="2381250"/>
          </a:xfrm>
          <a:prstGeom prst="ellipse">
            <a:avLst/>
          </a:prstGeom>
          <a:solidFill>
            <a:srgbClr val="C5AE76"/>
          </a:solidFill>
          <a:ln>
            <a:solidFill>
              <a:srgbClr val="1F2D4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ítulo 1">
            <a:extLst>
              <a:ext uri="{FF2B5EF4-FFF2-40B4-BE49-F238E27FC236}">
                <a16:creationId xmlns:a16="http://schemas.microsoft.com/office/drawing/2014/main" id="{08183AB3-A65D-4251-969B-1B4833F257FA}"/>
              </a:ext>
            </a:extLst>
          </p:cNvPr>
          <p:cNvSpPr txBox="1">
            <a:spLocks/>
          </p:cNvSpPr>
          <p:nvPr/>
        </p:nvSpPr>
        <p:spPr>
          <a:xfrm>
            <a:off x="8674193" y="1708971"/>
            <a:ext cx="2706221" cy="9104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50" baseline="0">
                <a:solidFill>
                  <a:schemeClr val="tx1"/>
                </a:solidFill>
                <a:latin typeface="+mj-lt"/>
                <a:ea typeface="+mj-ea"/>
                <a:cs typeface="+mj-cs"/>
              </a:defRPr>
            </a:lvl1pPr>
          </a:lstStyle>
          <a:p>
            <a:pPr algn="ctr"/>
            <a:r>
              <a:rPr lang="es-ES" sz="2000" dirty="0">
                <a:solidFill>
                  <a:schemeClr val="bg1"/>
                </a:solidFill>
              </a:rPr>
              <a:t>EPILEPTIC EEG </a:t>
            </a:r>
          </a:p>
          <a:p>
            <a:pPr algn="ctr"/>
            <a:r>
              <a:rPr lang="es-ES" sz="2000" dirty="0">
                <a:solidFill>
                  <a:schemeClr val="bg1"/>
                </a:solidFill>
              </a:rPr>
              <a:t>ANALYSIS TOOLBOX</a:t>
            </a:r>
          </a:p>
        </p:txBody>
      </p:sp>
      <p:sp>
        <p:nvSpPr>
          <p:cNvPr id="14" name="Título 1">
            <a:extLst>
              <a:ext uri="{FF2B5EF4-FFF2-40B4-BE49-F238E27FC236}">
                <a16:creationId xmlns:a16="http://schemas.microsoft.com/office/drawing/2014/main" id="{D35E4AE7-EAE7-4AA9-8903-8D85B60FA215}"/>
              </a:ext>
            </a:extLst>
          </p:cNvPr>
          <p:cNvSpPr txBox="1">
            <a:spLocks/>
          </p:cNvSpPr>
          <p:nvPr/>
        </p:nvSpPr>
        <p:spPr>
          <a:xfrm>
            <a:off x="8674191" y="2113740"/>
            <a:ext cx="2706221" cy="9104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50" baseline="0">
                <a:solidFill>
                  <a:schemeClr val="tx1"/>
                </a:solidFill>
                <a:latin typeface="+mj-lt"/>
                <a:ea typeface="+mj-ea"/>
                <a:cs typeface="+mj-cs"/>
              </a:defRPr>
            </a:lvl1pPr>
          </a:lstStyle>
          <a:p>
            <a:pPr algn="ctr"/>
            <a:r>
              <a:rPr lang="es-ES" sz="1600" dirty="0"/>
              <a:t>MATLAB</a:t>
            </a:r>
          </a:p>
        </p:txBody>
      </p:sp>
      <p:sp>
        <p:nvSpPr>
          <p:cNvPr id="3" name="Rectángulo: esquinas redondeadas 2">
            <a:extLst>
              <a:ext uri="{FF2B5EF4-FFF2-40B4-BE49-F238E27FC236}">
                <a16:creationId xmlns:a16="http://schemas.microsoft.com/office/drawing/2014/main" id="{CB221CF3-2A86-4DE6-A5AA-D2E0912F2682}"/>
              </a:ext>
            </a:extLst>
          </p:cNvPr>
          <p:cNvSpPr/>
          <p:nvPr/>
        </p:nvSpPr>
        <p:spPr>
          <a:xfrm>
            <a:off x="811586" y="2260062"/>
            <a:ext cx="1706321" cy="1205978"/>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9" name="Rectángulo: esquinas redondeadas 8">
            <a:extLst>
              <a:ext uri="{FF2B5EF4-FFF2-40B4-BE49-F238E27FC236}">
                <a16:creationId xmlns:a16="http://schemas.microsoft.com/office/drawing/2014/main" id="{A2D58B0C-1895-444C-BC3D-85E415B830F6}"/>
              </a:ext>
            </a:extLst>
          </p:cNvPr>
          <p:cNvSpPr/>
          <p:nvPr/>
        </p:nvSpPr>
        <p:spPr>
          <a:xfrm>
            <a:off x="3121992" y="2377426"/>
            <a:ext cx="1569181" cy="706874"/>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Rectángulo: esquinas redondeadas 9">
            <a:extLst>
              <a:ext uri="{FF2B5EF4-FFF2-40B4-BE49-F238E27FC236}">
                <a16:creationId xmlns:a16="http://schemas.microsoft.com/office/drawing/2014/main" id="{81350148-0345-4A3B-9D7F-065DC9FFC529}"/>
              </a:ext>
            </a:extLst>
          </p:cNvPr>
          <p:cNvSpPr/>
          <p:nvPr/>
        </p:nvSpPr>
        <p:spPr>
          <a:xfrm>
            <a:off x="5282107" y="2260061"/>
            <a:ext cx="2310687" cy="1205977"/>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5" name="Rectángulo: esquinas redondeadas 14">
            <a:extLst>
              <a:ext uri="{FF2B5EF4-FFF2-40B4-BE49-F238E27FC236}">
                <a16:creationId xmlns:a16="http://schemas.microsoft.com/office/drawing/2014/main" id="{B57B3B7F-DEA3-4D34-AC09-BD926A02D8D4}"/>
              </a:ext>
            </a:extLst>
          </p:cNvPr>
          <p:cNvSpPr/>
          <p:nvPr/>
        </p:nvSpPr>
        <p:spPr>
          <a:xfrm>
            <a:off x="5282107" y="4064077"/>
            <a:ext cx="2310687" cy="1205977"/>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6" name="Rectángulo: esquinas redondeadas 15">
            <a:extLst>
              <a:ext uri="{FF2B5EF4-FFF2-40B4-BE49-F238E27FC236}">
                <a16:creationId xmlns:a16="http://schemas.microsoft.com/office/drawing/2014/main" id="{3ECFB456-C023-4140-9AAF-73EF4FF2229B}"/>
              </a:ext>
            </a:extLst>
          </p:cNvPr>
          <p:cNvSpPr/>
          <p:nvPr/>
        </p:nvSpPr>
        <p:spPr>
          <a:xfrm>
            <a:off x="3347237" y="4154440"/>
            <a:ext cx="1236025" cy="465697"/>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esquinas redondeadas 16">
            <a:extLst>
              <a:ext uri="{FF2B5EF4-FFF2-40B4-BE49-F238E27FC236}">
                <a16:creationId xmlns:a16="http://schemas.microsoft.com/office/drawing/2014/main" id="{5D8DCD8D-7BAE-49AF-BA8A-4DC8122BD462}"/>
              </a:ext>
            </a:extLst>
          </p:cNvPr>
          <p:cNvSpPr/>
          <p:nvPr/>
        </p:nvSpPr>
        <p:spPr>
          <a:xfrm>
            <a:off x="3347237" y="4742341"/>
            <a:ext cx="1236025" cy="465697"/>
          </a:xfrm>
          <a:prstGeom prst="roundRect">
            <a:avLst>
              <a:gd name="adj" fmla="val 135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4" name="Flecha: a la derecha 3">
            <a:extLst>
              <a:ext uri="{FF2B5EF4-FFF2-40B4-BE49-F238E27FC236}">
                <a16:creationId xmlns:a16="http://schemas.microsoft.com/office/drawing/2014/main" id="{1204C44B-4BAE-4428-9A2D-FAFE95AD8FE5}"/>
              </a:ext>
            </a:extLst>
          </p:cNvPr>
          <p:cNvSpPr/>
          <p:nvPr/>
        </p:nvSpPr>
        <p:spPr>
          <a:xfrm>
            <a:off x="2594107" y="2555076"/>
            <a:ext cx="479394" cy="351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8" name="Flecha: a la derecha 17">
            <a:extLst>
              <a:ext uri="{FF2B5EF4-FFF2-40B4-BE49-F238E27FC236}">
                <a16:creationId xmlns:a16="http://schemas.microsoft.com/office/drawing/2014/main" id="{C8BA7E9E-DDBD-4699-A37C-271AD59D34E6}"/>
              </a:ext>
            </a:extLst>
          </p:cNvPr>
          <p:cNvSpPr/>
          <p:nvPr/>
        </p:nvSpPr>
        <p:spPr>
          <a:xfrm>
            <a:off x="4773627" y="2511476"/>
            <a:ext cx="479394" cy="351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9" name="Flecha: a la derecha 18">
            <a:extLst>
              <a:ext uri="{FF2B5EF4-FFF2-40B4-BE49-F238E27FC236}">
                <a16:creationId xmlns:a16="http://schemas.microsoft.com/office/drawing/2014/main" id="{6504B4FC-B066-43AE-A45A-659AFF4B4DBD}"/>
              </a:ext>
            </a:extLst>
          </p:cNvPr>
          <p:cNvSpPr/>
          <p:nvPr/>
        </p:nvSpPr>
        <p:spPr>
          <a:xfrm rot="5400000">
            <a:off x="6197752" y="3590286"/>
            <a:ext cx="479394" cy="351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0" name="Flecha: a la derecha 19">
            <a:extLst>
              <a:ext uri="{FF2B5EF4-FFF2-40B4-BE49-F238E27FC236}">
                <a16:creationId xmlns:a16="http://schemas.microsoft.com/office/drawing/2014/main" id="{C7D4F7F5-AAA5-4352-B423-80B86DE52FE1}"/>
              </a:ext>
            </a:extLst>
          </p:cNvPr>
          <p:cNvSpPr/>
          <p:nvPr/>
        </p:nvSpPr>
        <p:spPr>
          <a:xfrm rot="10800000">
            <a:off x="4692989" y="4444350"/>
            <a:ext cx="479394" cy="3515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1" name="Rectángulo: esquinas redondeadas 20">
            <a:extLst>
              <a:ext uri="{FF2B5EF4-FFF2-40B4-BE49-F238E27FC236}">
                <a16:creationId xmlns:a16="http://schemas.microsoft.com/office/drawing/2014/main" id="{231CEFBF-3E69-4649-A0D8-31CC7C6B968D}"/>
              </a:ext>
            </a:extLst>
          </p:cNvPr>
          <p:cNvSpPr/>
          <p:nvPr/>
        </p:nvSpPr>
        <p:spPr>
          <a:xfrm>
            <a:off x="5473058" y="2703542"/>
            <a:ext cx="952652" cy="414179"/>
          </a:xfrm>
          <a:prstGeom prst="roundRect">
            <a:avLst>
              <a:gd name="adj" fmla="val 1356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2" name="Rectángulo: esquinas redondeadas 21">
            <a:extLst>
              <a:ext uri="{FF2B5EF4-FFF2-40B4-BE49-F238E27FC236}">
                <a16:creationId xmlns:a16="http://schemas.microsoft.com/office/drawing/2014/main" id="{705A3A8C-4D5F-4B51-B20E-107E2060BF27}"/>
              </a:ext>
            </a:extLst>
          </p:cNvPr>
          <p:cNvSpPr/>
          <p:nvPr/>
        </p:nvSpPr>
        <p:spPr>
          <a:xfrm>
            <a:off x="6507222" y="2703541"/>
            <a:ext cx="952652" cy="414179"/>
          </a:xfrm>
          <a:prstGeom prst="roundRect">
            <a:avLst>
              <a:gd name="adj" fmla="val 1356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3" name="Rectángulo: esquinas redondeadas 22">
            <a:extLst>
              <a:ext uri="{FF2B5EF4-FFF2-40B4-BE49-F238E27FC236}">
                <a16:creationId xmlns:a16="http://schemas.microsoft.com/office/drawing/2014/main" id="{28C402B3-88CC-42BA-A510-66BF0CA71B10}"/>
              </a:ext>
            </a:extLst>
          </p:cNvPr>
          <p:cNvSpPr/>
          <p:nvPr/>
        </p:nvSpPr>
        <p:spPr>
          <a:xfrm>
            <a:off x="5359878" y="4499946"/>
            <a:ext cx="1280160" cy="414179"/>
          </a:xfrm>
          <a:prstGeom prst="roundRect">
            <a:avLst>
              <a:gd name="adj" fmla="val 1356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4" name="Rectángulo: esquinas redondeadas 23">
            <a:extLst>
              <a:ext uri="{FF2B5EF4-FFF2-40B4-BE49-F238E27FC236}">
                <a16:creationId xmlns:a16="http://schemas.microsoft.com/office/drawing/2014/main" id="{06F58804-F277-419F-98F4-CC91BC37F35E}"/>
              </a:ext>
            </a:extLst>
          </p:cNvPr>
          <p:cNvSpPr/>
          <p:nvPr/>
        </p:nvSpPr>
        <p:spPr>
          <a:xfrm>
            <a:off x="6659321" y="4501426"/>
            <a:ext cx="828261" cy="414179"/>
          </a:xfrm>
          <a:prstGeom prst="roundRect">
            <a:avLst>
              <a:gd name="adj" fmla="val 1356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5" name="CuadroTexto 24">
            <a:extLst>
              <a:ext uri="{FF2B5EF4-FFF2-40B4-BE49-F238E27FC236}">
                <a16:creationId xmlns:a16="http://schemas.microsoft.com/office/drawing/2014/main" id="{0F11AE4E-BFDA-4A0E-B188-739C0A8F450D}"/>
              </a:ext>
            </a:extLst>
          </p:cNvPr>
          <p:cNvSpPr txBox="1"/>
          <p:nvPr/>
        </p:nvSpPr>
        <p:spPr>
          <a:xfrm>
            <a:off x="825925" y="2260061"/>
            <a:ext cx="1723219" cy="1169551"/>
          </a:xfrm>
          <a:prstGeom prst="rect">
            <a:avLst/>
          </a:prstGeom>
          <a:noFill/>
        </p:spPr>
        <p:txBody>
          <a:bodyPr wrap="square" rtlCol="0">
            <a:spAutoFit/>
          </a:bodyPr>
          <a:lstStyle/>
          <a:p>
            <a:r>
              <a:rPr lang="en-US" sz="1400" b="1" dirty="0">
                <a:latin typeface="Abadi Extra Light" panose="020B0204020104020204" pitchFamily="34" charset="0"/>
              </a:rPr>
              <a:t>Base de </a:t>
            </a:r>
            <a:r>
              <a:rPr lang="en-US" sz="1400" b="1" dirty="0" err="1">
                <a:latin typeface="Abadi Extra Light" panose="020B0204020104020204" pitchFamily="34" charset="0"/>
              </a:rPr>
              <a:t>Datos</a:t>
            </a:r>
            <a:r>
              <a:rPr lang="en-US" sz="1400" b="1" dirty="0">
                <a:latin typeface="Abadi Extra Light" panose="020B0204020104020204" pitchFamily="34" charset="0"/>
              </a:rPr>
              <a:t> EEG</a:t>
            </a:r>
            <a:br>
              <a:rPr lang="en-US" sz="1400" b="1" dirty="0">
                <a:latin typeface="Abadi Extra Light" panose="020B0204020104020204" pitchFamily="34" charset="0"/>
              </a:rPr>
            </a:br>
            <a:r>
              <a:rPr lang="en-US" sz="1400" b="1" dirty="0">
                <a:latin typeface="Abadi Extra Light" panose="020B0204020104020204" pitchFamily="34" charset="0"/>
              </a:rPr>
              <a:t>Normal/Ictal </a:t>
            </a:r>
            <a:br>
              <a:rPr lang="en-US" sz="600" b="1" dirty="0">
                <a:latin typeface="Abadi Extra Light" panose="020B0204020104020204" pitchFamily="34" charset="0"/>
              </a:rPr>
            </a:br>
            <a:br>
              <a:rPr lang="en-US" sz="1400" b="1" dirty="0">
                <a:latin typeface="Abadi Extra Light" panose="020B0204020104020204" pitchFamily="34" charset="0"/>
              </a:rPr>
            </a:br>
            <a:r>
              <a:rPr lang="en-US" sz="1400" b="1" dirty="0">
                <a:latin typeface="Abadi Extra Light" panose="020B0204020104020204" pitchFamily="34" charset="0"/>
              </a:rPr>
              <a:t>*CHB-MIT Scalp</a:t>
            </a:r>
            <a:br>
              <a:rPr lang="en-US" sz="1400" b="1" dirty="0">
                <a:latin typeface="Abadi Extra Light" panose="020B0204020104020204" pitchFamily="34" charset="0"/>
              </a:rPr>
            </a:br>
            <a:r>
              <a:rPr lang="en-US" sz="1400" b="1" dirty="0">
                <a:latin typeface="Abadi Extra Light" panose="020B0204020104020204" pitchFamily="34" charset="0"/>
              </a:rPr>
              <a:t>*</a:t>
            </a:r>
            <a:r>
              <a:rPr lang="en-US" sz="1400" b="1" dirty="0" err="1">
                <a:latin typeface="Abadi Extra Light" panose="020B0204020104020204" pitchFamily="34" charset="0"/>
              </a:rPr>
              <a:t>Ubonn</a:t>
            </a:r>
            <a:r>
              <a:rPr lang="en-US" sz="1400" b="1" dirty="0">
                <a:latin typeface="Abadi Extra Light" panose="020B0204020104020204" pitchFamily="34" charset="0"/>
              </a:rPr>
              <a:t> Dataset</a:t>
            </a:r>
          </a:p>
        </p:txBody>
      </p:sp>
      <p:sp>
        <p:nvSpPr>
          <p:cNvPr id="26" name="CuadroTexto 25">
            <a:extLst>
              <a:ext uri="{FF2B5EF4-FFF2-40B4-BE49-F238E27FC236}">
                <a16:creationId xmlns:a16="http://schemas.microsoft.com/office/drawing/2014/main" id="{E5E1DD02-7D90-4EF7-87E3-D392E77E703D}"/>
              </a:ext>
            </a:extLst>
          </p:cNvPr>
          <p:cNvSpPr txBox="1"/>
          <p:nvPr/>
        </p:nvSpPr>
        <p:spPr>
          <a:xfrm>
            <a:off x="3101372" y="2452596"/>
            <a:ext cx="1589801" cy="492443"/>
          </a:xfrm>
          <a:prstGeom prst="rect">
            <a:avLst/>
          </a:prstGeom>
          <a:noFill/>
        </p:spPr>
        <p:txBody>
          <a:bodyPr wrap="square" rtlCol="0">
            <a:spAutoFit/>
          </a:bodyPr>
          <a:lstStyle/>
          <a:p>
            <a:pPr algn="ctr"/>
            <a:r>
              <a:rPr lang="en-US" sz="1300" b="1" dirty="0" err="1">
                <a:latin typeface="Abadi Extra Light" panose="020B0204020104020204" pitchFamily="34" charset="0"/>
              </a:rPr>
              <a:t>Preprocesamiento</a:t>
            </a:r>
            <a:r>
              <a:rPr lang="en-US" sz="1300" b="1" dirty="0">
                <a:latin typeface="Abadi Extra Light" panose="020B0204020104020204" pitchFamily="34" charset="0"/>
              </a:rPr>
              <a:t> y</a:t>
            </a:r>
            <a:br>
              <a:rPr lang="en-US" sz="1300" b="1" dirty="0">
                <a:latin typeface="Abadi Extra Light" panose="020B0204020104020204" pitchFamily="34" charset="0"/>
              </a:rPr>
            </a:br>
            <a:r>
              <a:rPr lang="en-US" sz="1300" b="1" dirty="0" err="1">
                <a:latin typeface="Abadi Extra Light" panose="020B0204020104020204" pitchFamily="34" charset="0"/>
              </a:rPr>
              <a:t>Selección</a:t>
            </a:r>
            <a:r>
              <a:rPr lang="en-US" sz="1300" b="1" dirty="0">
                <a:latin typeface="Abadi Extra Light" panose="020B0204020104020204" pitchFamily="34" charset="0"/>
              </a:rPr>
              <a:t> de </a:t>
            </a:r>
            <a:r>
              <a:rPr lang="en-US" sz="1300" b="1" dirty="0" err="1">
                <a:latin typeface="Abadi Extra Light" panose="020B0204020104020204" pitchFamily="34" charset="0"/>
              </a:rPr>
              <a:t>Señales</a:t>
            </a:r>
            <a:endParaRPr lang="en-US" sz="1300" b="1" dirty="0">
              <a:latin typeface="Abadi Extra Light" panose="020B0204020104020204" pitchFamily="34" charset="0"/>
            </a:endParaRPr>
          </a:p>
        </p:txBody>
      </p:sp>
      <p:sp>
        <p:nvSpPr>
          <p:cNvPr id="27" name="CuadroTexto 26">
            <a:extLst>
              <a:ext uri="{FF2B5EF4-FFF2-40B4-BE49-F238E27FC236}">
                <a16:creationId xmlns:a16="http://schemas.microsoft.com/office/drawing/2014/main" id="{160A1DB4-438B-4A78-BE5C-4147E14FC5E4}"/>
              </a:ext>
            </a:extLst>
          </p:cNvPr>
          <p:cNvSpPr txBox="1"/>
          <p:nvPr/>
        </p:nvSpPr>
        <p:spPr>
          <a:xfrm>
            <a:off x="5363613" y="2359037"/>
            <a:ext cx="2294687" cy="292388"/>
          </a:xfrm>
          <a:prstGeom prst="rect">
            <a:avLst/>
          </a:prstGeom>
          <a:noFill/>
        </p:spPr>
        <p:txBody>
          <a:bodyPr wrap="square" rtlCol="0">
            <a:spAutoFit/>
          </a:bodyPr>
          <a:lstStyle/>
          <a:p>
            <a:r>
              <a:rPr lang="en-US" sz="1300" b="1" dirty="0">
                <a:latin typeface="Abadi Extra Light" panose="020B0204020104020204" pitchFamily="34" charset="0"/>
              </a:rPr>
              <a:t>Extracción de Características</a:t>
            </a:r>
          </a:p>
        </p:txBody>
      </p:sp>
      <p:sp>
        <p:nvSpPr>
          <p:cNvPr id="28" name="CuadroTexto 27">
            <a:extLst>
              <a:ext uri="{FF2B5EF4-FFF2-40B4-BE49-F238E27FC236}">
                <a16:creationId xmlns:a16="http://schemas.microsoft.com/office/drawing/2014/main" id="{4E060FAD-BA27-43A0-9501-1D9697CBC146}"/>
              </a:ext>
            </a:extLst>
          </p:cNvPr>
          <p:cNvSpPr txBox="1"/>
          <p:nvPr/>
        </p:nvSpPr>
        <p:spPr>
          <a:xfrm>
            <a:off x="5624555" y="4160725"/>
            <a:ext cx="1675407" cy="292388"/>
          </a:xfrm>
          <a:prstGeom prst="rect">
            <a:avLst/>
          </a:prstGeom>
          <a:noFill/>
        </p:spPr>
        <p:txBody>
          <a:bodyPr wrap="square" rtlCol="0">
            <a:spAutoFit/>
          </a:bodyPr>
          <a:lstStyle/>
          <a:p>
            <a:pPr algn="ctr"/>
            <a:r>
              <a:rPr lang="es-GT" sz="1300" b="1" dirty="0"/>
              <a:t>Clasificación</a:t>
            </a:r>
          </a:p>
        </p:txBody>
      </p:sp>
      <p:sp>
        <p:nvSpPr>
          <p:cNvPr id="29" name="CuadroTexto 28">
            <a:extLst>
              <a:ext uri="{FF2B5EF4-FFF2-40B4-BE49-F238E27FC236}">
                <a16:creationId xmlns:a16="http://schemas.microsoft.com/office/drawing/2014/main" id="{0AF14300-B879-47BC-B770-186F47097CC5}"/>
              </a:ext>
            </a:extLst>
          </p:cNvPr>
          <p:cNvSpPr txBox="1"/>
          <p:nvPr/>
        </p:nvSpPr>
        <p:spPr>
          <a:xfrm>
            <a:off x="4852614" y="4483577"/>
            <a:ext cx="2294687" cy="430887"/>
          </a:xfrm>
          <a:prstGeom prst="rect">
            <a:avLst/>
          </a:prstGeom>
          <a:noFill/>
        </p:spPr>
        <p:txBody>
          <a:bodyPr wrap="square" rtlCol="0">
            <a:spAutoFit/>
          </a:bodyPr>
          <a:lstStyle/>
          <a:p>
            <a:pPr algn="ctr"/>
            <a:r>
              <a:rPr lang="es-GT" sz="1100" b="1" dirty="0">
                <a:latin typeface="Abadi Extra Light" panose="020B0204020104020204" pitchFamily="34" charset="0"/>
              </a:rPr>
              <a:t>Máquinas de Vectores</a:t>
            </a:r>
            <a:br>
              <a:rPr lang="es-GT" sz="1100" b="1" dirty="0">
                <a:latin typeface="Abadi Extra Light" panose="020B0204020104020204" pitchFamily="34" charset="0"/>
              </a:rPr>
            </a:br>
            <a:r>
              <a:rPr lang="es-GT" sz="1100" b="1" dirty="0">
                <a:latin typeface="Abadi Extra Light" panose="020B0204020104020204" pitchFamily="34" charset="0"/>
              </a:rPr>
              <a:t>de Soporte</a:t>
            </a:r>
          </a:p>
        </p:txBody>
      </p:sp>
      <p:sp>
        <p:nvSpPr>
          <p:cNvPr id="30" name="CuadroTexto 29">
            <a:extLst>
              <a:ext uri="{FF2B5EF4-FFF2-40B4-BE49-F238E27FC236}">
                <a16:creationId xmlns:a16="http://schemas.microsoft.com/office/drawing/2014/main" id="{03F3E9E5-DFAB-469E-A910-9CCF4235E21D}"/>
              </a:ext>
            </a:extLst>
          </p:cNvPr>
          <p:cNvSpPr txBox="1"/>
          <p:nvPr/>
        </p:nvSpPr>
        <p:spPr>
          <a:xfrm>
            <a:off x="5926107" y="4499946"/>
            <a:ext cx="2294687" cy="430887"/>
          </a:xfrm>
          <a:prstGeom prst="rect">
            <a:avLst/>
          </a:prstGeom>
          <a:noFill/>
        </p:spPr>
        <p:txBody>
          <a:bodyPr wrap="square" rtlCol="0">
            <a:spAutoFit/>
          </a:bodyPr>
          <a:lstStyle/>
          <a:p>
            <a:pPr algn="ctr"/>
            <a:r>
              <a:rPr lang="es-GT" sz="1100" b="1" dirty="0">
                <a:latin typeface="Abadi Extra Light" panose="020B0204020104020204" pitchFamily="34" charset="0"/>
              </a:rPr>
              <a:t>Red Neuronal</a:t>
            </a:r>
            <a:br>
              <a:rPr lang="es-GT" sz="1100" b="1" dirty="0">
                <a:latin typeface="Abadi Extra Light" panose="020B0204020104020204" pitchFamily="34" charset="0"/>
              </a:rPr>
            </a:br>
            <a:r>
              <a:rPr lang="es-GT" sz="1100" b="1" dirty="0">
                <a:latin typeface="Abadi Extra Light" panose="020B0204020104020204" pitchFamily="34" charset="0"/>
              </a:rPr>
              <a:t>Artificial</a:t>
            </a:r>
          </a:p>
        </p:txBody>
      </p:sp>
      <p:sp>
        <p:nvSpPr>
          <p:cNvPr id="31" name="CuadroTexto 30">
            <a:extLst>
              <a:ext uri="{FF2B5EF4-FFF2-40B4-BE49-F238E27FC236}">
                <a16:creationId xmlns:a16="http://schemas.microsoft.com/office/drawing/2014/main" id="{5892508B-177C-44CE-9C73-F69164F8CB9F}"/>
              </a:ext>
            </a:extLst>
          </p:cNvPr>
          <p:cNvSpPr txBox="1"/>
          <p:nvPr/>
        </p:nvSpPr>
        <p:spPr>
          <a:xfrm>
            <a:off x="2782076" y="4235907"/>
            <a:ext cx="2294687" cy="276999"/>
          </a:xfrm>
          <a:prstGeom prst="rect">
            <a:avLst/>
          </a:prstGeom>
          <a:noFill/>
        </p:spPr>
        <p:txBody>
          <a:bodyPr wrap="square" rtlCol="0">
            <a:spAutoFit/>
          </a:bodyPr>
          <a:lstStyle/>
          <a:p>
            <a:pPr algn="ctr"/>
            <a:r>
              <a:rPr lang="es-GT" sz="1200" b="1" dirty="0">
                <a:latin typeface="Abadi Extra Light" panose="020B0204020104020204" pitchFamily="34" charset="0"/>
              </a:rPr>
              <a:t>Registro Normal</a:t>
            </a:r>
          </a:p>
        </p:txBody>
      </p:sp>
      <p:sp>
        <p:nvSpPr>
          <p:cNvPr id="32" name="CuadroTexto 31">
            <a:extLst>
              <a:ext uri="{FF2B5EF4-FFF2-40B4-BE49-F238E27FC236}">
                <a16:creationId xmlns:a16="http://schemas.microsoft.com/office/drawing/2014/main" id="{E8F85C86-9BE5-4068-9E89-CA573805E404}"/>
              </a:ext>
            </a:extLst>
          </p:cNvPr>
          <p:cNvSpPr txBox="1"/>
          <p:nvPr/>
        </p:nvSpPr>
        <p:spPr>
          <a:xfrm>
            <a:off x="2817905" y="4830649"/>
            <a:ext cx="2294687" cy="276999"/>
          </a:xfrm>
          <a:prstGeom prst="rect">
            <a:avLst/>
          </a:prstGeom>
          <a:noFill/>
        </p:spPr>
        <p:txBody>
          <a:bodyPr wrap="square" rtlCol="0">
            <a:spAutoFit/>
          </a:bodyPr>
          <a:lstStyle/>
          <a:p>
            <a:pPr algn="ctr"/>
            <a:r>
              <a:rPr lang="es-GT" sz="1200" b="1" dirty="0">
                <a:latin typeface="Abadi Extra Light" panose="020B0204020104020204" pitchFamily="34" charset="0"/>
              </a:rPr>
              <a:t>Registro Ictal</a:t>
            </a:r>
          </a:p>
        </p:txBody>
      </p:sp>
      <p:sp>
        <p:nvSpPr>
          <p:cNvPr id="33" name="CuadroTexto 32">
            <a:extLst>
              <a:ext uri="{FF2B5EF4-FFF2-40B4-BE49-F238E27FC236}">
                <a16:creationId xmlns:a16="http://schemas.microsoft.com/office/drawing/2014/main" id="{F15FD607-573A-499C-A83E-DB4B92560465}"/>
              </a:ext>
            </a:extLst>
          </p:cNvPr>
          <p:cNvSpPr txBox="1"/>
          <p:nvPr/>
        </p:nvSpPr>
        <p:spPr>
          <a:xfrm>
            <a:off x="5455168" y="2702401"/>
            <a:ext cx="1007091" cy="430887"/>
          </a:xfrm>
          <a:prstGeom prst="rect">
            <a:avLst/>
          </a:prstGeom>
          <a:noFill/>
        </p:spPr>
        <p:txBody>
          <a:bodyPr wrap="square" rtlCol="0">
            <a:spAutoFit/>
          </a:bodyPr>
          <a:lstStyle/>
          <a:p>
            <a:pPr algn="ctr"/>
            <a:r>
              <a:rPr lang="es-GT" sz="1100" b="1" dirty="0">
                <a:latin typeface="Abadi Extra Light" panose="020B0204020104020204" pitchFamily="34" charset="0"/>
              </a:rPr>
              <a:t>Dominio del</a:t>
            </a:r>
            <a:br>
              <a:rPr lang="es-GT" sz="1100" b="1" dirty="0">
                <a:latin typeface="Abadi Extra Light" panose="020B0204020104020204" pitchFamily="34" charset="0"/>
              </a:rPr>
            </a:br>
            <a:r>
              <a:rPr lang="es-GT" sz="1100" b="1" dirty="0">
                <a:latin typeface="Abadi Extra Light" panose="020B0204020104020204" pitchFamily="34" charset="0"/>
              </a:rPr>
              <a:t>Tiempo</a:t>
            </a:r>
          </a:p>
        </p:txBody>
      </p:sp>
      <p:sp>
        <p:nvSpPr>
          <p:cNvPr id="34" name="CuadroTexto 33">
            <a:extLst>
              <a:ext uri="{FF2B5EF4-FFF2-40B4-BE49-F238E27FC236}">
                <a16:creationId xmlns:a16="http://schemas.microsoft.com/office/drawing/2014/main" id="{52499FFB-9377-4C35-AFE3-1D6906F381FE}"/>
              </a:ext>
            </a:extLst>
          </p:cNvPr>
          <p:cNvSpPr txBox="1"/>
          <p:nvPr/>
        </p:nvSpPr>
        <p:spPr>
          <a:xfrm>
            <a:off x="6465157" y="2698818"/>
            <a:ext cx="1007091" cy="430887"/>
          </a:xfrm>
          <a:prstGeom prst="rect">
            <a:avLst/>
          </a:prstGeom>
          <a:noFill/>
        </p:spPr>
        <p:txBody>
          <a:bodyPr wrap="square" rtlCol="0">
            <a:spAutoFit/>
          </a:bodyPr>
          <a:lstStyle/>
          <a:p>
            <a:pPr algn="ctr"/>
            <a:r>
              <a:rPr lang="es-GT" sz="1100" b="1" dirty="0">
                <a:latin typeface="Abadi Extra Light" panose="020B0204020104020204" pitchFamily="34" charset="0"/>
              </a:rPr>
              <a:t>Características</a:t>
            </a:r>
            <a:br>
              <a:rPr lang="es-GT" sz="1100" b="1" dirty="0">
                <a:latin typeface="Abadi Extra Light" panose="020B0204020104020204" pitchFamily="34" charset="0"/>
              </a:rPr>
            </a:br>
            <a:r>
              <a:rPr lang="es-GT" sz="1100" b="1" dirty="0">
                <a:latin typeface="Abadi Extra Light" panose="020B0204020104020204" pitchFamily="34" charset="0"/>
              </a:rPr>
              <a:t>Wavelet</a:t>
            </a:r>
          </a:p>
        </p:txBody>
      </p:sp>
    </p:spTree>
    <p:extLst>
      <p:ext uri="{BB962C8B-B14F-4D97-AF65-F5344CB8AC3E}">
        <p14:creationId xmlns:p14="http://schemas.microsoft.com/office/powerpoint/2010/main" val="329645871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6" grpId="0" animBg="1"/>
      <p:bldP spid="19" grpId="0" animBg="1"/>
      <p:bldP spid="20" grpId="0" animBg="1"/>
      <p:bldP spid="23" grpId="0" animBg="1"/>
      <p:bldP spid="24" grpId="0" animBg="1"/>
      <p:bldP spid="28" grpId="0"/>
      <p:bldP spid="29" grpId="0"/>
      <p:bldP spid="30" grpId="0"/>
      <p:bldP spid="31"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DADA5FD-22A9-4874-99AD-B773CC492E81}"/>
              </a:ext>
            </a:extLst>
          </p:cNvPr>
          <p:cNvSpPr>
            <a:spLocks noGrp="1"/>
          </p:cNvSpPr>
          <p:nvPr>
            <p:ph type="title"/>
          </p:nvPr>
        </p:nvSpPr>
        <p:spPr>
          <a:xfrm>
            <a:off x="932329" y="893729"/>
            <a:ext cx="1313721" cy="910492"/>
          </a:xfrm>
        </p:spPr>
        <p:txBody>
          <a:bodyPr>
            <a:normAutofit/>
          </a:bodyPr>
          <a:lstStyle/>
          <a:p>
            <a:r>
              <a:rPr lang="es-GT" sz="4000" dirty="0"/>
              <a:t>SVM</a:t>
            </a:r>
          </a:p>
        </p:txBody>
      </p:sp>
      <p:sp>
        <p:nvSpPr>
          <p:cNvPr id="4" name="Título 2">
            <a:extLst>
              <a:ext uri="{FF2B5EF4-FFF2-40B4-BE49-F238E27FC236}">
                <a16:creationId xmlns:a16="http://schemas.microsoft.com/office/drawing/2014/main" id="{3697E808-76C8-4D43-9C53-B334E6A47B13}"/>
              </a:ext>
            </a:extLst>
          </p:cNvPr>
          <p:cNvSpPr txBox="1">
            <a:spLocks/>
          </p:cNvSpPr>
          <p:nvPr/>
        </p:nvSpPr>
        <p:spPr>
          <a:xfrm>
            <a:off x="6479656" y="887139"/>
            <a:ext cx="1313721" cy="9104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50" baseline="0">
                <a:solidFill>
                  <a:schemeClr val="tx1"/>
                </a:solidFill>
                <a:latin typeface="+mj-lt"/>
                <a:ea typeface="+mj-ea"/>
                <a:cs typeface="+mj-cs"/>
              </a:defRPr>
            </a:lvl1pPr>
          </a:lstStyle>
          <a:p>
            <a:r>
              <a:rPr lang="es-GT" sz="4000" dirty="0"/>
              <a:t>ANN</a:t>
            </a:r>
          </a:p>
        </p:txBody>
      </p:sp>
      <p:sp>
        <p:nvSpPr>
          <p:cNvPr id="5" name="Rectángulo: esquinas redondeadas 4">
            <a:extLst>
              <a:ext uri="{FF2B5EF4-FFF2-40B4-BE49-F238E27FC236}">
                <a16:creationId xmlns:a16="http://schemas.microsoft.com/office/drawing/2014/main" id="{A6E63D78-DA82-4CE1-8AFF-C6D7C1AA5B7F}"/>
              </a:ext>
            </a:extLst>
          </p:cNvPr>
          <p:cNvSpPr/>
          <p:nvPr/>
        </p:nvSpPr>
        <p:spPr>
          <a:xfrm>
            <a:off x="1470792" y="1733200"/>
            <a:ext cx="2097677" cy="703135"/>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uadroTexto 5">
            <a:extLst>
              <a:ext uri="{FF2B5EF4-FFF2-40B4-BE49-F238E27FC236}">
                <a16:creationId xmlns:a16="http://schemas.microsoft.com/office/drawing/2014/main" id="{A7B5A97F-3552-4303-A40E-B1B56771CD58}"/>
              </a:ext>
            </a:extLst>
          </p:cNvPr>
          <p:cNvSpPr txBox="1"/>
          <p:nvPr/>
        </p:nvSpPr>
        <p:spPr>
          <a:xfrm>
            <a:off x="1414205" y="1797631"/>
            <a:ext cx="2230215" cy="523220"/>
          </a:xfrm>
          <a:prstGeom prst="rect">
            <a:avLst/>
          </a:prstGeom>
          <a:noFill/>
        </p:spPr>
        <p:txBody>
          <a:bodyPr wrap="square" rtlCol="0">
            <a:spAutoFit/>
          </a:bodyPr>
          <a:lstStyle/>
          <a:p>
            <a:pPr algn="ctr"/>
            <a:r>
              <a:rPr lang="en-US" sz="1400" dirty="0">
                <a:latin typeface="Abadi Extra Light" panose="020B0204020104020204" pitchFamily="34" charset="0"/>
              </a:rPr>
              <a:t> Vector de características</a:t>
            </a:r>
            <a:br>
              <a:rPr lang="en-US" sz="1400" dirty="0">
                <a:latin typeface="Abadi Extra Light" panose="020B0204020104020204" pitchFamily="34" charset="0"/>
              </a:rPr>
            </a:br>
            <a:r>
              <a:rPr lang="en-US" sz="1400" dirty="0">
                <a:latin typeface="Abadi Extra Light" panose="020B0204020104020204" pitchFamily="34" charset="0"/>
              </a:rPr>
              <a:t> Vector de </a:t>
            </a:r>
            <a:r>
              <a:rPr lang="en-US" sz="1400" dirty="0" err="1">
                <a:latin typeface="Abadi Extra Light" panose="020B0204020104020204" pitchFamily="34" charset="0"/>
              </a:rPr>
              <a:t>etiquetas</a:t>
            </a:r>
            <a:endParaRPr lang="en-US" sz="1400" dirty="0">
              <a:latin typeface="Abadi Extra Light" panose="020B0204020104020204" pitchFamily="34" charset="0"/>
            </a:endParaRPr>
          </a:p>
        </p:txBody>
      </p:sp>
      <p:sp>
        <p:nvSpPr>
          <p:cNvPr id="9" name="Flecha: a la derecha 8">
            <a:extLst>
              <a:ext uri="{FF2B5EF4-FFF2-40B4-BE49-F238E27FC236}">
                <a16:creationId xmlns:a16="http://schemas.microsoft.com/office/drawing/2014/main" id="{9C896F6E-F8E0-491E-895F-8A4D55090E28}"/>
              </a:ext>
            </a:extLst>
          </p:cNvPr>
          <p:cNvSpPr/>
          <p:nvPr/>
        </p:nvSpPr>
        <p:spPr>
          <a:xfrm rot="5400000">
            <a:off x="2338942" y="2551360"/>
            <a:ext cx="361375" cy="286468"/>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upo 18">
            <a:extLst>
              <a:ext uri="{FF2B5EF4-FFF2-40B4-BE49-F238E27FC236}">
                <a16:creationId xmlns:a16="http://schemas.microsoft.com/office/drawing/2014/main" id="{FC3792CE-EC07-48DC-AC9E-936EE0356E12}"/>
              </a:ext>
            </a:extLst>
          </p:cNvPr>
          <p:cNvGrpSpPr/>
          <p:nvPr/>
        </p:nvGrpSpPr>
        <p:grpSpPr>
          <a:xfrm>
            <a:off x="1429411" y="2921523"/>
            <a:ext cx="2173627" cy="1110751"/>
            <a:chOff x="1429411" y="2921523"/>
            <a:chExt cx="2173627" cy="1110751"/>
          </a:xfrm>
        </p:grpSpPr>
        <p:sp>
          <p:nvSpPr>
            <p:cNvPr id="7" name="Rectángulo: esquinas redondeadas 6">
              <a:extLst>
                <a:ext uri="{FF2B5EF4-FFF2-40B4-BE49-F238E27FC236}">
                  <a16:creationId xmlns:a16="http://schemas.microsoft.com/office/drawing/2014/main" id="{397D012E-F21B-47A2-BC8A-D79B9ED68FB6}"/>
                </a:ext>
              </a:extLst>
            </p:cNvPr>
            <p:cNvSpPr/>
            <p:nvPr/>
          </p:nvSpPr>
          <p:spPr>
            <a:xfrm>
              <a:off x="1503289" y="2921523"/>
              <a:ext cx="2041870" cy="703135"/>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1886B99-5D17-4680-A97E-ADE8CE078EEF}"/>
                </a:ext>
              </a:extLst>
            </p:cNvPr>
            <p:cNvSpPr txBox="1"/>
            <p:nvPr/>
          </p:nvSpPr>
          <p:spPr>
            <a:xfrm>
              <a:off x="1429411" y="3000813"/>
              <a:ext cx="2173627" cy="523220"/>
            </a:xfrm>
            <a:prstGeom prst="rect">
              <a:avLst/>
            </a:prstGeom>
            <a:noFill/>
          </p:spPr>
          <p:txBody>
            <a:bodyPr wrap="square" rtlCol="0">
              <a:spAutoFit/>
            </a:bodyPr>
            <a:lstStyle/>
            <a:p>
              <a:pPr algn="ctr"/>
              <a:r>
                <a:rPr lang="en-US" sz="1400" dirty="0" err="1">
                  <a:latin typeface="Abadi Extra Light" panose="020B0204020104020204" pitchFamily="34" charset="0"/>
                </a:rPr>
                <a:t>Generación</a:t>
              </a:r>
              <a:r>
                <a:rPr lang="en-US" sz="1400" dirty="0">
                  <a:latin typeface="Abadi Extra Light" panose="020B0204020104020204" pitchFamily="34" charset="0"/>
                </a:rPr>
                <a:t> de conjuntos</a:t>
              </a:r>
              <a:br>
                <a:rPr lang="en-US" sz="1400" dirty="0">
                  <a:latin typeface="Abadi Extra Light" panose="020B0204020104020204" pitchFamily="34" charset="0"/>
                </a:rPr>
              </a:br>
              <a:r>
                <a:rPr lang="en-US" sz="1400" dirty="0">
                  <a:latin typeface="Abadi Extra Light" panose="020B0204020104020204" pitchFamily="34" charset="0"/>
                </a:rPr>
                <a:t>por </a:t>
              </a:r>
              <a:r>
                <a:rPr lang="en-US" sz="1400" dirty="0" err="1">
                  <a:latin typeface="Abadi Extra Light" panose="020B0204020104020204" pitchFamily="34" charset="0"/>
                </a:rPr>
                <a:t>validación</a:t>
              </a:r>
              <a:r>
                <a:rPr lang="en-US" sz="1400" dirty="0">
                  <a:latin typeface="Abadi Extra Light" panose="020B0204020104020204" pitchFamily="34" charset="0"/>
                </a:rPr>
                <a:t> </a:t>
              </a:r>
              <a:r>
                <a:rPr lang="en-US" sz="1400" dirty="0" err="1">
                  <a:latin typeface="Abadi Extra Light" panose="020B0204020104020204" pitchFamily="34" charset="0"/>
                </a:rPr>
                <a:t>cruzada</a:t>
              </a:r>
              <a:r>
                <a:rPr lang="en-US" sz="1400" dirty="0">
                  <a:latin typeface="Abadi Extra Light" panose="020B0204020104020204" pitchFamily="34" charset="0"/>
                </a:rPr>
                <a:t> k fold</a:t>
              </a:r>
              <a:endParaRPr lang="en-US" sz="1400" u="sng" dirty="0">
                <a:latin typeface="Abadi Extra Light" panose="020B0204020104020204" pitchFamily="34" charset="0"/>
              </a:endParaRPr>
            </a:p>
          </p:txBody>
        </p:sp>
        <p:sp>
          <p:nvSpPr>
            <p:cNvPr id="12" name="Flecha: a la derecha 11">
              <a:extLst>
                <a:ext uri="{FF2B5EF4-FFF2-40B4-BE49-F238E27FC236}">
                  <a16:creationId xmlns:a16="http://schemas.microsoft.com/office/drawing/2014/main" id="{93CE76EE-1C22-4DBC-9476-74C61D081ACD}"/>
                </a:ext>
              </a:extLst>
            </p:cNvPr>
            <p:cNvSpPr/>
            <p:nvPr/>
          </p:nvSpPr>
          <p:spPr>
            <a:xfrm rot="5400000">
              <a:off x="2335538" y="3708353"/>
              <a:ext cx="361375" cy="286468"/>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CuadroTexto 15">
            <a:extLst>
              <a:ext uri="{FF2B5EF4-FFF2-40B4-BE49-F238E27FC236}">
                <a16:creationId xmlns:a16="http://schemas.microsoft.com/office/drawing/2014/main" id="{D8E26135-450F-4F0B-8235-965D2FB63701}"/>
              </a:ext>
            </a:extLst>
          </p:cNvPr>
          <p:cNvSpPr txBox="1"/>
          <p:nvPr/>
        </p:nvSpPr>
        <p:spPr>
          <a:xfrm rot="5400000">
            <a:off x="3152766" y="1944300"/>
            <a:ext cx="1046396" cy="261610"/>
          </a:xfrm>
          <a:prstGeom prst="rect">
            <a:avLst/>
          </a:prstGeom>
          <a:noFill/>
        </p:spPr>
        <p:txBody>
          <a:bodyPr wrap="square" rtlCol="0">
            <a:spAutoFit/>
          </a:bodyPr>
          <a:lstStyle/>
          <a:p>
            <a:pPr algn="ctr"/>
            <a:r>
              <a:rPr lang="en-US" sz="1100" dirty="0"/>
              <a:t>ENTRADAS</a:t>
            </a:r>
          </a:p>
        </p:txBody>
      </p:sp>
      <p:grpSp>
        <p:nvGrpSpPr>
          <p:cNvPr id="21" name="Grupo 20">
            <a:extLst>
              <a:ext uri="{FF2B5EF4-FFF2-40B4-BE49-F238E27FC236}">
                <a16:creationId xmlns:a16="http://schemas.microsoft.com/office/drawing/2014/main" id="{9EAD239C-E31E-4046-9AFB-30FA61E01BA8}"/>
              </a:ext>
            </a:extLst>
          </p:cNvPr>
          <p:cNvGrpSpPr/>
          <p:nvPr/>
        </p:nvGrpSpPr>
        <p:grpSpPr>
          <a:xfrm>
            <a:off x="1363608" y="4067625"/>
            <a:ext cx="2443161" cy="2032455"/>
            <a:chOff x="1363608" y="4067625"/>
            <a:chExt cx="2443161" cy="2032455"/>
          </a:xfrm>
        </p:grpSpPr>
        <p:sp>
          <p:nvSpPr>
            <p:cNvPr id="10" name="Rectángulo: esquinas redondeadas 9">
              <a:extLst>
                <a:ext uri="{FF2B5EF4-FFF2-40B4-BE49-F238E27FC236}">
                  <a16:creationId xmlns:a16="http://schemas.microsoft.com/office/drawing/2014/main" id="{D31EA215-40E0-4C0D-A093-0F5F676944E8}"/>
                </a:ext>
              </a:extLst>
            </p:cNvPr>
            <p:cNvSpPr/>
            <p:nvPr/>
          </p:nvSpPr>
          <p:spPr>
            <a:xfrm>
              <a:off x="1470792" y="4067625"/>
              <a:ext cx="2173628" cy="703135"/>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adroTexto 10">
              <a:extLst>
                <a:ext uri="{FF2B5EF4-FFF2-40B4-BE49-F238E27FC236}">
                  <a16:creationId xmlns:a16="http://schemas.microsoft.com/office/drawing/2014/main" id="{4445A4C9-E5D8-49E7-8930-3BEE3B75E5EA}"/>
                </a:ext>
              </a:extLst>
            </p:cNvPr>
            <p:cNvSpPr txBox="1"/>
            <p:nvPr/>
          </p:nvSpPr>
          <p:spPr>
            <a:xfrm>
              <a:off x="1363608" y="4143323"/>
              <a:ext cx="2357965" cy="523220"/>
            </a:xfrm>
            <a:prstGeom prst="rect">
              <a:avLst/>
            </a:prstGeom>
            <a:noFill/>
          </p:spPr>
          <p:txBody>
            <a:bodyPr wrap="square" rtlCol="0">
              <a:spAutoFit/>
            </a:bodyPr>
            <a:lstStyle/>
            <a:p>
              <a:pPr algn="ctr"/>
              <a:r>
                <a:rPr lang="en-US" sz="1400" dirty="0" err="1">
                  <a:latin typeface="Abadi Extra Light" panose="020B0204020104020204" pitchFamily="34" charset="0"/>
                </a:rPr>
                <a:t>Algoritmo</a:t>
              </a:r>
              <a:r>
                <a:rPr lang="en-US" sz="1400" dirty="0">
                  <a:latin typeface="Abadi Extra Light" panose="020B0204020104020204" pitchFamily="34" charset="0"/>
                </a:rPr>
                <a:t> </a:t>
              </a:r>
              <a:r>
                <a:rPr lang="en-US" sz="1400" dirty="0" err="1">
                  <a:latin typeface="Abadi Extra Light" panose="020B0204020104020204" pitchFamily="34" charset="0"/>
                </a:rPr>
                <a:t>utilizando</a:t>
              </a:r>
              <a:r>
                <a:rPr lang="en-US" sz="1400" dirty="0">
                  <a:latin typeface="Abadi Extra Light" panose="020B0204020104020204" pitchFamily="34" charset="0"/>
                </a:rPr>
                <a:t> </a:t>
              </a:r>
              <a:r>
                <a:rPr lang="en-US" sz="1400" dirty="0" err="1">
                  <a:latin typeface="Abadi Extra Light" panose="020B0204020104020204" pitchFamily="34" charset="0"/>
                </a:rPr>
                <a:t>funciones</a:t>
              </a:r>
              <a:r>
                <a:rPr lang="en-US" sz="1400" dirty="0">
                  <a:latin typeface="Abadi Extra Light" panose="020B0204020104020204" pitchFamily="34" charset="0"/>
                </a:rPr>
                <a:t> kernel: lineal y RBF</a:t>
              </a:r>
              <a:endParaRPr lang="en-US" sz="1400" u="sng" dirty="0">
                <a:latin typeface="Abadi Extra Light" panose="020B0204020104020204" pitchFamily="34" charset="0"/>
              </a:endParaRPr>
            </a:p>
          </p:txBody>
        </p:sp>
        <p:sp>
          <p:nvSpPr>
            <p:cNvPr id="13" name="Rectángulo: esquinas redondeadas 12">
              <a:extLst>
                <a:ext uri="{FF2B5EF4-FFF2-40B4-BE49-F238E27FC236}">
                  <a16:creationId xmlns:a16="http://schemas.microsoft.com/office/drawing/2014/main" id="{B718C767-7EFA-4D9E-837C-ABD656C6FF36}"/>
                </a:ext>
              </a:extLst>
            </p:cNvPr>
            <p:cNvSpPr/>
            <p:nvPr/>
          </p:nvSpPr>
          <p:spPr>
            <a:xfrm>
              <a:off x="1503289" y="5213727"/>
              <a:ext cx="2041870" cy="886353"/>
            </a:xfrm>
            <a:prstGeom prst="roundRect">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33A3AF86-EBF5-4BD1-A197-D0C32995C09A}"/>
                </a:ext>
              </a:extLst>
            </p:cNvPr>
            <p:cNvSpPr txBox="1"/>
            <p:nvPr/>
          </p:nvSpPr>
          <p:spPr>
            <a:xfrm>
              <a:off x="1363609" y="5275437"/>
              <a:ext cx="2357965" cy="738664"/>
            </a:xfrm>
            <a:prstGeom prst="rect">
              <a:avLst/>
            </a:prstGeom>
            <a:noFill/>
          </p:spPr>
          <p:txBody>
            <a:bodyPr wrap="square" rtlCol="0">
              <a:spAutoFit/>
            </a:bodyPr>
            <a:lstStyle/>
            <a:p>
              <a:pPr algn="ctr"/>
              <a:r>
                <a:rPr lang="en-US" sz="1400" dirty="0">
                  <a:latin typeface="Abadi Extra Light" panose="020B0204020104020204" pitchFamily="34" charset="0"/>
                </a:rPr>
                <a:t>Vector de </a:t>
              </a:r>
              <a:r>
                <a:rPr lang="en-US" sz="1400" dirty="0" err="1">
                  <a:latin typeface="Abadi Extra Light" panose="020B0204020104020204" pitchFamily="34" charset="0"/>
                </a:rPr>
                <a:t>etiquetas</a:t>
              </a:r>
              <a:r>
                <a:rPr lang="en-US" sz="1400" dirty="0">
                  <a:latin typeface="Abadi Extra Light" panose="020B0204020104020204" pitchFamily="34" charset="0"/>
                </a:rPr>
                <a:t>  </a:t>
              </a:r>
              <a:br>
                <a:rPr lang="en-US" sz="1400" dirty="0">
                  <a:latin typeface="Abadi Extra Light" panose="020B0204020104020204" pitchFamily="34" charset="0"/>
                </a:rPr>
              </a:br>
              <a:r>
                <a:rPr lang="en-US" sz="1400" dirty="0">
                  <a:latin typeface="Abadi Extra Light" panose="020B0204020104020204" pitchFamily="34" charset="0"/>
                </a:rPr>
                <a:t>“</a:t>
              </a:r>
              <a:r>
                <a:rPr lang="en-US" sz="1400" dirty="0" err="1">
                  <a:latin typeface="Abadi Extra Light" panose="020B0204020104020204" pitchFamily="34" charset="0"/>
                </a:rPr>
                <a:t>registro</a:t>
              </a:r>
              <a:r>
                <a:rPr lang="en-US" sz="1400" dirty="0">
                  <a:latin typeface="Abadi Extra Light" panose="020B0204020104020204" pitchFamily="34" charset="0"/>
                </a:rPr>
                <a:t> normal” = 0</a:t>
              </a:r>
              <a:br>
                <a:rPr lang="en-US" sz="1400" dirty="0">
                  <a:latin typeface="Abadi Extra Light" panose="020B0204020104020204" pitchFamily="34" charset="0"/>
                </a:rPr>
              </a:br>
              <a:r>
                <a:rPr lang="en-US" sz="1400" dirty="0">
                  <a:latin typeface="Abadi Extra Light" panose="020B0204020104020204" pitchFamily="34" charset="0"/>
                </a:rPr>
                <a:t>“</a:t>
              </a:r>
              <a:r>
                <a:rPr lang="en-US" sz="1400" dirty="0" err="1">
                  <a:latin typeface="Abadi Extra Light" panose="020B0204020104020204" pitchFamily="34" charset="0"/>
                </a:rPr>
                <a:t>registro</a:t>
              </a:r>
              <a:r>
                <a:rPr lang="en-US" sz="1400" dirty="0">
                  <a:latin typeface="Abadi Extra Light" panose="020B0204020104020204" pitchFamily="34" charset="0"/>
                </a:rPr>
                <a:t> ictal” = 1</a:t>
              </a:r>
              <a:endParaRPr lang="en-US" sz="1400" u="sng" dirty="0">
                <a:latin typeface="Abadi Extra Light" panose="020B0204020104020204" pitchFamily="34" charset="0"/>
              </a:endParaRPr>
            </a:p>
          </p:txBody>
        </p:sp>
        <p:sp>
          <p:nvSpPr>
            <p:cNvPr id="15" name="Flecha: a la derecha 14">
              <a:extLst>
                <a:ext uri="{FF2B5EF4-FFF2-40B4-BE49-F238E27FC236}">
                  <a16:creationId xmlns:a16="http://schemas.microsoft.com/office/drawing/2014/main" id="{836767C6-0CD2-4F70-9222-852B7FD8522A}"/>
                </a:ext>
              </a:extLst>
            </p:cNvPr>
            <p:cNvSpPr/>
            <p:nvPr/>
          </p:nvSpPr>
          <p:spPr>
            <a:xfrm rot="5400000">
              <a:off x="2335538" y="4854455"/>
              <a:ext cx="361375" cy="286468"/>
            </a:xfrm>
            <a:prstGeom prst="rightArrow">
              <a:avLst/>
            </a:prstGeom>
            <a:solidFill>
              <a:srgbClr val="C5AE76"/>
            </a:solidFill>
            <a:ln>
              <a:solidFill>
                <a:srgbClr val="ABBA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adroTexto 16">
              <a:extLst>
                <a:ext uri="{FF2B5EF4-FFF2-40B4-BE49-F238E27FC236}">
                  <a16:creationId xmlns:a16="http://schemas.microsoft.com/office/drawing/2014/main" id="{90DB1094-623D-46AB-A19F-507AA3CBEF1B}"/>
                </a:ext>
              </a:extLst>
            </p:cNvPr>
            <p:cNvSpPr txBox="1"/>
            <p:nvPr/>
          </p:nvSpPr>
          <p:spPr>
            <a:xfrm rot="5400000">
              <a:off x="3152766" y="5446077"/>
              <a:ext cx="1046396" cy="261610"/>
            </a:xfrm>
            <a:prstGeom prst="rect">
              <a:avLst/>
            </a:prstGeom>
            <a:noFill/>
          </p:spPr>
          <p:txBody>
            <a:bodyPr wrap="square" rtlCol="0">
              <a:spAutoFit/>
            </a:bodyPr>
            <a:lstStyle/>
            <a:p>
              <a:pPr algn="ctr"/>
              <a:r>
                <a:rPr lang="en-US" sz="1100" dirty="0"/>
                <a:t>SALIDAS</a:t>
              </a:r>
            </a:p>
          </p:txBody>
        </p:sp>
      </p:grpSp>
      <p:cxnSp>
        <p:nvCxnSpPr>
          <p:cNvPr id="20" name="Conector recto 19">
            <a:extLst>
              <a:ext uri="{FF2B5EF4-FFF2-40B4-BE49-F238E27FC236}">
                <a16:creationId xmlns:a16="http://schemas.microsoft.com/office/drawing/2014/main" id="{5402C04F-A20F-462F-AD6B-4A5A74EB0212}"/>
              </a:ext>
            </a:extLst>
          </p:cNvPr>
          <p:cNvCxnSpPr/>
          <p:nvPr/>
        </p:nvCxnSpPr>
        <p:spPr>
          <a:xfrm>
            <a:off x="5708342" y="461639"/>
            <a:ext cx="79899" cy="5921406"/>
          </a:xfrm>
          <a:prstGeom prst="line">
            <a:avLst/>
          </a:prstGeom>
        </p:spPr>
        <p:style>
          <a:lnRef idx="1">
            <a:schemeClr val="accent1"/>
          </a:lnRef>
          <a:fillRef idx="0">
            <a:schemeClr val="accent1"/>
          </a:fillRef>
          <a:effectRef idx="0">
            <a:schemeClr val="accent1"/>
          </a:effectRef>
          <a:fontRef idx="minor">
            <a:schemeClr val="tx1"/>
          </a:fontRef>
        </p:style>
      </p:cxnSp>
      <p:pic>
        <p:nvPicPr>
          <p:cNvPr id="22" name="Imagen 21" descr="Imagen que contiene reloj, objeto&#10;&#10;Descripción generada automáticamente">
            <a:extLst>
              <a:ext uri="{FF2B5EF4-FFF2-40B4-BE49-F238E27FC236}">
                <a16:creationId xmlns:a16="http://schemas.microsoft.com/office/drawing/2014/main" id="{D9954BE2-82E8-455A-923E-636FDB86D6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7345" y="1880075"/>
            <a:ext cx="4099560" cy="1112520"/>
          </a:xfrm>
          <a:prstGeom prst="rect">
            <a:avLst/>
          </a:prstGeom>
        </p:spPr>
      </p:pic>
      <p:sp>
        <p:nvSpPr>
          <p:cNvPr id="24" name="CuadroTexto 23">
            <a:extLst>
              <a:ext uri="{FF2B5EF4-FFF2-40B4-BE49-F238E27FC236}">
                <a16:creationId xmlns:a16="http://schemas.microsoft.com/office/drawing/2014/main" id="{3B97A855-9E97-4281-A5AF-C911CEACB491}"/>
              </a:ext>
            </a:extLst>
          </p:cNvPr>
          <p:cNvSpPr txBox="1"/>
          <p:nvPr/>
        </p:nvSpPr>
        <p:spPr>
          <a:xfrm>
            <a:off x="6307345" y="3143228"/>
            <a:ext cx="4381366" cy="2492990"/>
          </a:xfrm>
          <a:prstGeom prst="rect">
            <a:avLst/>
          </a:prstGeom>
          <a:noFill/>
        </p:spPr>
        <p:txBody>
          <a:bodyPr wrap="square" rtlCol="0">
            <a:spAutoFit/>
          </a:bodyPr>
          <a:lstStyle/>
          <a:p>
            <a:pPr algn="just"/>
            <a:r>
              <a:rPr lang="en-US" sz="1200" b="1" dirty="0">
                <a:latin typeface="Abadi Extra Light" panose="020B0204020104020204" pitchFamily="34" charset="0"/>
              </a:rPr>
              <a:t>ENTRADAS</a:t>
            </a:r>
          </a:p>
          <a:p>
            <a:pPr algn="just"/>
            <a:r>
              <a:rPr lang="en-US" sz="1400" dirty="0">
                <a:latin typeface="Abadi Extra Light" panose="020B0204020104020204" pitchFamily="34" charset="0"/>
              </a:rPr>
              <a:t>Conjunto de </a:t>
            </a:r>
            <a:r>
              <a:rPr lang="en-US" sz="1400" dirty="0" err="1">
                <a:latin typeface="Abadi Extra Light" panose="020B0204020104020204" pitchFamily="34" charset="0"/>
              </a:rPr>
              <a:t>entrenamiento</a:t>
            </a:r>
            <a:r>
              <a:rPr lang="en-US" sz="1400" dirty="0">
                <a:latin typeface="Abadi Extra Light" panose="020B0204020104020204" pitchFamily="34" charset="0"/>
              </a:rPr>
              <a:t> y conjunto de </a:t>
            </a:r>
            <a:r>
              <a:rPr lang="en-US" sz="1400" dirty="0" err="1">
                <a:latin typeface="Abadi Extra Light" panose="020B0204020104020204" pitchFamily="34" charset="0"/>
              </a:rPr>
              <a:t>prueba</a:t>
            </a:r>
            <a:r>
              <a:rPr lang="en-US" sz="1400" dirty="0">
                <a:latin typeface="Abadi Extra Light" panose="020B0204020104020204" pitchFamily="34" charset="0"/>
              </a:rPr>
              <a:t> </a:t>
            </a:r>
            <a:br>
              <a:rPr lang="en-US" sz="1400" dirty="0">
                <a:latin typeface="Abadi Extra Light" panose="020B0204020104020204" pitchFamily="34" charset="0"/>
              </a:rPr>
            </a:br>
            <a:r>
              <a:rPr lang="en-US" sz="1400" dirty="0">
                <a:latin typeface="Abadi Extra Light" panose="020B0204020104020204" pitchFamily="34" charset="0"/>
              </a:rPr>
              <a:t>(</a:t>
            </a:r>
            <a:r>
              <a:rPr lang="en-US" sz="1400" dirty="0" err="1">
                <a:latin typeface="Abadi Extra Light" panose="020B0204020104020204" pitchFamily="34" charset="0"/>
              </a:rPr>
              <a:t>prueba</a:t>
            </a:r>
            <a:r>
              <a:rPr lang="en-US" sz="1400" dirty="0">
                <a:latin typeface="Abadi Extra Light" panose="020B0204020104020204" pitchFamily="34" charset="0"/>
              </a:rPr>
              <a:t> y </a:t>
            </a:r>
            <a:r>
              <a:rPr lang="en-US" sz="1400" dirty="0" err="1">
                <a:latin typeface="Abadi Extra Light" panose="020B0204020104020204" pitchFamily="34" charset="0"/>
              </a:rPr>
              <a:t>validación</a:t>
            </a:r>
            <a:r>
              <a:rPr lang="en-US" sz="1400" dirty="0">
                <a:latin typeface="Abadi Extra Light" panose="020B0204020104020204" pitchFamily="34" charset="0"/>
              </a:rPr>
              <a:t>).</a:t>
            </a:r>
          </a:p>
          <a:p>
            <a:pPr algn="just"/>
            <a:endParaRPr lang="en-US" sz="1200" u="sng" dirty="0">
              <a:latin typeface="Abadi Extra Light" panose="020B0204020104020204" pitchFamily="34" charset="0"/>
            </a:endParaRPr>
          </a:p>
          <a:p>
            <a:pPr algn="just"/>
            <a:r>
              <a:rPr lang="en-US" sz="1200" b="1" dirty="0">
                <a:latin typeface="Abadi Extra Light" panose="020B0204020104020204" pitchFamily="34" charset="0"/>
              </a:rPr>
              <a:t>CAPAS OCULTAS </a:t>
            </a:r>
          </a:p>
          <a:p>
            <a:pPr algn="just"/>
            <a:r>
              <a:rPr lang="es-GT" sz="1400" dirty="0">
                <a:latin typeface="Abadi Extra Light" panose="020B0204020104020204" pitchFamily="34" charset="0"/>
              </a:rPr>
              <a:t>Se multiplican los datos de entrada por los pesos sinápticos y se encuentra iterativamente la conexión entre nodos que optimice el hiperplano de separabilidad.</a:t>
            </a:r>
          </a:p>
          <a:p>
            <a:pPr algn="just"/>
            <a:endParaRPr lang="en-US" sz="1200" dirty="0">
              <a:latin typeface="Abadi Extra Light" panose="020B0204020104020204" pitchFamily="34" charset="0"/>
            </a:endParaRPr>
          </a:p>
          <a:p>
            <a:pPr algn="just"/>
            <a:r>
              <a:rPr lang="en-US" sz="1200" b="1" dirty="0">
                <a:latin typeface="Abadi Extra Light" panose="020B0204020104020204" pitchFamily="34" charset="0"/>
              </a:rPr>
              <a:t>SALIDAS</a:t>
            </a:r>
          </a:p>
          <a:p>
            <a:pPr algn="just"/>
            <a:r>
              <a:rPr lang="en-US" sz="1400" dirty="0">
                <a:latin typeface="Abadi Extra Light" panose="020B0204020104020204" pitchFamily="34" charset="0"/>
              </a:rPr>
              <a:t>Vector de </a:t>
            </a:r>
            <a:r>
              <a:rPr lang="en-US" sz="1400" dirty="0" err="1">
                <a:latin typeface="Abadi Extra Light" panose="020B0204020104020204" pitchFamily="34" charset="0"/>
              </a:rPr>
              <a:t>etiquetas</a:t>
            </a:r>
            <a:r>
              <a:rPr lang="en-US" sz="1400" dirty="0">
                <a:latin typeface="Abadi Extra Light" panose="020B0204020104020204" pitchFamily="34" charset="0"/>
              </a:rPr>
              <a:t> con las </a:t>
            </a:r>
            <a:r>
              <a:rPr lang="en-US" sz="1400" dirty="0" err="1">
                <a:latin typeface="Abadi Extra Light" panose="020B0204020104020204" pitchFamily="34" charset="0"/>
              </a:rPr>
              <a:t>clases</a:t>
            </a:r>
            <a:r>
              <a:rPr lang="en-US" sz="1400" dirty="0">
                <a:latin typeface="Abadi Extra Light" panose="020B0204020104020204" pitchFamily="34" charset="0"/>
              </a:rPr>
              <a:t> </a:t>
            </a:r>
            <a:r>
              <a:rPr lang="en-US" sz="1400" dirty="0" err="1">
                <a:latin typeface="Abadi Extra Light" panose="020B0204020104020204" pitchFamily="34" charset="0"/>
              </a:rPr>
              <a:t>previstas</a:t>
            </a:r>
            <a:r>
              <a:rPr lang="en-US" sz="1400" dirty="0">
                <a:latin typeface="Abadi Extra Light" panose="020B0204020104020204" pitchFamily="34" charset="0"/>
              </a:rPr>
              <a:t>.</a:t>
            </a:r>
          </a:p>
          <a:p>
            <a:pPr algn="just"/>
            <a:endParaRPr lang="en-US" sz="1200" dirty="0">
              <a:latin typeface="Abadi Extra Light" panose="020B0204020104020204" pitchFamily="34" charset="0"/>
            </a:endParaRPr>
          </a:p>
        </p:txBody>
      </p:sp>
    </p:spTree>
    <p:extLst>
      <p:ext uri="{BB962C8B-B14F-4D97-AF65-F5344CB8AC3E}">
        <p14:creationId xmlns:p14="http://schemas.microsoft.com/office/powerpoint/2010/main" val="158150770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8B98D-A943-4557-A450-06FD1E297F9C}"/>
              </a:ext>
            </a:extLst>
          </p:cNvPr>
          <p:cNvSpPr>
            <a:spLocks noGrp="1"/>
          </p:cNvSpPr>
          <p:nvPr>
            <p:ph type="title"/>
          </p:nvPr>
        </p:nvSpPr>
        <p:spPr>
          <a:xfrm>
            <a:off x="589429" y="878958"/>
            <a:ext cx="8545046" cy="910492"/>
          </a:xfrm>
        </p:spPr>
        <p:txBody>
          <a:bodyPr rtlCol="0" anchor="ctr">
            <a:noAutofit/>
          </a:bodyPr>
          <a:lstStyle/>
          <a:p>
            <a:pPr rtl="0"/>
            <a:r>
              <a:rPr lang="es-ES" sz="4000" dirty="0">
                <a:solidFill>
                  <a:srgbClr val="C5AE76"/>
                </a:solidFill>
              </a:rPr>
              <a:t>Rendimiento de Clasificadores</a:t>
            </a:r>
          </a:p>
        </p:txBody>
      </p:sp>
      <p:sp>
        <p:nvSpPr>
          <p:cNvPr id="14" name="Título 1">
            <a:extLst>
              <a:ext uri="{FF2B5EF4-FFF2-40B4-BE49-F238E27FC236}">
                <a16:creationId xmlns:a16="http://schemas.microsoft.com/office/drawing/2014/main" id="{D35E4AE7-EAE7-4AA9-8903-8D85B60FA215}"/>
              </a:ext>
            </a:extLst>
          </p:cNvPr>
          <p:cNvSpPr txBox="1">
            <a:spLocks/>
          </p:cNvSpPr>
          <p:nvPr/>
        </p:nvSpPr>
        <p:spPr>
          <a:xfrm>
            <a:off x="7359654" y="2402890"/>
            <a:ext cx="2706221" cy="9104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50" baseline="0">
                <a:solidFill>
                  <a:schemeClr val="tx1"/>
                </a:solidFill>
                <a:latin typeface="+mj-lt"/>
                <a:ea typeface="+mj-ea"/>
                <a:cs typeface="+mj-cs"/>
              </a:defRPr>
            </a:lvl1pPr>
          </a:lstStyle>
          <a:p>
            <a:pPr algn="ctr"/>
            <a:r>
              <a:rPr lang="es-ES" sz="1600" dirty="0"/>
              <a:t>EXACTITUD: “ACCURACY”</a:t>
            </a:r>
          </a:p>
        </p:txBody>
      </p:sp>
      <p:pic>
        <p:nvPicPr>
          <p:cNvPr id="6" name="Imagen 5" descr="Imagen que contiene Aplicación&#10;&#10;Descripción generada automáticamente">
            <a:extLst>
              <a:ext uri="{FF2B5EF4-FFF2-40B4-BE49-F238E27FC236}">
                <a16:creationId xmlns:a16="http://schemas.microsoft.com/office/drawing/2014/main" id="{D4C7F23B-68FB-46B2-A957-3DBBEC3266C8}"/>
              </a:ext>
            </a:extLst>
          </p:cNvPr>
          <p:cNvPicPr>
            <a:picLocks noChangeAspect="1"/>
          </p:cNvPicPr>
          <p:nvPr/>
        </p:nvPicPr>
        <p:blipFill rotWithShape="1">
          <a:blip r:embed="rId3">
            <a:extLst>
              <a:ext uri="{28A0092B-C50C-407E-A947-70E740481C1C}">
                <a14:useLocalDpi xmlns:a14="http://schemas.microsoft.com/office/drawing/2010/main" val="0"/>
              </a:ext>
            </a:extLst>
          </a:blip>
          <a:srcRect b="8450"/>
          <a:stretch/>
        </p:blipFill>
        <p:spPr>
          <a:xfrm>
            <a:off x="1102995" y="2183129"/>
            <a:ext cx="3342824" cy="2806121"/>
          </a:xfrm>
          <a:prstGeom prst="rect">
            <a:avLst/>
          </a:prstGeom>
        </p:spPr>
      </p:pic>
      <p:pic>
        <p:nvPicPr>
          <p:cNvPr id="4098" name="Picture 2" descr="How good is your Machine Learning Algorithm? | MyDataModels">
            <a:extLst>
              <a:ext uri="{FF2B5EF4-FFF2-40B4-BE49-F238E27FC236}">
                <a16:creationId xmlns:a16="http://schemas.microsoft.com/office/drawing/2014/main" id="{8233CEEC-4241-40FA-834B-219B75EBEB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200"/>
          <a:stretch/>
        </p:blipFill>
        <p:spPr bwMode="auto">
          <a:xfrm>
            <a:off x="7265132" y="2956107"/>
            <a:ext cx="3234505" cy="1414462"/>
          </a:xfrm>
          <a:prstGeom prst="rect">
            <a:avLst/>
          </a:prstGeom>
          <a:noFill/>
          <a:extLst>
            <a:ext uri="{909E8E84-426E-40DD-AFC4-6F175D3DCCD1}">
              <a14:hiddenFill xmlns:a14="http://schemas.microsoft.com/office/drawing/2010/main">
                <a:solidFill>
                  <a:srgbClr val="FFFFFF"/>
                </a:solidFill>
              </a14:hiddenFill>
            </a:ext>
          </a:extLst>
        </p:spPr>
      </p:pic>
      <p:sp>
        <p:nvSpPr>
          <p:cNvPr id="15" name="Título 1">
            <a:extLst>
              <a:ext uri="{FF2B5EF4-FFF2-40B4-BE49-F238E27FC236}">
                <a16:creationId xmlns:a16="http://schemas.microsoft.com/office/drawing/2014/main" id="{E114B861-6702-419D-AFFB-97747DFC0851}"/>
              </a:ext>
            </a:extLst>
          </p:cNvPr>
          <p:cNvSpPr txBox="1">
            <a:spLocks/>
          </p:cNvSpPr>
          <p:nvPr/>
        </p:nvSpPr>
        <p:spPr>
          <a:xfrm>
            <a:off x="4558911" y="3021571"/>
            <a:ext cx="2706221" cy="91049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800" kern="1200" spc="-50" baseline="0">
                <a:solidFill>
                  <a:schemeClr val="tx1"/>
                </a:solidFill>
                <a:latin typeface="+mj-lt"/>
                <a:ea typeface="+mj-ea"/>
                <a:cs typeface="+mj-cs"/>
              </a:defRPr>
            </a:lvl1pPr>
          </a:lstStyle>
          <a:p>
            <a:pPr marL="285750" indent="-285750">
              <a:buClr>
                <a:srgbClr val="C5AE76"/>
              </a:buClr>
              <a:buFont typeface="Arial" panose="020B0604020202020204" pitchFamily="34" charset="0"/>
              <a:buChar char="•"/>
            </a:pPr>
            <a:r>
              <a:rPr lang="es-ES" sz="1800" dirty="0"/>
              <a:t>TP : Verdadero positivo</a:t>
            </a:r>
          </a:p>
          <a:p>
            <a:pPr marL="285750" indent="-285750">
              <a:buClr>
                <a:srgbClr val="C5AE76"/>
              </a:buClr>
              <a:buFont typeface="Arial" panose="020B0604020202020204" pitchFamily="34" charset="0"/>
              <a:buChar char="•"/>
            </a:pPr>
            <a:r>
              <a:rPr lang="es-ES" sz="1800" dirty="0"/>
              <a:t>FN: Falso negativo</a:t>
            </a:r>
          </a:p>
          <a:p>
            <a:pPr marL="285750" indent="-285750">
              <a:buClr>
                <a:srgbClr val="C5AE76"/>
              </a:buClr>
              <a:buFont typeface="Arial" panose="020B0604020202020204" pitchFamily="34" charset="0"/>
              <a:buChar char="•"/>
            </a:pPr>
            <a:r>
              <a:rPr lang="es-ES" sz="1800" dirty="0"/>
              <a:t>TN: Verdadero negativo</a:t>
            </a:r>
          </a:p>
          <a:p>
            <a:pPr marL="285750" indent="-285750">
              <a:buClr>
                <a:srgbClr val="C5AE76"/>
              </a:buClr>
              <a:buFont typeface="Arial" panose="020B0604020202020204" pitchFamily="34" charset="0"/>
              <a:buChar char="•"/>
            </a:pPr>
            <a:r>
              <a:rPr lang="es-ES" sz="1800" dirty="0"/>
              <a:t>FP: Falso positivo</a:t>
            </a:r>
          </a:p>
        </p:txBody>
      </p:sp>
      <p:sp>
        <p:nvSpPr>
          <p:cNvPr id="7" name="Marcador de contenido 9">
            <a:extLst>
              <a:ext uri="{FF2B5EF4-FFF2-40B4-BE49-F238E27FC236}">
                <a16:creationId xmlns:a16="http://schemas.microsoft.com/office/drawing/2014/main" id="{0D6FC99D-FE75-40D7-BE50-CA998E178894}"/>
              </a:ext>
            </a:extLst>
          </p:cNvPr>
          <p:cNvSpPr txBox="1">
            <a:spLocks/>
          </p:cNvSpPr>
          <p:nvPr/>
        </p:nvSpPr>
        <p:spPr>
          <a:xfrm>
            <a:off x="1217451" y="4989250"/>
            <a:ext cx="3644501"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1000" dirty="0">
                <a:solidFill>
                  <a:schemeClr val="tx1"/>
                </a:solidFill>
              </a:rPr>
              <a:t>FIG 7:  MATRIZ DE CONFUSIÓN [13].</a:t>
            </a:r>
          </a:p>
        </p:txBody>
      </p:sp>
      <p:sp>
        <p:nvSpPr>
          <p:cNvPr id="8" name="Elipse 7">
            <a:extLst>
              <a:ext uri="{FF2B5EF4-FFF2-40B4-BE49-F238E27FC236}">
                <a16:creationId xmlns:a16="http://schemas.microsoft.com/office/drawing/2014/main" id="{F655291C-CEEF-4497-9595-23CC36329598}"/>
              </a:ext>
            </a:extLst>
          </p:cNvPr>
          <p:cNvSpPr/>
          <p:nvPr/>
        </p:nvSpPr>
        <p:spPr>
          <a:xfrm>
            <a:off x="11076495" y="5938887"/>
            <a:ext cx="254523" cy="2450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337291018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Gráfico&#10;&#10;Descripción generada automáticamente">
            <a:extLst>
              <a:ext uri="{FF2B5EF4-FFF2-40B4-BE49-F238E27FC236}">
                <a16:creationId xmlns:a16="http://schemas.microsoft.com/office/drawing/2014/main" id="{A7E806FE-183E-4339-AAE7-8C87BD3DC6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2301" y="723984"/>
            <a:ext cx="4970962" cy="5114552"/>
          </a:xfrm>
          <a:prstGeom prst="rect">
            <a:avLst/>
          </a:prstGeom>
        </p:spPr>
      </p:pic>
      <p:sp>
        <p:nvSpPr>
          <p:cNvPr id="5" name="Marcador de contenido 9">
            <a:extLst>
              <a:ext uri="{FF2B5EF4-FFF2-40B4-BE49-F238E27FC236}">
                <a16:creationId xmlns:a16="http://schemas.microsoft.com/office/drawing/2014/main" id="{CC0CE82A-44FF-40C6-B894-12641FDEB2AC}"/>
              </a:ext>
            </a:extLst>
          </p:cNvPr>
          <p:cNvSpPr txBox="1">
            <a:spLocks/>
          </p:cNvSpPr>
          <p:nvPr/>
        </p:nvSpPr>
        <p:spPr>
          <a:xfrm>
            <a:off x="3260552" y="5919571"/>
            <a:ext cx="4872711"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900" dirty="0">
                <a:solidFill>
                  <a:schemeClr val="tx1"/>
                </a:solidFill>
              </a:rPr>
              <a:t>FIG 8: MATRIZ DE CONFUSIÓN SEÑAL EEG CHB-MIT SCALP UTILIZANDO SVM.</a:t>
            </a:r>
          </a:p>
        </p:txBody>
      </p:sp>
      <p:sp>
        <p:nvSpPr>
          <p:cNvPr id="6" name="Elipse 5">
            <a:extLst>
              <a:ext uri="{FF2B5EF4-FFF2-40B4-BE49-F238E27FC236}">
                <a16:creationId xmlns:a16="http://schemas.microsoft.com/office/drawing/2014/main" id="{C9AAB87D-0529-4DFD-B882-13EDF1F8CCCE}"/>
              </a:ext>
            </a:extLst>
          </p:cNvPr>
          <p:cNvSpPr/>
          <p:nvPr/>
        </p:nvSpPr>
        <p:spPr>
          <a:xfrm>
            <a:off x="11076495" y="5919571"/>
            <a:ext cx="254523" cy="2450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134647434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623DBC43-2FBF-624E-ADB3-BA3583AE3449}"/>
              </a:ext>
            </a:extLst>
          </p:cNvPr>
          <p:cNvSpPr>
            <a:spLocks noGrp="1"/>
          </p:cNvSpPr>
          <p:nvPr>
            <p:ph type="body" idx="1"/>
          </p:nvPr>
        </p:nvSpPr>
        <p:spPr/>
        <p:txBody>
          <a:bodyPr rtlCol="0"/>
          <a:lstStyle/>
          <a:p>
            <a:pPr rtl="0"/>
            <a:r>
              <a:rPr lang="es" dirty="0"/>
              <a:t>Máquina de vectores de soporte: SVM</a:t>
            </a:r>
          </a:p>
        </p:txBody>
      </p:sp>
      <p:sp>
        <p:nvSpPr>
          <p:cNvPr id="5" name="Marcador de texto 4">
            <a:extLst>
              <a:ext uri="{FF2B5EF4-FFF2-40B4-BE49-F238E27FC236}">
                <a16:creationId xmlns:a16="http://schemas.microsoft.com/office/drawing/2014/main" id="{F06F519B-5706-804A-8C82-1D9EDAA812F9}"/>
              </a:ext>
            </a:extLst>
          </p:cNvPr>
          <p:cNvSpPr>
            <a:spLocks noGrp="1"/>
          </p:cNvSpPr>
          <p:nvPr>
            <p:ph type="body" idx="13"/>
          </p:nvPr>
        </p:nvSpPr>
        <p:spPr/>
        <p:txBody>
          <a:bodyPr rtlCol="0"/>
          <a:lstStyle/>
          <a:p>
            <a:pPr rtl="0"/>
            <a:r>
              <a:rPr lang="es" dirty="0"/>
              <a:t>Redes neuronales </a:t>
            </a:r>
            <a:br>
              <a:rPr lang="es" dirty="0"/>
            </a:br>
            <a:r>
              <a:rPr lang="es" dirty="0"/>
              <a:t>artificiales: ANN</a:t>
            </a:r>
          </a:p>
        </p:txBody>
      </p:sp>
      <p:sp>
        <p:nvSpPr>
          <p:cNvPr id="2" name="Título 1">
            <a:extLst>
              <a:ext uri="{FF2B5EF4-FFF2-40B4-BE49-F238E27FC236}">
                <a16:creationId xmlns:a16="http://schemas.microsoft.com/office/drawing/2014/main" id="{DDA2F4C6-F233-E149-AA45-4C25835FC4B7}"/>
              </a:ext>
            </a:extLst>
          </p:cNvPr>
          <p:cNvSpPr>
            <a:spLocks noGrp="1"/>
          </p:cNvSpPr>
          <p:nvPr>
            <p:ph type="title"/>
          </p:nvPr>
        </p:nvSpPr>
        <p:spPr>
          <a:xfrm>
            <a:off x="645125" y="833133"/>
            <a:ext cx="5754220" cy="910492"/>
          </a:xfrm>
        </p:spPr>
        <p:txBody>
          <a:bodyPr rtlCol="0">
            <a:normAutofit/>
          </a:bodyPr>
          <a:lstStyle/>
          <a:p>
            <a:pPr rtl="0"/>
            <a:r>
              <a:rPr lang="es" dirty="0">
                <a:solidFill>
                  <a:srgbClr val="C5AE76"/>
                </a:solidFill>
              </a:rPr>
              <a:t>Resultados</a:t>
            </a:r>
          </a:p>
        </p:txBody>
      </p:sp>
      <p:pic>
        <p:nvPicPr>
          <p:cNvPr id="12" name="Marcador de contenido 11" descr="Tabla&#10;&#10;Descripción generada automáticamente">
            <a:extLst>
              <a:ext uri="{FF2B5EF4-FFF2-40B4-BE49-F238E27FC236}">
                <a16:creationId xmlns:a16="http://schemas.microsoft.com/office/drawing/2014/main" id="{B8183DA4-12F8-43C7-968A-008E77CA9C37}"/>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t="8127"/>
          <a:stretch/>
        </p:blipFill>
        <p:spPr>
          <a:xfrm>
            <a:off x="463391" y="3028951"/>
            <a:ext cx="5496438" cy="2779656"/>
          </a:xfrm>
        </p:spPr>
      </p:pic>
      <p:pic>
        <p:nvPicPr>
          <p:cNvPr id="14" name="Marcador de contenido 13" descr="Tabla&#10;&#10;Descripción generada automáticamente">
            <a:extLst>
              <a:ext uri="{FF2B5EF4-FFF2-40B4-BE49-F238E27FC236}">
                <a16:creationId xmlns:a16="http://schemas.microsoft.com/office/drawing/2014/main" id="{6D5C9412-E332-4FBF-8A0C-ED5FD84F31D0}"/>
              </a:ext>
            </a:extLst>
          </p:cNvPr>
          <p:cNvPicPr>
            <a:picLocks noGrp="1" noChangeAspect="1"/>
          </p:cNvPicPr>
          <p:nvPr>
            <p:ph sz="half" idx="14"/>
          </p:nvPr>
        </p:nvPicPr>
        <p:blipFill rotWithShape="1">
          <a:blip r:embed="rId4">
            <a:extLst>
              <a:ext uri="{28A0092B-C50C-407E-A947-70E740481C1C}">
                <a14:useLocalDpi xmlns:a14="http://schemas.microsoft.com/office/drawing/2010/main" val="0"/>
              </a:ext>
            </a:extLst>
          </a:blip>
          <a:srcRect t="5653"/>
          <a:stretch/>
        </p:blipFill>
        <p:spPr>
          <a:xfrm>
            <a:off x="6848474" y="2929072"/>
            <a:ext cx="4724763" cy="3452126"/>
          </a:xfrm>
        </p:spPr>
      </p:pic>
    </p:spTree>
    <p:extLst>
      <p:ext uri="{BB962C8B-B14F-4D97-AF65-F5344CB8AC3E}">
        <p14:creationId xmlns:p14="http://schemas.microsoft.com/office/powerpoint/2010/main" val="1822862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B742AA40-0738-4499-AA30-125FFE3D257E}"/>
              </a:ext>
            </a:extLst>
          </p:cNvPr>
          <p:cNvSpPr>
            <a:spLocks noGrp="1"/>
          </p:cNvSpPr>
          <p:nvPr>
            <p:ph type="title"/>
          </p:nvPr>
        </p:nvSpPr>
        <p:spPr>
          <a:xfrm>
            <a:off x="156736" y="882186"/>
            <a:ext cx="5474019" cy="910492"/>
          </a:xfrm>
        </p:spPr>
        <p:txBody>
          <a:bodyPr rtlCol="0" anchor="ctr">
            <a:noAutofit/>
          </a:bodyPr>
          <a:lstStyle/>
          <a:p>
            <a:pPr algn="l"/>
            <a:r>
              <a:rPr lang="es-ES" sz="3600" dirty="0">
                <a:solidFill>
                  <a:srgbClr val="C5AE76"/>
                </a:solidFill>
              </a:rPr>
              <a:t>Herramienta de Software </a:t>
            </a:r>
            <a:br>
              <a:rPr lang="es-ES" sz="3600" dirty="0">
                <a:solidFill>
                  <a:srgbClr val="C5AE76"/>
                </a:solidFill>
              </a:rPr>
            </a:br>
            <a:r>
              <a:rPr lang="es-ES" sz="3200" dirty="0">
                <a:solidFill>
                  <a:srgbClr val="C5AE76"/>
                </a:solidFill>
              </a:rPr>
              <a:t>Epileptic EEG Analysis Toolbox</a:t>
            </a:r>
            <a:br>
              <a:rPr lang="es-ES" sz="3600" dirty="0">
                <a:solidFill>
                  <a:srgbClr val="C5AE76"/>
                </a:solidFill>
              </a:rPr>
            </a:br>
            <a:r>
              <a:rPr lang="es-ES" sz="3600" dirty="0">
                <a:solidFill>
                  <a:srgbClr val="C5AE76"/>
                </a:solidFill>
              </a:rPr>
              <a:t> </a:t>
            </a:r>
          </a:p>
        </p:txBody>
      </p:sp>
      <p:grpSp>
        <p:nvGrpSpPr>
          <p:cNvPr id="6" name="Grupo 5">
            <a:extLst>
              <a:ext uri="{FF2B5EF4-FFF2-40B4-BE49-F238E27FC236}">
                <a16:creationId xmlns:a16="http://schemas.microsoft.com/office/drawing/2014/main" id="{786F0CFB-3623-47EE-91FA-0BC3652EC70F}"/>
              </a:ext>
            </a:extLst>
          </p:cNvPr>
          <p:cNvGrpSpPr/>
          <p:nvPr/>
        </p:nvGrpSpPr>
        <p:grpSpPr>
          <a:xfrm>
            <a:off x="7525319" y="751533"/>
            <a:ext cx="2470937" cy="5418448"/>
            <a:chOff x="8689136" y="1113866"/>
            <a:chExt cx="2085013" cy="4816257"/>
          </a:xfrm>
        </p:grpSpPr>
        <p:pic>
          <p:nvPicPr>
            <p:cNvPr id="7" name="Imagen 6" descr="Diagrama, Esquemático&#10;&#10;Descripción generada automáticamente">
              <a:extLst>
                <a:ext uri="{FF2B5EF4-FFF2-40B4-BE49-F238E27FC236}">
                  <a16:creationId xmlns:a16="http://schemas.microsoft.com/office/drawing/2014/main" id="{05D65856-9115-4368-B8BD-7296B36B2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9136" y="1113866"/>
              <a:ext cx="2085013" cy="4816257"/>
            </a:xfrm>
            <a:prstGeom prst="rect">
              <a:avLst/>
            </a:prstGeom>
          </p:spPr>
        </p:pic>
        <p:sp>
          <p:nvSpPr>
            <p:cNvPr id="9" name="CuadroTexto 8">
              <a:extLst>
                <a:ext uri="{FF2B5EF4-FFF2-40B4-BE49-F238E27FC236}">
                  <a16:creationId xmlns:a16="http://schemas.microsoft.com/office/drawing/2014/main" id="{39AB8C24-FD4A-4B26-9F45-E43A222EB3DC}"/>
                </a:ext>
              </a:extLst>
            </p:cNvPr>
            <p:cNvSpPr txBox="1"/>
            <p:nvPr/>
          </p:nvSpPr>
          <p:spPr>
            <a:xfrm>
              <a:off x="9026791" y="1178663"/>
              <a:ext cx="1409701" cy="261610"/>
            </a:xfrm>
            <a:prstGeom prst="rect">
              <a:avLst/>
            </a:prstGeom>
            <a:solidFill>
              <a:schemeClr val="bg1"/>
            </a:solidFill>
          </p:spPr>
          <p:txBody>
            <a:bodyPr wrap="square" rtlCol="0">
              <a:spAutoFit/>
            </a:bodyPr>
            <a:lstStyle/>
            <a:p>
              <a:pPr algn="ctr"/>
              <a:r>
                <a:rPr lang="en-US" sz="1100" dirty="0" err="1"/>
                <a:t>Menú</a:t>
              </a:r>
              <a:r>
                <a:rPr lang="en-US" sz="1100" dirty="0"/>
                <a:t> Principal</a:t>
              </a:r>
            </a:p>
          </p:txBody>
        </p:sp>
        <p:sp>
          <p:nvSpPr>
            <p:cNvPr id="10" name="CuadroTexto 9">
              <a:extLst>
                <a:ext uri="{FF2B5EF4-FFF2-40B4-BE49-F238E27FC236}">
                  <a16:creationId xmlns:a16="http://schemas.microsoft.com/office/drawing/2014/main" id="{1071F399-23BD-449E-9AC0-330EE10A8982}"/>
                </a:ext>
              </a:extLst>
            </p:cNvPr>
            <p:cNvSpPr txBox="1"/>
            <p:nvPr/>
          </p:nvSpPr>
          <p:spPr>
            <a:xfrm>
              <a:off x="8918907" y="1909523"/>
              <a:ext cx="1625468" cy="261610"/>
            </a:xfrm>
            <a:prstGeom prst="rect">
              <a:avLst/>
            </a:prstGeom>
            <a:solidFill>
              <a:schemeClr val="bg1"/>
            </a:solidFill>
          </p:spPr>
          <p:txBody>
            <a:bodyPr wrap="square" rtlCol="0">
              <a:spAutoFit/>
            </a:bodyPr>
            <a:lstStyle/>
            <a:p>
              <a:pPr algn="ctr"/>
              <a:r>
                <a:rPr lang="en-US" sz="1100" dirty="0"/>
                <a:t>Base de </a:t>
              </a:r>
              <a:r>
                <a:rPr lang="en-US" sz="1100" dirty="0" err="1"/>
                <a:t>Datos</a:t>
              </a:r>
              <a:r>
                <a:rPr lang="en-US" sz="1100" dirty="0"/>
                <a:t> HUMANA</a:t>
              </a:r>
            </a:p>
          </p:txBody>
        </p:sp>
        <p:sp>
          <p:nvSpPr>
            <p:cNvPr id="11" name="CuadroTexto 10">
              <a:extLst>
                <a:ext uri="{FF2B5EF4-FFF2-40B4-BE49-F238E27FC236}">
                  <a16:creationId xmlns:a16="http://schemas.microsoft.com/office/drawing/2014/main" id="{3C39A90F-9285-410C-810E-1814FB3AC0B9}"/>
                </a:ext>
              </a:extLst>
            </p:cNvPr>
            <p:cNvSpPr txBox="1"/>
            <p:nvPr/>
          </p:nvSpPr>
          <p:spPr>
            <a:xfrm>
              <a:off x="8918907" y="2722771"/>
              <a:ext cx="679184" cy="430887"/>
            </a:xfrm>
            <a:prstGeom prst="rect">
              <a:avLst/>
            </a:prstGeom>
            <a:solidFill>
              <a:schemeClr val="bg1"/>
            </a:solidFill>
          </p:spPr>
          <p:txBody>
            <a:bodyPr wrap="square" rtlCol="0">
              <a:spAutoFit/>
            </a:bodyPr>
            <a:lstStyle/>
            <a:p>
              <a:pPr algn="ctr"/>
              <a:r>
                <a:rPr lang="en-US" sz="1100" dirty="0" err="1"/>
                <a:t>Agregar</a:t>
              </a:r>
              <a:endParaRPr lang="en-US" sz="1100" dirty="0"/>
            </a:p>
            <a:p>
              <a:pPr algn="ctr"/>
              <a:r>
                <a:rPr lang="en-US" sz="1100" dirty="0" err="1"/>
                <a:t>Paciente</a:t>
              </a:r>
              <a:endParaRPr lang="en-US" sz="1100" dirty="0"/>
            </a:p>
          </p:txBody>
        </p:sp>
        <p:sp>
          <p:nvSpPr>
            <p:cNvPr id="12" name="CuadroTexto 11">
              <a:extLst>
                <a:ext uri="{FF2B5EF4-FFF2-40B4-BE49-F238E27FC236}">
                  <a16:creationId xmlns:a16="http://schemas.microsoft.com/office/drawing/2014/main" id="{8D1CD7F0-4FEE-4D87-8571-01488F4AB456}"/>
                </a:ext>
              </a:extLst>
            </p:cNvPr>
            <p:cNvSpPr txBox="1"/>
            <p:nvPr/>
          </p:nvSpPr>
          <p:spPr>
            <a:xfrm>
              <a:off x="9827861" y="2722770"/>
              <a:ext cx="716513" cy="430887"/>
            </a:xfrm>
            <a:prstGeom prst="rect">
              <a:avLst/>
            </a:prstGeom>
            <a:solidFill>
              <a:schemeClr val="bg1"/>
            </a:solidFill>
          </p:spPr>
          <p:txBody>
            <a:bodyPr wrap="square" rtlCol="0">
              <a:spAutoFit/>
            </a:bodyPr>
            <a:lstStyle/>
            <a:p>
              <a:pPr algn="ctr"/>
              <a:r>
                <a:rPr lang="en-US" sz="1100" dirty="0"/>
                <a:t>Consulta</a:t>
              </a:r>
            </a:p>
            <a:p>
              <a:pPr algn="ctr"/>
              <a:r>
                <a:rPr lang="en-US" sz="1100" dirty="0" err="1"/>
                <a:t>Paciente</a:t>
              </a:r>
              <a:endParaRPr lang="en-US" sz="1100" dirty="0"/>
            </a:p>
          </p:txBody>
        </p:sp>
        <p:sp>
          <p:nvSpPr>
            <p:cNvPr id="13" name="CuadroTexto 12">
              <a:extLst>
                <a:ext uri="{FF2B5EF4-FFF2-40B4-BE49-F238E27FC236}">
                  <a16:creationId xmlns:a16="http://schemas.microsoft.com/office/drawing/2014/main" id="{42F8D0A7-D41A-4838-B1F6-9D36B146C04C}"/>
                </a:ext>
              </a:extLst>
            </p:cNvPr>
            <p:cNvSpPr txBox="1"/>
            <p:nvPr/>
          </p:nvSpPr>
          <p:spPr>
            <a:xfrm>
              <a:off x="8918907" y="3707329"/>
              <a:ext cx="1625468" cy="261610"/>
            </a:xfrm>
            <a:prstGeom prst="rect">
              <a:avLst/>
            </a:prstGeom>
            <a:solidFill>
              <a:schemeClr val="bg1"/>
            </a:solidFill>
          </p:spPr>
          <p:txBody>
            <a:bodyPr wrap="square" rtlCol="0">
              <a:spAutoFit/>
            </a:bodyPr>
            <a:lstStyle/>
            <a:p>
              <a:pPr algn="ctr"/>
              <a:r>
                <a:rPr lang="es-GT" sz="1100"/>
                <a:t>Adquisición de señales</a:t>
              </a:r>
            </a:p>
          </p:txBody>
        </p:sp>
        <p:sp>
          <p:nvSpPr>
            <p:cNvPr id="14" name="CuadroTexto 13">
              <a:extLst>
                <a:ext uri="{FF2B5EF4-FFF2-40B4-BE49-F238E27FC236}">
                  <a16:creationId xmlns:a16="http://schemas.microsoft.com/office/drawing/2014/main" id="{FFC05E50-F3FC-48DC-8C34-454BE1606C24}"/>
                </a:ext>
              </a:extLst>
            </p:cNvPr>
            <p:cNvSpPr txBox="1"/>
            <p:nvPr/>
          </p:nvSpPr>
          <p:spPr>
            <a:xfrm>
              <a:off x="9258499" y="4308018"/>
              <a:ext cx="980876" cy="261610"/>
            </a:xfrm>
            <a:prstGeom prst="rect">
              <a:avLst/>
            </a:prstGeom>
            <a:solidFill>
              <a:schemeClr val="bg1"/>
            </a:solidFill>
          </p:spPr>
          <p:txBody>
            <a:bodyPr wrap="square" rtlCol="0">
              <a:spAutoFit/>
            </a:bodyPr>
            <a:lstStyle/>
            <a:p>
              <a:pPr algn="ctr"/>
              <a:r>
                <a:rPr lang="en-US" sz="1100" dirty="0"/>
                <a:t>Características</a:t>
              </a:r>
            </a:p>
          </p:txBody>
        </p:sp>
        <p:sp>
          <p:nvSpPr>
            <p:cNvPr id="15" name="CuadroTexto 14">
              <a:extLst>
                <a:ext uri="{FF2B5EF4-FFF2-40B4-BE49-F238E27FC236}">
                  <a16:creationId xmlns:a16="http://schemas.microsoft.com/office/drawing/2014/main" id="{D8D0C08C-89FC-4460-8ADD-13010F135976}"/>
                </a:ext>
              </a:extLst>
            </p:cNvPr>
            <p:cNvSpPr txBox="1"/>
            <p:nvPr/>
          </p:nvSpPr>
          <p:spPr>
            <a:xfrm>
              <a:off x="8765972" y="5021232"/>
              <a:ext cx="1855238" cy="261610"/>
            </a:xfrm>
            <a:prstGeom prst="rect">
              <a:avLst/>
            </a:prstGeom>
            <a:solidFill>
              <a:schemeClr val="bg1"/>
            </a:solidFill>
          </p:spPr>
          <p:txBody>
            <a:bodyPr wrap="square" rtlCol="0">
              <a:spAutoFit/>
            </a:bodyPr>
            <a:lstStyle/>
            <a:p>
              <a:pPr algn="ctr"/>
              <a:r>
                <a:rPr lang="en-US" sz="1100" dirty="0"/>
                <a:t>Extracción de características</a:t>
              </a:r>
            </a:p>
          </p:txBody>
        </p:sp>
        <p:sp>
          <p:nvSpPr>
            <p:cNvPr id="16" name="CuadroTexto 15">
              <a:extLst>
                <a:ext uri="{FF2B5EF4-FFF2-40B4-BE49-F238E27FC236}">
                  <a16:creationId xmlns:a16="http://schemas.microsoft.com/office/drawing/2014/main" id="{392AF98E-506C-4786-8080-84B7D265B69B}"/>
                </a:ext>
              </a:extLst>
            </p:cNvPr>
            <p:cNvSpPr txBox="1"/>
            <p:nvPr/>
          </p:nvSpPr>
          <p:spPr>
            <a:xfrm>
              <a:off x="8765972" y="5613329"/>
              <a:ext cx="1855238" cy="261610"/>
            </a:xfrm>
            <a:prstGeom prst="rect">
              <a:avLst/>
            </a:prstGeom>
            <a:solidFill>
              <a:schemeClr val="bg1"/>
            </a:solidFill>
          </p:spPr>
          <p:txBody>
            <a:bodyPr wrap="square" rtlCol="0">
              <a:spAutoFit/>
            </a:bodyPr>
            <a:lstStyle/>
            <a:p>
              <a:pPr algn="ctr"/>
              <a:r>
                <a:rPr lang="en-US" sz="1100" dirty="0" err="1"/>
                <a:t>Algoritmos</a:t>
              </a:r>
              <a:r>
                <a:rPr lang="en-US" sz="1100" dirty="0"/>
                <a:t> de </a:t>
              </a:r>
              <a:r>
                <a:rPr lang="en-US" sz="1100" dirty="0" err="1"/>
                <a:t>clasificación</a:t>
              </a:r>
              <a:endParaRPr lang="en-US" sz="1100" dirty="0"/>
            </a:p>
          </p:txBody>
        </p:sp>
      </p:grpSp>
      <p:sp>
        <p:nvSpPr>
          <p:cNvPr id="17" name="Marcador de contenido 9">
            <a:extLst>
              <a:ext uri="{FF2B5EF4-FFF2-40B4-BE49-F238E27FC236}">
                <a16:creationId xmlns:a16="http://schemas.microsoft.com/office/drawing/2014/main" id="{D103D968-6B8F-46FA-BBDA-70A4F60D1366}"/>
              </a:ext>
            </a:extLst>
          </p:cNvPr>
          <p:cNvSpPr txBox="1">
            <a:spLocks/>
          </p:cNvSpPr>
          <p:nvPr/>
        </p:nvSpPr>
        <p:spPr>
          <a:xfrm>
            <a:off x="7422541" y="6177102"/>
            <a:ext cx="2904548"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900" dirty="0">
                <a:solidFill>
                  <a:schemeClr val="tx1"/>
                </a:solidFill>
              </a:rPr>
              <a:t>ESTRUCTURA DE VENTANAS.</a:t>
            </a:r>
          </a:p>
        </p:txBody>
      </p:sp>
      <p:sp>
        <p:nvSpPr>
          <p:cNvPr id="18" name="CuadroTexto 17">
            <a:extLst>
              <a:ext uri="{FF2B5EF4-FFF2-40B4-BE49-F238E27FC236}">
                <a16:creationId xmlns:a16="http://schemas.microsoft.com/office/drawing/2014/main" id="{16AB6C97-5492-49BA-AF83-508A9B579911}"/>
              </a:ext>
            </a:extLst>
          </p:cNvPr>
          <p:cNvSpPr txBox="1"/>
          <p:nvPr/>
        </p:nvSpPr>
        <p:spPr>
          <a:xfrm>
            <a:off x="571674" y="2475120"/>
            <a:ext cx="4222268" cy="1569660"/>
          </a:xfrm>
          <a:prstGeom prst="rect">
            <a:avLst/>
          </a:prstGeom>
          <a:noFill/>
        </p:spPr>
        <p:txBody>
          <a:bodyPr wrap="square" rtlCol="0">
            <a:spAutoFit/>
          </a:bodyPr>
          <a:lstStyle/>
          <a:p>
            <a:pPr algn="just"/>
            <a:r>
              <a:rPr lang="es-MX" sz="1600" dirty="0">
                <a:solidFill>
                  <a:schemeClr val="bg1"/>
                </a:solidFill>
              </a:rPr>
              <a:t>El toolbox Epileptic EEG Analysis es una herramienta diseñada para facilitar el análisis e implementación de algoritmos de aprendizaje de máquina en señales EEG con el fin de caracterizar las señales de pacientes con epilepsia y detectar la presencia de crisis en las mismas.</a:t>
            </a:r>
            <a:endParaRPr lang="en-US" sz="1600" dirty="0">
              <a:solidFill>
                <a:schemeClr val="bg1"/>
              </a:solidFill>
            </a:endParaRPr>
          </a:p>
        </p:txBody>
      </p:sp>
    </p:spTree>
    <p:extLst>
      <p:ext uri="{BB962C8B-B14F-4D97-AF65-F5344CB8AC3E}">
        <p14:creationId xmlns:p14="http://schemas.microsoft.com/office/powerpoint/2010/main" val="17108701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8B98D-A943-4557-A450-06FD1E297F9C}"/>
              </a:ext>
            </a:extLst>
          </p:cNvPr>
          <p:cNvSpPr>
            <a:spLocks noGrp="1"/>
          </p:cNvSpPr>
          <p:nvPr>
            <p:ph type="title"/>
          </p:nvPr>
        </p:nvSpPr>
        <p:spPr>
          <a:xfrm>
            <a:off x="589429" y="965977"/>
            <a:ext cx="8545046" cy="910492"/>
          </a:xfrm>
        </p:spPr>
        <p:txBody>
          <a:bodyPr rtlCol="0" anchor="ctr">
            <a:noAutofit/>
          </a:bodyPr>
          <a:lstStyle/>
          <a:p>
            <a:r>
              <a:rPr lang="es-ES" sz="3600" dirty="0">
                <a:solidFill>
                  <a:srgbClr val="C5AE76"/>
                </a:solidFill>
              </a:rPr>
              <a:t>Herramienta de Software </a:t>
            </a:r>
            <a:br>
              <a:rPr lang="es-ES" sz="3600" dirty="0">
                <a:solidFill>
                  <a:srgbClr val="C5AE76"/>
                </a:solidFill>
              </a:rPr>
            </a:br>
            <a:r>
              <a:rPr lang="es-ES" sz="3200" dirty="0">
                <a:solidFill>
                  <a:srgbClr val="C5AE76"/>
                </a:solidFill>
              </a:rPr>
              <a:t>Epileptic EEG Analysis Toolbox</a:t>
            </a:r>
            <a:br>
              <a:rPr lang="es-ES" sz="3600" dirty="0">
                <a:solidFill>
                  <a:srgbClr val="C5AE76"/>
                </a:solidFill>
              </a:rPr>
            </a:br>
            <a:r>
              <a:rPr lang="es-ES" sz="3600" dirty="0">
                <a:solidFill>
                  <a:srgbClr val="C5AE76"/>
                </a:solidFill>
              </a:rPr>
              <a:t> </a:t>
            </a:r>
          </a:p>
        </p:txBody>
      </p:sp>
      <p:pic>
        <p:nvPicPr>
          <p:cNvPr id="7" name="Imagen 6" descr="Interfaz de usuario gráfica, Gráfico&#10;&#10;Descripción generada automáticamente">
            <a:extLst>
              <a:ext uri="{FF2B5EF4-FFF2-40B4-BE49-F238E27FC236}">
                <a16:creationId xmlns:a16="http://schemas.microsoft.com/office/drawing/2014/main" id="{EC43FFF6-78F3-4015-9300-359CDAEB08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1240" y="1876469"/>
            <a:ext cx="4009301" cy="3669205"/>
          </a:xfrm>
          <a:prstGeom prst="rect">
            <a:avLst/>
          </a:prstGeom>
        </p:spPr>
      </p:pic>
      <p:pic>
        <p:nvPicPr>
          <p:cNvPr id="20" name="Imagen 19">
            <a:extLst>
              <a:ext uri="{FF2B5EF4-FFF2-40B4-BE49-F238E27FC236}">
                <a16:creationId xmlns:a16="http://schemas.microsoft.com/office/drawing/2014/main" id="{E5EAD0E9-E357-4B3D-B74C-AE43C0DFB218}"/>
              </a:ext>
            </a:extLst>
          </p:cNvPr>
          <p:cNvPicPr>
            <a:picLocks noChangeAspect="1"/>
          </p:cNvPicPr>
          <p:nvPr/>
        </p:nvPicPr>
        <p:blipFill>
          <a:blip r:embed="rId4"/>
          <a:stretch>
            <a:fillRect/>
          </a:stretch>
        </p:blipFill>
        <p:spPr>
          <a:xfrm>
            <a:off x="6706742" y="1876469"/>
            <a:ext cx="2819688" cy="3706844"/>
          </a:xfrm>
          <a:prstGeom prst="rect">
            <a:avLst/>
          </a:prstGeom>
        </p:spPr>
      </p:pic>
      <p:sp>
        <p:nvSpPr>
          <p:cNvPr id="21" name="Marcador de contenido 9">
            <a:extLst>
              <a:ext uri="{FF2B5EF4-FFF2-40B4-BE49-F238E27FC236}">
                <a16:creationId xmlns:a16="http://schemas.microsoft.com/office/drawing/2014/main" id="{B625E5A0-2F2F-4B50-96EF-298E3CB79FCD}"/>
              </a:ext>
            </a:extLst>
          </p:cNvPr>
          <p:cNvSpPr txBox="1">
            <a:spLocks/>
          </p:cNvSpPr>
          <p:nvPr/>
        </p:nvSpPr>
        <p:spPr>
          <a:xfrm>
            <a:off x="2033616" y="5545674"/>
            <a:ext cx="2904548"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900" dirty="0">
                <a:solidFill>
                  <a:schemeClr val="tx1"/>
                </a:solidFill>
              </a:rPr>
              <a:t>FIG 9: VENTANA DE VISUALIZACIÓN DE SEÑAL.</a:t>
            </a:r>
          </a:p>
        </p:txBody>
      </p:sp>
      <p:sp>
        <p:nvSpPr>
          <p:cNvPr id="22" name="Marcador de contenido 9">
            <a:extLst>
              <a:ext uri="{FF2B5EF4-FFF2-40B4-BE49-F238E27FC236}">
                <a16:creationId xmlns:a16="http://schemas.microsoft.com/office/drawing/2014/main" id="{8664DBF7-42C8-4811-B5D4-116B1AD75F67}"/>
              </a:ext>
            </a:extLst>
          </p:cNvPr>
          <p:cNvSpPr txBox="1">
            <a:spLocks/>
          </p:cNvSpPr>
          <p:nvPr/>
        </p:nvSpPr>
        <p:spPr>
          <a:xfrm>
            <a:off x="6418644" y="5554295"/>
            <a:ext cx="3425147"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900" dirty="0">
                <a:solidFill>
                  <a:schemeClr val="tx1"/>
                </a:solidFill>
              </a:rPr>
              <a:t>FIG 10: VENTANA DE EXTRACCIÓN DE CARACTERÍSTICAS.</a:t>
            </a:r>
          </a:p>
        </p:txBody>
      </p:sp>
    </p:spTree>
    <p:extLst>
      <p:ext uri="{BB962C8B-B14F-4D97-AF65-F5344CB8AC3E}">
        <p14:creationId xmlns:p14="http://schemas.microsoft.com/office/powerpoint/2010/main" val="131289721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8B98D-A943-4557-A450-06FD1E297F9C}"/>
              </a:ext>
            </a:extLst>
          </p:cNvPr>
          <p:cNvSpPr>
            <a:spLocks noGrp="1"/>
          </p:cNvSpPr>
          <p:nvPr>
            <p:ph type="title"/>
          </p:nvPr>
        </p:nvSpPr>
        <p:spPr>
          <a:xfrm>
            <a:off x="589429" y="965977"/>
            <a:ext cx="8545046" cy="910492"/>
          </a:xfrm>
        </p:spPr>
        <p:txBody>
          <a:bodyPr rtlCol="0" anchor="ctr">
            <a:noAutofit/>
          </a:bodyPr>
          <a:lstStyle/>
          <a:p>
            <a:r>
              <a:rPr lang="es-ES" sz="3600" dirty="0">
                <a:solidFill>
                  <a:srgbClr val="C5AE76"/>
                </a:solidFill>
              </a:rPr>
              <a:t>Herramienta de Software </a:t>
            </a:r>
            <a:br>
              <a:rPr lang="es-ES" sz="3600" dirty="0">
                <a:solidFill>
                  <a:srgbClr val="C5AE76"/>
                </a:solidFill>
              </a:rPr>
            </a:br>
            <a:r>
              <a:rPr lang="es-ES" sz="3200" dirty="0">
                <a:solidFill>
                  <a:srgbClr val="C5AE76"/>
                </a:solidFill>
              </a:rPr>
              <a:t>Epileptic EEG Analysis Toolbox</a:t>
            </a:r>
            <a:br>
              <a:rPr lang="es-ES" sz="3600" dirty="0">
                <a:solidFill>
                  <a:srgbClr val="C5AE76"/>
                </a:solidFill>
              </a:rPr>
            </a:br>
            <a:r>
              <a:rPr lang="es-ES" sz="3600" dirty="0">
                <a:solidFill>
                  <a:srgbClr val="C5AE76"/>
                </a:solidFill>
              </a:rPr>
              <a:t> </a:t>
            </a:r>
          </a:p>
        </p:txBody>
      </p:sp>
      <p:pic>
        <p:nvPicPr>
          <p:cNvPr id="17" name="Imagen 16" descr="Interfaz de usuario gráfica&#10;&#10;Descripción generada automáticamente">
            <a:extLst>
              <a:ext uri="{FF2B5EF4-FFF2-40B4-BE49-F238E27FC236}">
                <a16:creationId xmlns:a16="http://schemas.microsoft.com/office/drawing/2014/main" id="{D912B1F2-E574-4883-9867-3321ABC67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219" y="1876469"/>
            <a:ext cx="3782733" cy="3668871"/>
          </a:xfrm>
          <a:prstGeom prst="rect">
            <a:avLst/>
          </a:prstGeom>
        </p:spPr>
      </p:pic>
      <p:sp>
        <p:nvSpPr>
          <p:cNvPr id="6" name="Marcador de contenido 9">
            <a:extLst>
              <a:ext uri="{FF2B5EF4-FFF2-40B4-BE49-F238E27FC236}">
                <a16:creationId xmlns:a16="http://schemas.microsoft.com/office/drawing/2014/main" id="{D11E2D89-74DE-44B9-AC79-9512791CF9C8}"/>
              </a:ext>
            </a:extLst>
          </p:cNvPr>
          <p:cNvSpPr txBox="1">
            <a:spLocks/>
          </p:cNvSpPr>
          <p:nvPr/>
        </p:nvSpPr>
        <p:spPr>
          <a:xfrm>
            <a:off x="926598" y="5545340"/>
            <a:ext cx="4087974"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900" dirty="0">
                <a:solidFill>
                  <a:schemeClr val="tx1"/>
                </a:solidFill>
              </a:rPr>
              <a:t>FIG 11: EJEMPLO DE RESULTADO CLASIFICADOR SVM.</a:t>
            </a:r>
          </a:p>
        </p:txBody>
      </p:sp>
      <p:pic>
        <p:nvPicPr>
          <p:cNvPr id="9" name="Imagen 8">
            <a:extLst>
              <a:ext uri="{FF2B5EF4-FFF2-40B4-BE49-F238E27FC236}">
                <a16:creationId xmlns:a16="http://schemas.microsoft.com/office/drawing/2014/main" id="{E4733E7D-0D00-486A-9CDB-B46A5AA48BEA}"/>
              </a:ext>
            </a:extLst>
          </p:cNvPr>
          <p:cNvPicPr>
            <a:picLocks noChangeAspect="1"/>
          </p:cNvPicPr>
          <p:nvPr/>
        </p:nvPicPr>
        <p:blipFill>
          <a:blip r:embed="rId4"/>
          <a:stretch>
            <a:fillRect/>
          </a:stretch>
        </p:blipFill>
        <p:spPr>
          <a:xfrm>
            <a:off x="5719080" y="1876469"/>
            <a:ext cx="3487063" cy="3653114"/>
          </a:xfrm>
          <a:prstGeom prst="rect">
            <a:avLst/>
          </a:prstGeom>
        </p:spPr>
      </p:pic>
      <p:sp>
        <p:nvSpPr>
          <p:cNvPr id="13" name="Marcador de contenido 9">
            <a:extLst>
              <a:ext uri="{FF2B5EF4-FFF2-40B4-BE49-F238E27FC236}">
                <a16:creationId xmlns:a16="http://schemas.microsoft.com/office/drawing/2014/main" id="{6388214F-719E-4D5E-885E-A7FC39C822AE}"/>
              </a:ext>
            </a:extLst>
          </p:cNvPr>
          <p:cNvSpPr txBox="1">
            <a:spLocks/>
          </p:cNvSpPr>
          <p:nvPr/>
        </p:nvSpPr>
        <p:spPr>
          <a:xfrm>
            <a:off x="5286063" y="5529583"/>
            <a:ext cx="4087974"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ES" sz="900" dirty="0">
                <a:solidFill>
                  <a:schemeClr val="tx1"/>
                </a:solidFill>
              </a:rPr>
              <a:t>FIG 12: EJEMPLO DE RESULTADO DE CLASIFICADOR ANN.</a:t>
            </a:r>
          </a:p>
        </p:txBody>
      </p:sp>
    </p:spTree>
    <p:extLst>
      <p:ext uri="{BB962C8B-B14F-4D97-AF65-F5344CB8AC3E}">
        <p14:creationId xmlns:p14="http://schemas.microsoft.com/office/powerpoint/2010/main" val="340499436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0B66900-A646-45B4-A386-8D7B6D9BEA1F}"/>
              </a:ext>
            </a:extLst>
          </p:cNvPr>
          <p:cNvSpPr>
            <a:spLocks noGrp="1"/>
          </p:cNvSpPr>
          <p:nvPr>
            <p:ph type="title"/>
          </p:nvPr>
        </p:nvSpPr>
        <p:spPr>
          <a:xfrm>
            <a:off x="493097" y="518270"/>
            <a:ext cx="11432927" cy="910492"/>
          </a:xfrm>
        </p:spPr>
        <p:txBody>
          <a:bodyPr>
            <a:noAutofit/>
          </a:bodyPr>
          <a:lstStyle/>
          <a:p>
            <a:r>
              <a:rPr lang="es-GT" sz="4000" dirty="0">
                <a:solidFill>
                  <a:srgbClr val="C5AE76"/>
                </a:solidFill>
              </a:rPr>
              <a:t>Aprendizaje</a:t>
            </a:r>
            <a:r>
              <a:rPr lang="en-US" sz="4000" dirty="0">
                <a:solidFill>
                  <a:srgbClr val="C5AE76"/>
                </a:solidFill>
              </a:rPr>
              <a:t> No </a:t>
            </a:r>
            <a:r>
              <a:rPr lang="es-GT" sz="4000" dirty="0">
                <a:solidFill>
                  <a:srgbClr val="C5AE76"/>
                </a:solidFill>
              </a:rPr>
              <a:t>Supervisado: Pruebas Preliminares</a:t>
            </a:r>
          </a:p>
        </p:txBody>
      </p:sp>
      <p:pic>
        <p:nvPicPr>
          <p:cNvPr id="5" name="Imagen 4">
            <a:extLst>
              <a:ext uri="{FF2B5EF4-FFF2-40B4-BE49-F238E27FC236}">
                <a16:creationId xmlns:a16="http://schemas.microsoft.com/office/drawing/2014/main" id="{195F3EF5-54CA-431C-92EC-342535109950}"/>
              </a:ext>
            </a:extLst>
          </p:cNvPr>
          <p:cNvPicPr>
            <a:picLocks noChangeAspect="1"/>
          </p:cNvPicPr>
          <p:nvPr/>
        </p:nvPicPr>
        <p:blipFill>
          <a:blip r:embed="rId3"/>
          <a:stretch>
            <a:fillRect/>
          </a:stretch>
        </p:blipFill>
        <p:spPr>
          <a:xfrm>
            <a:off x="1031797" y="2539403"/>
            <a:ext cx="4518706" cy="2859214"/>
          </a:xfrm>
          <a:prstGeom prst="rect">
            <a:avLst/>
          </a:prstGeom>
        </p:spPr>
      </p:pic>
      <p:pic>
        <p:nvPicPr>
          <p:cNvPr id="6" name="Imagen 5">
            <a:extLst>
              <a:ext uri="{FF2B5EF4-FFF2-40B4-BE49-F238E27FC236}">
                <a16:creationId xmlns:a16="http://schemas.microsoft.com/office/drawing/2014/main" id="{6BCE76C0-2277-4822-A962-9DD355826199}"/>
              </a:ext>
            </a:extLst>
          </p:cNvPr>
          <p:cNvPicPr>
            <a:picLocks noChangeAspect="1"/>
          </p:cNvPicPr>
          <p:nvPr/>
        </p:nvPicPr>
        <p:blipFill>
          <a:blip r:embed="rId4"/>
          <a:stretch>
            <a:fillRect/>
          </a:stretch>
        </p:blipFill>
        <p:spPr>
          <a:xfrm>
            <a:off x="5794298" y="2406056"/>
            <a:ext cx="5078906" cy="3040186"/>
          </a:xfrm>
          <a:prstGeom prst="rect">
            <a:avLst/>
          </a:prstGeom>
        </p:spPr>
      </p:pic>
      <p:sp>
        <p:nvSpPr>
          <p:cNvPr id="7" name="Marcador de contenido 9">
            <a:extLst>
              <a:ext uri="{FF2B5EF4-FFF2-40B4-BE49-F238E27FC236}">
                <a16:creationId xmlns:a16="http://schemas.microsoft.com/office/drawing/2014/main" id="{E72E0162-AE7E-403A-BDCF-A5B569DB5698}"/>
              </a:ext>
            </a:extLst>
          </p:cNvPr>
          <p:cNvSpPr txBox="1">
            <a:spLocks/>
          </p:cNvSpPr>
          <p:nvPr/>
        </p:nvSpPr>
        <p:spPr>
          <a:xfrm>
            <a:off x="1208176" y="5231797"/>
            <a:ext cx="4087974"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MX" sz="900" dirty="0">
                <a:solidFill>
                  <a:schemeClr val="tx1"/>
                </a:solidFill>
              </a:rPr>
              <a:t> FIG 13: IMPLEMENTACIÓN DE K-MEDIAS PACIENTE 1- HUMANA.</a:t>
            </a:r>
            <a:endParaRPr lang="es-ES" sz="900" dirty="0">
              <a:solidFill>
                <a:schemeClr val="tx1"/>
              </a:solidFill>
            </a:endParaRPr>
          </a:p>
        </p:txBody>
      </p:sp>
      <p:sp>
        <p:nvSpPr>
          <p:cNvPr id="8" name="Marcador de contenido 9">
            <a:extLst>
              <a:ext uri="{FF2B5EF4-FFF2-40B4-BE49-F238E27FC236}">
                <a16:creationId xmlns:a16="http://schemas.microsoft.com/office/drawing/2014/main" id="{F9147F97-57AD-4715-B4F7-997498DFB6C1}"/>
              </a:ext>
            </a:extLst>
          </p:cNvPr>
          <p:cNvSpPr txBox="1">
            <a:spLocks/>
          </p:cNvSpPr>
          <p:nvPr/>
        </p:nvSpPr>
        <p:spPr>
          <a:xfrm>
            <a:off x="6618202" y="5231797"/>
            <a:ext cx="4087974" cy="428889"/>
          </a:xfrm>
          <a:prstGeom prst="rect">
            <a:avLst/>
          </a:prstGeom>
        </p:spPr>
        <p:txBody>
          <a:bodyPr rtlCol="0">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None/>
            </a:pPr>
            <a:r>
              <a:rPr lang="es-MX" sz="900" dirty="0">
                <a:solidFill>
                  <a:schemeClr val="tx1"/>
                </a:solidFill>
              </a:rPr>
              <a:t>FIG 14: IMPLEMENTACIÓN DE C-MEDIAS DIFUSO PACIENTE 1- HUMANA</a:t>
            </a:r>
            <a:endParaRPr lang="es-ES" sz="900" dirty="0">
              <a:solidFill>
                <a:schemeClr val="tx1"/>
              </a:solidFill>
            </a:endParaRPr>
          </a:p>
        </p:txBody>
      </p:sp>
      <p:grpSp>
        <p:nvGrpSpPr>
          <p:cNvPr id="12" name="Grupo 11">
            <a:extLst>
              <a:ext uri="{FF2B5EF4-FFF2-40B4-BE49-F238E27FC236}">
                <a16:creationId xmlns:a16="http://schemas.microsoft.com/office/drawing/2014/main" id="{5B89B76F-B863-4EE9-B4C1-33C33054A159}"/>
              </a:ext>
            </a:extLst>
          </p:cNvPr>
          <p:cNvGrpSpPr/>
          <p:nvPr/>
        </p:nvGrpSpPr>
        <p:grpSpPr>
          <a:xfrm>
            <a:off x="2619244" y="1411758"/>
            <a:ext cx="6350107" cy="774919"/>
            <a:chOff x="1310935" y="1631137"/>
            <a:chExt cx="6350107" cy="774919"/>
          </a:xfrm>
        </p:grpSpPr>
        <p:sp>
          <p:nvSpPr>
            <p:cNvPr id="3" name="Rectángulo 2">
              <a:extLst>
                <a:ext uri="{FF2B5EF4-FFF2-40B4-BE49-F238E27FC236}">
                  <a16:creationId xmlns:a16="http://schemas.microsoft.com/office/drawing/2014/main" id="{CAB830A5-EAFC-4407-B043-40DD6006D8B9}"/>
                </a:ext>
              </a:extLst>
            </p:cNvPr>
            <p:cNvSpPr/>
            <p:nvPr/>
          </p:nvSpPr>
          <p:spPr>
            <a:xfrm>
              <a:off x="1731146" y="1655253"/>
              <a:ext cx="2006353" cy="7508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2" name="Rectángulo 1">
              <a:extLst>
                <a:ext uri="{FF2B5EF4-FFF2-40B4-BE49-F238E27FC236}">
                  <a16:creationId xmlns:a16="http://schemas.microsoft.com/office/drawing/2014/main" id="{4D4EEC2F-C2C8-4915-9322-EE99EFE762FD}"/>
                </a:ext>
              </a:extLst>
            </p:cNvPr>
            <p:cNvSpPr/>
            <p:nvPr/>
          </p:nvSpPr>
          <p:spPr>
            <a:xfrm>
              <a:off x="1310935" y="1788600"/>
              <a:ext cx="2846773" cy="461665"/>
            </a:xfrm>
            <a:prstGeom prst="rect">
              <a:avLst/>
            </a:prstGeom>
          </p:spPr>
          <p:txBody>
            <a:bodyPr wrap="square">
              <a:spAutoFit/>
            </a:bodyPr>
            <a:lstStyle/>
            <a:p>
              <a:pPr algn="ctr">
                <a:buClr>
                  <a:srgbClr val="1F2D48"/>
                </a:buClr>
              </a:pPr>
              <a:r>
                <a:rPr lang="es-MX" sz="1200" dirty="0"/>
                <a:t>Generar Vector de Etiquetas </a:t>
              </a:r>
              <a:br>
                <a:rPr lang="es-MX" sz="1200" dirty="0"/>
              </a:br>
              <a:r>
                <a:rPr lang="es-MX" sz="1200" dirty="0"/>
                <a:t>Automáticamente</a:t>
              </a:r>
            </a:p>
          </p:txBody>
        </p:sp>
        <p:sp>
          <p:nvSpPr>
            <p:cNvPr id="9" name="Flecha: a la derecha 8">
              <a:extLst>
                <a:ext uri="{FF2B5EF4-FFF2-40B4-BE49-F238E27FC236}">
                  <a16:creationId xmlns:a16="http://schemas.microsoft.com/office/drawing/2014/main" id="{38EEA704-E20B-4F6A-BFA9-F71B1C215332}"/>
                </a:ext>
              </a:extLst>
            </p:cNvPr>
            <p:cNvSpPr/>
            <p:nvPr/>
          </p:nvSpPr>
          <p:spPr>
            <a:xfrm>
              <a:off x="3968318" y="1864311"/>
              <a:ext cx="710214" cy="3859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Rectángulo 9">
              <a:extLst>
                <a:ext uri="{FF2B5EF4-FFF2-40B4-BE49-F238E27FC236}">
                  <a16:creationId xmlns:a16="http://schemas.microsoft.com/office/drawing/2014/main" id="{A313081D-250D-44F0-8263-768827C68F33}"/>
                </a:ext>
              </a:extLst>
            </p:cNvPr>
            <p:cNvSpPr/>
            <p:nvPr/>
          </p:nvSpPr>
          <p:spPr>
            <a:xfrm>
              <a:off x="4796513" y="1631137"/>
              <a:ext cx="1917577" cy="7508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1" name="Rectángulo 10">
              <a:extLst>
                <a:ext uri="{FF2B5EF4-FFF2-40B4-BE49-F238E27FC236}">
                  <a16:creationId xmlns:a16="http://schemas.microsoft.com/office/drawing/2014/main" id="{A12C53C2-A758-43A5-BDC2-BAD70835834C}"/>
                </a:ext>
              </a:extLst>
            </p:cNvPr>
            <p:cNvSpPr/>
            <p:nvPr/>
          </p:nvSpPr>
          <p:spPr>
            <a:xfrm>
              <a:off x="4814269" y="1762813"/>
              <a:ext cx="2846773" cy="461665"/>
            </a:xfrm>
            <a:prstGeom prst="rect">
              <a:avLst/>
            </a:prstGeom>
          </p:spPr>
          <p:txBody>
            <a:bodyPr wrap="square">
              <a:spAutoFit/>
            </a:bodyPr>
            <a:lstStyle/>
            <a:p>
              <a:pPr>
                <a:buClr>
                  <a:srgbClr val="1F2D48"/>
                </a:buClr>
              </a:pPr>
              <a:r>
                <a:rPr lang="es-MX" sz="1200" dirty="0"/>
                <a:t>Algoritmo K-</a:t>
              </a:r>
              <a:r>
                <a:rPr lang="es-MX" sz="1200" dirty="0" err="1"/>
                <a:t>means</a:t>
              </a:r>
              <a:br>
                <a:rPr lang="es-MX" sz="1200" dirty="0"/>
              </a:br>
              <a:r>
                <a:rPr lang="es-MX" sz="1200" dirty="0"/>
                <a:t>Algoritmo </a:t>
              </a:r>
              <a:r>
                <a:rPr lang="es-MX" sz="1200" dirty="0" err="1"/>
                <a:t>Fuzzy</a:t>
              </a:r>
              <a:r>
                <a:rPr lang="es-MX" sz="1200" dirty="0"/>
                <a:t> C-</a:t>
              </a:r>
              <a:r>
                <a:rPr lang="es-MX" sz="1200" dirty="0" err="1"/>
                <a:t>means</a:t>
              </a:r>
              <a:endParaRPr lang="es-MX" sz="1200" dirty="0"/>
            </a:p>
          </p:txBody>
        </p:sp>
      </p:grpSp>
    </p:spTree>
    <p:extLst>
      <p:ext uri="{BB962C8B-B14F-4D97-AF65-F5344CB8AC3E}">
        <p14:creationId xmlns:p14="http://schemas.microsoft.com/office/powerpoint/2010/main" val="392346344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8CCCB00-D85F-4C16-9642-71958450C470}"/>
              </a:ext>
            </a:extLst>
          </p:cNvPr>
          <p:cNvSpPr>
            <a:spLocks noGrp="1"/>
          </p:cNvSpPr>
          <p:nvPr>
            <p:ph type="title"/>
          </p:nvPr>
        </p:nvSpPr>
        <p:spPr/>
        <p:txBody>
          <a:bodyPr/>
          <a:lstStyle/>
          <a:p>
            <a:r>
              <a:rPr lang="es-GT" dirty="0">
                <a:solidFill>
                  <a:srgbClr val="C5AE76"/>
                </a:solidFill>
              </a:rPr>
              <a:t>Conclusiones</a:t>
            </a:r>
          </a:p>
        </p:txBody>
      </p:sp>
      <p:sp>
        <p:nvSpPr>
          <p:cNvPr id="7" name="CuadroTexto 6">
            <a:extLst>
              <a:ext uri="{FF2B5EF4-FFF2-40B4-BE49-F238E27FC236}">
                <a16:creationId xmlns:a16="http://schemas.microsoft.com/office/drawing/2014/main" id="{78E69B4D-9EF6-41D5-A286-228CFEC2A199}"/>
              </a:ext>
            </a:extLst>
          </p:cNvPr>
          <p:cNvSpPr txBox="1"/>
          <p:nvPr/>
        </p:nvSpPr>
        <p:spPr>
          <a:xfrm>
            <a:off x="710213" y="1914051"/>
            <a:ext cx="10617694" cy="3416320"/>
          </a:xfrm>
          <a:prstGeom prst="rect">
            <a:avLst/>
          </a:prstGeom>
          <a:noFill/>
        </p:spPr>
        <p:txBody>
          <a:bodyPr wrap="square" rtlCol="0">
            <a:spAutoFit/>
          </a:bodyPr>
          <a:lstStyle/>
          <a:p>
            <a:pPr marL="285750" indent="-285750" algn="just">
              <a:buClr>
                <a:srgbClr val="1F2D48"/>
              </a:buClr>
              <a:buFont typeface="Arial" panose="020B0604020202020204" pitchFamily="34" charset="0"/>
              <a:buChar char="•"/>
            </a:pPr>
            <a:r>
              <a:rPr lang="es-MX" dirty="0"/>
              <a:t>El algoritmo de clasificación que presentó mejor desempeño en las señales EEG de las dos bases de datos utilizadas, CHB-MIT y UBonn EEG fueron las redes neuronales artificiales. Alcanzando una exactitud mayor a 97.0% mediante análisis directo y 81.0% utilizando análisis wavelet.</a:t>
            </a:r>
          </a:p>
          <a:p>
            <a:pPr marL="285750" indent="-285750" algn="just">
              <a:buClr>
                <a:srgbClr val="1F2D48"/>
              </a:buClr>
              <a:buFont typeface="Arial" panose="020B0604020202020204" pitchFamily="34" charset="0"/>
              <a:buChar char="•"/>
            </a:pPr>
            <a:endParaRPr lang="es-MX" dirty="0"/>
          </a:p>
          <a:p>
            <a:pPr marL="285750" indent="-285750" algn="just">
              <a:buClr>
                <a:srgbClr val="1F2D48"/>
              </a:buClr>
              <a:buFont typeface="Arial" panose="020B0604020202020204" pitchFamily="34" charset="0"/>
              <a:buChar char="•"/>
            </a:pPr>
            <a:r>
              <a:rPr lang="es-MX" dirty="0"/>
              <a:t>Se comprobó que la transformada discreta de wavelet es de suma utilidad para obtener información precisa de frecuencia en bandas de frecuencias correspondientes a los ritmos cerebrales y en frecuencias bajas. Sin embargo, implica mayor carga computacional en comparación al análisis directo.</a:t>
            </a:r>
          </a:p>
          <a:p>
            <a:pPr marL="285750" indent="-285750" algn="just">
              <a:buClr>
                <a:srgbClr val="1F2D48"/>
              </a:buClr>
              <a:buFont typeface="Arial" panose="020B0604020202020204" pitchFamily="34" charset="0"/>
              <a:buChar char="•"/>
            </a:pPr>
            <a:endParaRPr lang="es-MX" dirty="0"/>
          </a:p>
          <a:p>
            <a:pPr marL="285750" indent="-285750" algn="just">
              <a:buClr>
                <a:srgbClr val="1F2D48"/>
              </a:buClr>
              <a:buFont typeface="Arial" panose="020B0604020202020204" pitchFamily="34" charset="0"/>
              <a:buChar char="•"/>
            </a:pPr>
            <a:r>
              <a:rPr lang="es-MX" dirty="0"/>
              <a:t>Se confirmó gracias a los resultados obtenidos de los algoritmos implementados, que es posible la detección de crisis en señales EEG al realizar la correcta caracterización y división de segmentos, y que las características del dominio del tiempo utilizadas en el análisis directo son suficientes para generar una exactitud  mayor a 97.0%.</a:t>
            </a:r>
          </a:p>
          <a:p>
            <a:pPr algn="just">
              <a:buClr>
                <a:srgbClr val="1F2D48"/>
              </a:buClr>
            </a:pPr>
            <a:endParaRPr lang="es-MX" dirty="0"/>
          </a:p>
        </p:txBody>
      </p:sp>
    </p:spTree>
    <p:extLst>
      <p:ext uri="{BB962C8B-B14F-4D97-AF65-F5344CB8AC3E}">
        <p14:creationId xmlns:p14="http://schemas.microsoft.com/office/powerpoint/2010/main" val="348206585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8CCCB00-D85F-4C16-9642-71958450C470}"/>
              </a:ext>
            </a:extLst>
          </p:cNvPr>
          <p:cNvSpPr>
            <a:spLocks noGrp="1"/>
          </p:cNvSpPr>
          <p:nvPr>
            <p:ph type="title"/>
          </p:nvPr>
        </p:nvSpPr>
        <p:spPr/>
        <p:txBody>
          <a:bodyPr/>
          <a:lstStyle/>
          <a:p>
            <a:r>
              <a:rPr lang="en-US" dirty="0" err="1">
                <a:solidFill>
                  <a:srgbClr val="C5AE76"/>
                </a:solidFill>
              </a:rPr>
              <a:t>Recomendaciones</a:t>
            </a:r>
            <a:endParaRPr lang="en-US" dirty="0">
              <a:solidFill>
                <a:srgbClr val="C5AE76"/>
              </a:solidFill>
            </a:endParaRPr>
          </a:p>
        </p:txBody>
      </p:sp>
      <p:sp>
        <p:nvSpPr>
          <p:cNvPr id="3" name="CuadroTexto 2">
            <a:extLst>
              <a:ext uri="{FF2B5EF4-FFF2-40B4-BE49-F238E27FC236}">
                <a16:creationId xmlns:a16="http://schemas.microsoft.com/office/drawing/2014/main" id="{8EBD879C-DF50-4B57-A69B-6EEB5C28BAD6}"/>
              </a:ext>
            </a:extLst>
          </p:cNvPr>
          <p:cNvSpPr txBox="1"/>
          <p:nvPr/>
        </p:nvSpPr>
        <p:spPr>
          <a:xfrm>
            <a:off x="767484" y="1694976"/>
            <a:ext cx="10617694" cy="4247317"/>
          </a:xfrm>
          <a:prstGeom prst="rect">
            <a:avLst/>
          </a:prstGeom>
          <a:noFill/>
        </p:spPr>
        <p:txBody>
          <a:bodyPr wrap="square" rtlCol="0">
            <a:spAutoFit/>
          </a:bodyPr>
          <a:lstStyle/>
          <a:p>
            <a:pPr marL="285750" indent="-285750">
              <a:buClr>
                <a:srgbClr val="1F2D48"/>
              </a:buClr>
              <a:buFont typeface="Arial" panose="020B0604020202020204" pitchFamily="34" charset="0"/>
              <a:buChar char="•"/>
            </a:pPr>
            <a:r>
              <a:rPr lang="es-MX" dirty="0"/>
              <a:t>Investigar e implementar otro tipo de algoritmos de aprendizaje máquina así como técnicas de caracterización en el dominio de la frecuencia para mejorar la predicción del algoritmo.</a:t>
            </a:r>
          </a:p>
          <a:p>
            <a:pPr marL="285750" indent="-285750">
              <a:buClr>
                <a:srgbClr val="1F2D48"/>
              </a:buClr>
              <a:buFont typeface="Arial" panose="020B0604020202020204" pitchFamily="34" charset="0"/>
              <a:buChar char="•"/>
            </a:pPr>
            <a:endParaRPr lang="es-MX" dirty="0"/>
          </a:p>
          <a:p>
            <a:pPr marL="285750" indent="-285750">
              <a:buClr>
                <a:srgbClr val="1F2D48"/>
              </a:buClr>
              <a:buFont typeface="Arial" panose="020B0604020202020204" pitchFamily="34" charset="0"/>
              <a:buChar char="•"/>
            </a:pPr>
            <a:r>
              <a:rPr lang="es-MX" dirty="0"/>
              <a:t>Priorizar el aprendizaje no supervisado para identificar las clases presentes en grabaciones señales EEG que se desconoce información de las muestras.</a:t>
            </a:r>
          </a:p>
          <a:p>
            <a:pPr>
              <a:buClr>
                <a:srgbClr val="1F2D48"/>
              </a:buClr>
            </a:pPr>
            <a:endParaRPr lang="es-MX" dirty="0"/>
          </a:p>
          <a:p>
            <a:pPr marL="285750" indent="-285750">
              <a:buClr>
                <a:srgbClr val="1F2D48"/>
              </a:buClr>
              <a:buFont typeface="Arial" panose="020B0604020202020204" pitchFamily="34" charset="0"/>
              <a:buChar char="•"/>
            </a:pPr>
            <a:r>
              <a:rPr lang="es-MX" dirty="0"/>
              <a:t>Utilizar otro tipo de señales biomédicas, como el electrocardiograma (ECG), para obtener mayor información acerca de la clase de registros </a:t>
            </a:r>
            <a:r>
              <a:rPr lang="es-MX" dirty="0" err="1"/>
              <a:t>ictales</a:t>
            </a:r>
            <a:r>
              <a:rPr lang="es-MX" dirty="0"/>
              <a:t>.</a:t>
            </a:r>
          </a:p>
          <a:p>
            <a:pPr marL="285750" indent="-285750">
              <a:buClr>
                <a:srgbClr val="1F2D48"/>
              </a:buClr>
              <a:buFont typeface="Arial" panose="020B0604020202020204" pitchFamily="34" charset="0"/>
              <a:buChar char="•"/>
            </a:pPr>
            <a:endParaRPr lang="es-MX" dirty="0"/>
          </a:p>
          <a:p>
            <a:pPr marL="285750" indent="-285750">
              <a:buClr>
                <a:srgbClr val="1F2D48"/>
              </a:buClr>
              <a:buFont typeface="Arial" panose="020B0604020202020204" pitchFamily="34" charset="0"/>
              <a:buChar char="•"/>
            </a:pPr>
            <a:r>
              <a:rPr lang="es-MX" dirty="0"/>
              <a:t>Tener asesoría médica para mejorar el proceso de selección de datos y validar los resultados del algoritmo tomando en consideración las sugerencias de especialistas en la enfermedad de epilepsia.</a:t>
            </a:r>
          </a:p>
          <a:p>
            <a:pPr marL="285750" indent="-285750">
              <a:buClr>
                <a:srgbClr val="1F2D48"/>
              </a:buClr>
              <a:buFont typeface="Arial" panose="020B0604020202020204" pitchFamily="34" charset="0"/>
              <a:buChar char="•"/>
            </a:pPr>
            <a:endParaRPr lang="es-MX" dirty="0"/>
          </a:p>
          <a:p>
            <a:pPr marL="285750" indent="-285750">
              <a:buClr>
                <a:srgbClr val="1F2D48"/>
              </a:buClr>
              <a:buFont typeface="Arial" panose="020B0604020202020204" pitchFamily="34" charset="0"/>
              <a:buChar char="•"/>
            </a:pPr>
            <a:r>
              <a:rPr lang="es-MX" dirty="0"/>
              <a:t>Continuar la mejora de la herramienta de software, añadiendo más tipos de señales biomédicas , visualización de canales en paralelo y aprendizaje no supervisado.</a:t>
            </a:r>
          </a:p>
          <a:p>
            <a:pPr marL="285750" indent="-285750">
              <a:buClr>
                <a:srgbClr val="1F2D48"/>
              </a:buClr>
              <a:buFont typeface="Arial" panose="020B0604020202020204" pitchFamily="34" charset="0"/>
              <a:buChar char="•"/>
            </a:pPr>
            <a:endParaRPr lang="es-MX" dirty="0"/>
          </a:p>
        </p:txBody>
      </p:sp>
    </p:spTree>
    <p:extLst>
      <p:ext uri="{BB962C8B-B14F-4D97-AF65-F5344CB8AC3E}">
        <p14:creationId xmlns:p14="http://schemas.microsoft.com/office/powerpoint/2010/main" val="266678992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5C2D793-4F34-42C1-8024-7C79BC4255CD}"/>
              </a:ext>
            </a:extLst>
          </p:cNvPr>
          <p:cNvSpPr>
            <a:spLocks noGrp="1"/>
          </p:cNvSpPr>
          <p:nvPr>
            <p:ph type="title"/>
          </p:nvPr>
        </p:nvSpPr>
        <p:spPr>
          <a:xfrm>
            <a:off x="574300" y="495887"/>
            <a:ext cx="10452849" cy="910492"/>
          </a:xfrm>
        </p:spPr>
        <p:txBody>
          <a:bodyPr>
            <a:normAutofit/>
          </a:bodyPr>
          <a:lstStyle/>
          <a:p>
            <a:r>
              <a:rPr lang="en-US" sz="4400" dirty="0" err="1">
                <a:solidFill>
                  <a:srgbClr val="C5AE76"/>
                </a:solidFill>
              </a:rPr>
              <a:t>Demostración</a:t>
            </a:r>
            <a:r>
              <a:rPr lang="en-US" sz="4400" dirty="0"/>
              <a:t> </a:t>
            </a:r>
            <a:endParaRPr lang="en-US" dirty="0"/>
          </a:p>
        </p:txBody>
      </p:sp>
      <p:pic>
        <p:nvPicPr>
          <p:cNvPr id="8" name="EPILEPTIC EEG ANALYSIS">
            <a:hlinkClick r:id="" action="ppaction://media"/>
            <a:extLst>
              <a:ext uri="{FF2B5EF4-FFF2-40B4-BE49-F238E27FC236}">
                <a16:creationId xmlns:a16="http://schemas.microsoft.com/office/drawing/2014/main" id="{6F6396A5-6293-4C17-A7A0-CDD132ADB58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l="-221" t="11737" r="-1"/>
          <a:stretch/>
        </p:blipFill>
        <p:spPr>
          <a:xfrm>
            <a:off x="1257300" y="1333500"/>
            <a:ext cx="8889843" cy="4403871"/>
          </a:xfrm>
          <a:prstGeom prst="rect">
            <a:avLst/>
          </a:prstGeom>
        </p:spPr>
      </p:pic>
    </p:spTree>
    <p:extLst>
      <p:ext uri="{BB962C8B-B14F-4D97-AF65-F5344CB8AC3E}">
        <p14:creationId xmlns:p14="http://schemas.microsoft.com/office/powerpoint/2010/main" val="17143549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281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7317">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4D9E47F-41E0-4FE3-891C-B53FBC82D7F3}"/>
              </a:ext>
            </a:extLst>
          </p:cNvPr>
          <p:cNvSpPr>
            <a:spLocks noGrp="1"/>
          </p:cNvSpPr>
          <p:nvPr>
            <p:ph type="title"/>
          </p:nvPr>
        </p:nvSpPr>
        <p:spPr/>
        <p:txBody>
          <a:bodyPr rtlCol="0">
            <a:normAutofit/>
          </a:bodyPr>
          <a:lstStyle/>
          <a:p>
            <a:pPr rtl="0"/>
            <a:r>
              <a:rPr lang="es-ES" dirty="0">
                <a:solidFill>
                  <a:srgbClr val="C5AE76"/>
                </a:solidFill>
              </a:rPr>
              <a:t>Referencias Bibliográficas</a:t>
            </a:r>
          </a:p>
        </p:txBody>
      </p:sp>
      <p:sp>
        <p:nvSpPr>
          <p:cNvPr id="7" name="CuadroTexto 6">
            <a:extLst>
              <a:ext uri="{FF2B5EF4-FFF2-40B4-BE49-F238E27FC236}">
                <a16:creationId xmlns:a16="http://schemas.microsoft.com/office/drawing/2014/main" id="{85FB5442-AF3B-4298-882B-9544852CF47F}"/>
              </a:ext>
            </a:extLst>
          </p:cNvPr>
          <p:cNvSpPr txBox="1"/>
          <p:nvPr/>
        </p:nvSpPr>
        <p:spPr>
          <a:xfrm>
            <a:off x="710213" y="1914051"/>
            <a:ext cx="10617694" cy="3631763"/>
          </a:xfrm>
          <a:prstGeom prst="rect">
            <a:avLst/>
          </a:prstGeom>
          <a:noFill/>
        </p:spPr>
        <p:txBody>
          <a:bodyPr wrap="square" rtlCol="0">
            <a:spAutoFit/>
          </a:bodyPr>
          <a:lstStyle/>
          <a:p>
            <a:pPr marL="342900" indent="-342900" algn="just">
              <a:buClr>
                <a:srgbClr val="C5AE76"/>
              </a:buClr>
              <a:buFont typeface="+mj-lt"/>
              <a:buAutoNum type="arabicPeriod"/>
            </a:pPr>
            <a:r>
              <a:rPr lang="es-MX" sz="1600" dirty="0"/>
              <a:t>Ceballos Herrera y col., “Detección de epilepsia en señales de electroencefalografía, mediante el uso de redes neuronales artificiales y máquinas con vectores de soporte”, B.S. </a:t>
            </a:r>
            <a:r>
              <a:rPr lang="es-MX" sz="1600" dirty="0" err="1"/>
              <a:t>thesis</a:t>
            </a:r>
            <a:r>
              <a:rPr lang="es-MX" sz="1600" dirty="0"/>
              <a:t>, Universidad Autónoma de Occidente, 2010.</a:t>
            </a:r>
          </a:p>
          <a:p>
            <a:pPr marL="342900" indent="-342900" algn="just">
              <a:buClr>
                <a:srgbClr val="C5AE76"/>
              </a:buClr>
              <a:buFont typeface="+mj-lt"/>
              <a:buAutoNum type="arabicPeriod"/>
            </a:pPr>
            <a:r>
              <a:rPr lang="en-US" sz="1600" dirty="0"/>
              <a:t>N. </a:t>
            </a:r>
            <a:r>
              <a:rPr lang="en-US" sz="1600" dirty="0" err="1"/>
              <a:t>Acır</a:t>
            </a:r>
            <a:r>
              <a:rPr lang="en-US" sz="1600" dirty="0"/>
              <a:t> y C. </a:t>
            </a:r>
            <a:r>
              <a:rPr lang="en-US" sz="1600" dirty="0" err="1"/>
              <a:t>Güzeliş</a:t>
            </a:r>
            <a:r>
              <a:rPr lang="en-US" sz="1600" dirty="0"/>
              <a:t>, “Automatic spike detection in EEG by a two-stage </a:t>
            </a:r>
            <a:r>
              <a:rPr lang="en-US" sz="1600" dirty="0" err="1"/>
              <a:t>procedurebased</a:t>
            </a:r>
            <a:r>
              <a:rPr lang="en-US" sz="1600" dirty="0"/>
              <a:t> on support vector </a:t>
            </a:r>
            <a:r>
              <a:rPr lang="en-US" sz="1600" dirty="0" err="1"/>
              <a:t>machines”,Computers</a:t>
            </a:r>
            <a:r>
              <a:rPr lang="en-US" sz="1600" dirty="0"/>
              <a:t> in Biology and Medicine, vol. 34, n.o7,págs. 561-575, 2004</a:t>
            </a:r>
            <a:endParaRPr lang="es-MX" sz="1600" dirty="0"/>
          </a:p>
          <a:p>
            <a:pPr marL="342900" indent="-342900" algn="just">
              <a:buClr>
                <a:srgbClr val="C5AE76"/>
              </a:buClr>
              <a:buFont typeface="+mj-lt"/>
              <a:buAutoNum type="arabicPeriod"/>
            </a:pPr>
            <a:r>
              <a:rPr lang="es-MX" sz="1600" dirty="0"/>
              <a:t>Angulo, J. Sanz, V. Malavé, M. Barrera, H. </a:t>
            </a:r>
            <a:r>
              <a:rPr lang="es-MX" sz="1600" dirty="0" err="1"/>
              <a:t>Spinetti</a:t>
            </a:r>
            <a:r>
              <a:rPr lang="es-MX" sz="1600" dirty="0"/>
              <a:t> y P. Guillén, “Máquinas de aprendizaje para clasificar señales electroencefalográficas", Avances en Sistemas e Informática, vol. 6, n.o1, págs. 213-218, 2009</a:t>
            </a:r>
          </a:p>
          <a:p>
            <a:pPr marL="342900" indent="-342900" algn="just">
              <a:buClr>
                <a:srgbClr val="C5AE76"/>
              </a:buClr>
              <a:buFont typeface="+mj-lt"/>
              <a:buAutoNum type="arabicPeriod"/>
            </a:pPr>
            <a:r>
              <a:rPr lang="en-US" sz="1600" dirty="0"/>
              <a:t>(Jun. de 2019). </a:t>
            </a:r>
            <a:r>
              <a:rPr lang="en-US" sz="1600" dirty="0" err="1"/>
              <a:t>Notas</a:t>
            </a:r>
            <a:r>
              <a:rPr lang="en-US" sz="1600" dirty="0"/>
              <a:t> </a:t>
            </a:r>
            <a:r>
              <a:rPr lang="en-US" sz="1600" dirty="0" err="1"/>
              <a:t>Descriptivas</a:t>
            </a:r>
            <a:r>
              <a:rPr lang="en-US" sz="1600" dirty="0"/>
              <a:t>: </a:t>
            </a:r>
            <a:r>
              <a:rPr lang="en-US" sz="1600" dirty="0" err="1"/>
              <a:t>Epilepsia</a:t>
            </a:r>
            <a:r>
              <a:rPr lang="en-US" sz="1600" dirty="0"/>
              <a:t>, </a:t>
            </a:r>
            <a:r>
              <a:rPr lang="en-US" sz="1600" dirty="0" err="1"/>
              <a:t>dirección</a:t>
            </a:r>
            <a:r>
              <a:rPr lang="en-US" sz="1600" dirty="0"/>
              <a:t>: </a:t>
            </a:r>
            <a:r>
              <a:rPr lang="en-US" sz="1600" dirty="0">
                <a:hlinkClick r:id="rId3">
                  <a:extLst>
                    <a:ext uri="{A12FA001-AC4F-418D-AE19-62706E023703}">
                      <ahyp:hlinkClr xmlns:ahyp="http://schemas.microsoft.com/office/drawing/2018/hyperlinkcolor" val="tx"/>
                    </a:ext>
                  </a:extLst>
                </a:hlinkClick>
              </a:rPr>
              <a:t>https://www.who.int/es/news-room/fact-sheets/detail/epilepsy</a:t>
            </a:r>
            <a:endParaRPr lang="en-US" sz="1600" dirty="0"/>
          </a:p>
          <a:p>
            <a:pPr marL="342900" indent="-342900" algn="just">
              <a:buClr>
                <a:srgbClr val="C5AE76"/>
              </a:buClr>
              <a:buFont typeface="+mj-lt"/>
              <a:buAutoNum type="arabicPeriod"/>
            </a:pPr>
            <a:r>
              <a:rPr lang="es-MX" sz="1600" dirty="0"/>
              <a:t>Ramos-Argüelles, G. Morales, S. Egozcue, R. Pabón y M. Alonso, “Técnicas básicas de </a:t>
            </a:r>
            <a:r>
              <a:rPr lang="es-MX" sz="1600" dirty="0" err="1"/>
              <a:t>electroencefalografıa</a:t>
            </a:r>
            <a:r>
              <a:rPr lang="es-MX" sz="1600" dirty="0"/>
              <a:t>: principios y aplicaciones </a:t>
            </a:r>
            <a:r>
              <a:rPr lang="es-MX" sz="1600" dirty="0" err="1"/>
              <a:t>clınicas</a:t>
            </a:r>
            <a:r>
              <a:rPr lang="es-MX" sz="1600" dirty="0"/>
              <a:t>”, en el sistema sanitario de Navarra, SciELO España, vol. 32, 2009, págs. 69-82.</a:t>
            </a:r>
          </a:p>
          <a:p>
            <a:pPr marL="342900" indent="-342900" algn="just">
              <a:buClr>
                <a:srgbClr val="C5AE76"/>
              </a:buClr>
              <a:buFont typeface="+mj-lt"/>
              <a:buAutoNum type="arabicPeriod"/>
            </a:pPr>
            <a:r>
              <a:rPr lang="es-MX" sz="1600" dirty="0"/>
              <a:t>J. G. Sánchez, “Técnicas de toma de datos y análisis de ELECTROENCEFALO-GRAFÍA”, Obtenido de https://opera. </a:t>
            </a:r>
            <a:r>
              <a:rPr lang="es-MX" sz="1600" dirty="0" err="1"/>
              <a:t>eii</a:t>
            </a:r>
            <a:r>
              <a:rPr lang="es-MX" sz="1600" dirty="0"/>
              <a:t>. </a:t>
            </a:r>
            <a:r>
              <a:rPr lang="es-MX" sz="1600" dirty="0" err="1"/>
              <a:t>us</a:t>
            </a:r>
            <a:r>
              <a:rPr lang="es-MX" sz="1600" dirty="0"/>
              <a:t>. es/archivos/sinergia/entregables/2013-2014/Grupo9/Grupo9Memoria1. </a:t>
            </a:r>
            <a:r>
              <a:rPr lang="es-MX" sz="1600" dirty="0" err="1"/>
              <a:t>pdf</a:t>
            </a:r>
            <a:r>
              <a:rPr lang="es-MX" sz="1600" dirty="0"/>
              <a:t> (Recuperado 04/07/2015), 2014.</a:t>
            </a:r>
          </a:p>
          <a:p>
            <a:pPr marL="342900" indent="-342900" algn="just">
              <a:buClr>
                <a:srgbClr val="C5AE76"/>
              </a:buClr>
              <a:buFont typeface="+mj-lt"/>
              <a:buAutoNum type="arabicPeriod"/>
            </a:pPr>
            <a:r>
              <a:rPr lang="en-US" sz="1600" dirty="0"/>
              <a:t>M. A. </a:t>
            </a:r>
            <a:r>
              <a:rPr lang="en-US" sz="1600" dirty="0" err="1"/>
              <a:t>Riheen</a:t>
            </a:r>
            <a:r>
              <a:rPr lang="en-US" sz="1600" dirty="0"/>
              <a:t>, M. W. Rahman y A. A. Hossain, “Selection of proper frequency </a:t>
            </a:r>
            <a:r>
              <a:rPr lang="en-US" sz="1600" dirty="0" err="1"/>
              <a:t>bandand</a:t>
            </a:r>
            <a:r>
              <a:rPr lang="en-US" sz="1600" dirty="0"/>
              <a:t> compatible features for left and right hand movement from EEG signal analysis”,en16th Int’l Conf. Computer and Information Technology, IEEE, 2014, </a:t>
            </a:r>
            <a:r>
              <a:rPr lang="en-US" sz="1600" dirty="0" err="1"/>
              <a:t>págs</a:t>
            </a:r>
            <a:r>
              <a:rPr lang="en-US" sz="1600" dirty="0"/>
              <a:t>. 272-277.</a:t>
            </a:r>
          </a:p>
        </p:txBody>
      </p:sp>
    </p:spTree>
    <p:extLst>
      <p:ext uri="{BB962C8B-B14F-4D97-AF65-F5344CB8AC3E}">
        <p14:creationId xmlns:p14="http://schemas.microsoft.com/office/powerpoint/2010/main" val="364231635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85FB5442-AF3B-4298-882B-9544852CF47F}"/>
              </a:ext>
            </a:extLst>
          </p:cNvPr>
          <p:cNvSpPr txBox="1"/>
          <p:nvPr/>
        </p:nvSpPr>
        <p:spPr>
          <a:xfrm>
            <a:off x="692457" y="1120676"/>
            <a:ext cx="10617694" cy="3046988"/>
          </a:xfrm>
          <a:prstGeom prst="rect">
            <a:avLst/>
          </a:prstGeom>
          <a:noFill/>
        </p:spPr>
        <p:txBody>
          <a:bodyPr wrap="square" rtlCol="0">
            <a:spAutoFit/>
          </a:bodyPr>
          <a:lstStyle/>
          <a:p>
            <a:pPr marL="342900" indent="-342900" algn="just">
              <a:buClr>
                <a:srgbClr val="C5AE76"/>
              </a:buClr>
              <a:buFont typeface="+mj-lt"/>
              <a:buAutoNum type="arabicPeriod" startAt="8"/>
            </a:pPr>
            <a:r>
              <a:rPr lang="es-MX" sz="1600" dirty="0"/>
              <a:t>D. M. B. </a:t>
            </a:r>
            <a:r>
              <a:rPr lang="es-MX" sz="1600" dirty="0" err="1"/>
              <a:t>Larrotta</a:t>
            </a:r>
            <a:r>
              <a:rPr lang="es-MX" sz="1600" dirty="0"/>
              <a:t>, “Aplicación de la transformada WAVELET en la </a:t>
            </a:r>
            <a:r>
              <a:rPr lang="es-MX" sz="1600" dirty="0" err="1"/>
              <a:t>descomposi-ción</a:t>
            </a:r>
            <a:r>
              <a:rPr lang="es-MX" sz="1600" dirty="0"/>
              <a:t> </a:t>
            </a:r>
            <a:r>
              <a:rPr lang="es-MX" sz="1600" dirty="0" err="1"/>
              <a:t>temporo</a:t>
            </a:r>
            <a:r>
              <a:rPr lang="es-MX" sz="1600" dirty="0"/>
              <a:t>-frecuencial de señales de </a:t>
            </a:r>
            <a:r>
              <a:rPr lang="es-MX" sz="1600" dirty="0" err="1"/>
              <a:t>electroencefalografıa</a:t>
            </a:r>
            <a:r>
              <a:rPr lang="es-MX" sz="1600" dirty="0"/>
              <a:t>”,Umbral </a:t>
            </a:r>
            <a:r>
              <a:rPr lang="es-MX" sz="1600" dirty="0" err="1"/>
              <a:t>Cientıfico</a:t>
            </a:r>
            <a:r>
              <a:rPr lang="es-MX" sz="1600" dirty="0"/>
              <a:t>, n.o3,págs. 82-86, 2003.</a:t>
            </a:r>
          </a:p>
          <a:p>
            <a:pPr marL="342900" indent="-342900" algn="just">
              <a:buClr>
                <a:srgbClr val="C5AE76"/>
              </a:buClr>
              <a:buFont typeface="+mj-lt"/>
              <a:buAutoNum type="arabicPeriod" startAt="8"/>
            </a:pPr>
            <a:r>
              <a:rPr lang="es-MX" sz="1600" dirty="0"/>
              <a:t>R. Hussein, H. </a:t>
            </a:r>
            <a:r>
              <a:rPr lang="es-MX" sz="1600" dirty="0" err="1"/>
              <a:t>Palangi</a:t>
            </a:r>
            <a:r>
              <a:rPr lang="es-MX" sz="1600" dirty="0"/>
              <a:t>, R. Ward y Z. J. Wang, “Epileptic </a:t>
            </a:r>
            <a:r>
              <a:rPr lang="es-MX" sz="1600" dirty="0" err="1"/>
              <a:t>seizure</a:t>
            </a:r>
            <a:r>
              <a:rPr lang="es-MX" sz="1600" dirty="0"/>
              <a:t> </a:t>
            </a:r>
            <a:r>
              <a:rPr lang="es-MX" sz="1600" dirty="0" err="1"/>
              <a:t>detection</a:t>
            </a:r>
            <a:r>
              <a:rPr lang="es-MX" sz="1600" dirty="0"/>
              <a:t>: A </a:t>
            </a:r>
            <a:r>
              <a:rPr lang="es-MX" sz="1600" dirty="0" err="1"/>
              <a:t>deeplearning</a:t>
            </a:r>
            <a:r>
              <a:rPr lang="es-MX" sz="1600" dirty="0"/>
              <a:t> </a:t>
            </a:r>
            <a:r>
              <a:rPr lang="es-MX" sz="1600" dirty="0" err="1"/>
              <a:t>approach</a:t>
            </a:r>
            <a:r>
              <a:rPr lang="es-MX" sz="1600" dirty="0"/>
              <a:t>”,</a:t>
            </a:r>
            <a:r>
              <a:rPr lang="es-MX" sz="1600" dirty="0" err="1"/>
              <a:t>arXiv</a:t>
            </a:r>
            <a:r>
              <a:rPr lang="es-MX" sz="1600" dirty="0"/>
              <a:t> </a:t>
            </a:r>
            <a:r>
              <a:rPr lang="es-MX" sz="1600" dirty="0" err="1"/>
              <a:t>preprint</a:t>
            </a:r>
            <a:r>
              <a:rPr lang="es-MX" sz="1600" dirty="0"/>
              <a:t> arXiv:1803.09848, 2018.</a:t>
            </a:r>
          </a:p>
          <a:p>
            <a:pPr marL="342900" indent="-342900" algn="just">
              <a:buClr>
                <a:srgbClr val="C5AE76"/>
              </a:buClr>
              <a:buFont typeface="+mj-lt"/>
              <a:buAutoNum type="arabicPeriod" startAt="8"/>
            </a:pPr>
            <a:r>
              <a:rPr lang="en-US" sz="1600" dirty="0"/>
              <a:t>A. H. </a:t>
            </a:r>
            <a:r>
              <a:rPr lang="en-US" sz="1600" dirty="0" err="1"/>
              <a:t>Shoeb</a:t>
            </a:r>
            <a:r>
              <a:rPr lang="en-US" sz="1600" dirty="0"/>
              <a:t>, “Application of machine learning to epileptic seizure onset detection </a:t>
            </a:r>
            <a:r>
              <a:rPr lang="en-US" sz="1600" dirty="0" err="1"/>
              <a:t>andtreatment</a:t>
            </a:r>
            <a:r>
              <a:rPr lang="en-US" sz="1600" dirty="0"/>
              <a:t>”, </a:t>
            </a:r>
            <a:r>
              <a:rPr lang="en-US" sz="1600" dirty="0" err="1"/>
              <a:t>Tesis</a:t>
            </a:r>
            <a:r>
              <a:rPr lang="en-US" sz="1600" dirty="0"/>
              <a:t> </a:t>
            </a:r>
            <a:r>
              <a:rPr lang="en-US" sz="1600" dirty="0" err="1"/>
              <a:t>doct</a:t>
            </a:r>
            <a:r>
              <a:rPr lang="en-US" sz="1600" dirty="0"/>
              <a:t>., Massachusetts Institute of Technology, 2009.</a:t>
            </a:r>
          </a:p>
          <a:p>
            <a:pPr marL="342900" indent="-342900" algn="just">
              <a:buClr>
                <a:srgbClr val="C5AE76"/>
              </a:buClr>
              <a:buFont typeface="+mj-lt"/>
              <a:buAutoNum type="arabicPeriod" startAt="8"/>
            </a:pPr>
            <a:r>
              <a:rPr lang="es-MX" sz="1600" dirty="0"/>
              <a:t>A. Boris Valiente, “Detección de crisis epilépticas en el dominio temporal a partir </a:t>
            </a:r>
            <a:r>
              <a:rPr lang="es-MX" sz="1600" dirty="0" err="1"/>
              <a:t>delEEG</a:t>
            </a:r>
            <a:r>
              <a:rPr lang="es-MX" sz="1600" dirty="0"/>
              <a:t> mediante </a:t>
            </a:r>
            <a:r>
              <a:rPr lang="es-MX" sz="1600" dirty="0" err="1"/>
              <a:t>SVMs</a:t>
            </a:r>
            <a:r>
              <a:rPr lang="es-MX" sz="1600" dirty="0"/>
              <a:t>”, Tesis de </a:t>
            </a:r>
            <a:r>
              <a:rPr lang="es-MX" sz="1600" dirty="0" err="1"/>
              <a:t>mtría</a:t>
            </a:r>
            <a:r>
              <a:rPr lang="es-MX" sz="1600" dirty="0"/>
              <a:t>., 2014.</a:t>
            </a:r>
          </a:p>
          <a:p>
            <a:pPr marL="342900" indent="-342900" algn="just">
              <a:buClr>
                <a:srgbClr val="C5AE76"/>
              </a:buClr>
              <a:buFont typeface="+mj-lt"/>
              <a:buAutoNum type="arabicPeriod" startAt="8"/>
            </a:pPr>
            <a:r>
              <a:rPr lang="en-US" sz="1600" dirty="0"/>
              <a:t>M. A. </a:t>
            </a:r>
            <a:r>
              <a:rPr lang="en-US" sz="1600" dirty="0" err="1"/>
              <a:t>Pinsky,Introduction</a:t>
            </a:r>
            <a:r>
              <a:rPr lang="en-US" sz="1600" dirty="0"/>
              <a:t> to Fourier analysis and wavelets. American </a:t>
            </a:r>
            <a:r>
              <a:rPr lang="en-US" sz="1600" dirty="0" err="1"/>
              <a:t>MathematicalSoc</a:t>
            </a:r>
            <a:r>
              <a:rPr lang="en-US" sz="1600" dirty="0"/>
              <a:t>., 2008, vol. 102.</a:t>
            </a:r>
          </a:p>
          <a:p>
            <a:pPr marL="342900" indent="-342900" algn="just">
              <a:buClr>
                <a:srgbClr val="C5AE76"/>
              </a:buClr>
              <a:buFont typeface="+mj-lt"/>
              <a:buAutoNum type="arabicPeriod" startAt="8"/>
            </a:pPr>
            <a:r>
              <a:rPr lang="es-MX" sz="1600" dirty="0"/>
              <a:t>A. Boris Valiente, “Detección de crisis epilépticas en el dominio temporal a partir </a:t>
            </a:r>
            <a:r>
              <a:rPr lang="es-MX" sz="1600" dirty="0" err="1"/>
              <a:t>delEEG</a:t>
            </a:r>
            <a:r>
              <a:rPr lang="es-MX" sz="1600" dirty="0"/>
              <a:t> mediante </a:t>
            </a:r>
            <a:r>
              <a:rPr lang="es-MX" sz="1600" dirty="0" err="1"/>
              <a:t>SVMs</a:t>
            </a:r>
            <a:r>
              <a:rPr lang="es-MX" sz="1600" dirty="0"/>
              <a:t>”, Tesis de </a:t>
            </a:r>
            <a:r>
              <a:rPr lang="es-MX" sz="1600" dirty="0" err="1"/>
              <a:t>mtría</a:t>
            </a:r>
            <a:r>
              <a:rPr lang="es-MX" sz="1600" dirty="0"/>
              <a:t>. 2014.</a:t>
            </a:r>
          </a:p>
          <a:p>
            <a:pPr marL="342900" indent="-342900" algn="just">
              <a:buClr>
                <a:srgbClr val="C5AE76"/>
              </a:buClr>
              <a:buFont typeface="+mj-lt"/>
              <a:buAutoNum type="arabicPeriod" startAt="8"/>
            </a:pPr>
            <a:endParaRPr lang="es-MX" sz="1600" dirty="0"/>
          </a:p>
        </p:txBody>
      </p:sp>
    </p:spTree>
    <p:extLst>
      <p:ext uri="{BB962C8B-B14F-4D97-AF65-F5344CB8AC3E}">
        <p14:creationId xmlns:p14="http://schemas.microsoft.com/office/powerpoint/2010/main" val="91098498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theme/theme1.xml><?xml version="1.0" encoding="utf-8"?>
<a:theme xmlns:a="http://schemas.openxmlformats.org/drawingml/2006/main" name="RetrospectVTI">
  <a:themeElements>
    <a:clrScheme name="GOLD AND SILVER">
      <a:dk1>
        <a:srgbClr val="000000"/>
      </a:dk1>
      <a:lt1>
        <a:srgbClr val="FFFFFF"/>
      </a:lt1>
      <a:dk2>
        <a:srgbClr val="464646"/>
      </a:dk2>
      <a:lt2>
        <a:srgbClr val="FFFFFF"/>
      </a:lt2>
      <a:accent1>
        <a:srgbClr val="C4AE75"/>
      </a:accent1>
      <a:accent2>
        <a:srgbClr val="A9A9A9"/>
      </a:accent2>
      <a:accent3>
        <a:srgbClr val="5E5E5E"/>
      </a:accent3>
      <a:accent4>
        <a:srgbClr val="424242"/>
      </a:accent4>
      <a:accent5>
        <a:srgbClr val="212121"/>
      </a:accent5>
      <a:accent6>
        <a:srgbClr val="D5D5D5"/>
      </a:accent6>
      <a:hlink>
        <a:srgbClr val="C1AA73"/>
      </a:hlink>
      <a:folHlink>
        <a:srgbClr val="797979"/>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2167631_TF11344857.potx" id="{E659DC16-1B5D-4CD1-A5C9-095DB0637CEF}" vid="{85785EF8-3FEB-46B0-9A4C-2437F9E878F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5091D319A82134AA2E2B9FD82869BBE" ma:contentTypeVersion="13" ma:contentTypeDescription="Crear nuevo documento." ma:contentTypeScope="" ma:versionID="238728437cfaea1b883db63075b0fa1a">
  <xsd:schema xmlns:xsd="http://www.w3.org/2001/XMLSchema" xmlns:xs="http://www.w3.org/2001/XMLSchema" xmlns:p="http://schemas.microsoft.com/office/2006/metadata/properties" xmlns:ns2="5c47d91b-9488-4cc1-842b-d3495bf04066" xmlns:ns3="df21d786-5df2-4083-b6f7-f720d842ee96" targetNamespace="http://schemas.microsoft.com/office/2006/metadata/properties" ma:root="true" ma:fieldsID="c2e02384ae835d5deca3192793dcc5c0" ns2:_="" ns3:_="">
    <xsd:import namespace="5c47d91b-9488-4cc1-842b-d3495bf04066"/>
    <xsd:import namespace="df21d786-5df2-4083-b6f7-f720d842ee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47d91b-9488-4cc1-842b-d3495bf040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Etiquetas de imagen" ma:readOnly="false" ma:fieldId="{5cf76f15-5ced-4ddc-b409-7134ff3c332f}" ma:taxonomyMulti="true" ma:sspId="f7c356b9-167f-4a86-8a66-99a7d15daff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21d786-5df2-4083-b6f7-f720d842ee9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474d5c59-c55b-4de7-b237-175fda1958fd}" ma:internalName="TaxCatchAll" ma:showField="CatchAllData" ma:web="df21d786-5df2-4083-b6f7-f720d842ee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c47d91b-9488-4cc1-842b-d3495bf04066">
      <Terms xmlns="http://schemas.microsoft.com/office/infopath/2007/PartnerControls"/>
    </lcf76f155ced4ddcb4097134ff3c332f>
    <TaxCatchAll xmlns="df21d786-5df2-4083-b6f7-f720d842ee96" xsi:nil="true"/>
  </documentManagement>
</p:properties>
</file>

<file path=customXml/itemProps1.xml><?xml version="1.0" encoding="utf-8"?>
<ds:datastoreItem xmlns:ds="http://schemas.openxmlformats.org/officeDocument/2006/customXml" ds:itemID="{B5AA5157-7FEE-477C-A777-C1A3CCD0E73A}"/>
</file>

<file path=customXml/itemProps2.xml><?xml version="1.0" encoding="utf-8"?>
<ds:datastoreItem xmlns:ds="http://schemas.openxmlformats.org/officeDocument/2006/customXml" ds:itemID="{EC4018BC-84CE-406A-940D-58DD3411D9F9}"/>
</file>

<file path=customXml/itemProps3.xml><?xml version="1.0" encoding="utf-8"?>
<ds:datastoreItem xmlns:ds="http://schemas.openxmlformats.org/officeDocument/2006/customXml" ds:itemID="{D27E237F-C1AB-4A02-8338-F1734072947B}"/>
</file>

<file path=docProps/app.xml><?xml version="1.0" encoding="utf-8"?>
<Properties xmlns="http://schemas.openxmlformats.org/officeDocument/2006/extended-properties" xmlns:vt="http://schemas.openxmlformats.org/officeDocument/2006/docPropsVTypes">
  <Template>TM03457515[[fn=Vista]]</Template>
  <TotalTime>14100</TotalTime>
  <Words>4181</Words>
  <Application>Microsoft Office PowerPoint</Application>
  <PresentationFormat>Panorámica</PresentationFormat>
  <Paragraphs>297</Paragraphs>
  <Slides>28</Slides>
  <Notes>23</Notes>
  <HiddenSlides>1</HiddenSlides>
  <MMClips>1</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28</vt:i4>
      </vt:variant>
    </vt:vector>
  </HeadingPairs>
  <TitlesOfParts>
    <vt:vector size="35" baseType="lpstr">
      <vt:lpstr>Abadi Extra Light</vt:lpstr>
      <vt:lpstr>Arial</vt:lpstr>
      <vt:lpstr>Calibri</vt:lpstr>
      <vt:lpstr>Cambria Math</vt:lpstr>
      <vt:lpstr>Garamond</vt:lpstr>
      <vt:lpstr>Wingdings</vt:lpstr>
      <vt:lpstr>RetrospectVTI</vt:lpstr>
      <vt:lpstr>Análisis y Reconocimiento de Patrones de Señales  Biomédicas de Pacientes  con Epilepsia</vt:lpstr>
      <vt:lpstr>Problemática</vt:lpstr>
      <vt:lpstr>Objetivo General</vt:lpstr>
      <vt:lpstr>Presentación de PowerPoint</vt:lpstr>
      <vt:lpstr>Introducción</vt:lpstr>
      <vt:lpstr>Introducción</vt:lpstr>
      <vt:lpstr>Introducción</vt:lpstr>
      <vt:lpstr>Presentación de PowerPoint</vt:lpstr>
      <vt:lpstr>Aprendizaje Supervisado: Clasificadores Binarios</vt:lpstr>
      <vt:lpstr>Aprendizaje Supervisado: Algoritmos de Clasificación</vt:lpstr>
      <vt:lpstr>Diseño Experimental</vt:lpstr>
      <vt:lpstr>Extracción de Características</vt:lpstr>
      <vt:lpstr>Transformada Wavelet  Discreta, DWT</vt:lpstr>
      <vt:lpstr>DWT: Árbol de descomposición</vt:lpstr>
      <vt:lpstr>Diseño Experimental</vt:lpstr>
      <vt:lpstr>SVM</vt:lpstr>
      <vt:lpstr>Rendimiento de Clasificadores</vt:lpstr>
      <vt:lpstr>Presentación de PowerPoint</vt:lpstr>
      <vt:lpstr>Resultados</vt:lpstr>
      <vt:lpstr>Herramienta de Software  Epileptic EEG Analysis Toolbox  </vt:lpstr>
      <vt:lpstr>Herramienta de Software  Epileptic EEG Analysis Toolbox  </vt:lpstr>
      <vt:lpstr>Herramienta de Software  Epileptic EEG Analysis Toolbox  </vt:lpstr>
      <vt:lpstr>Aprendizaje No Supervisado: Pruebas Preliminares</vt:lpstr>
      <vt:lpstr>Conclusiones</vt:lpstr>
      <vt:lpstr>Recomendaciones</vt:lpstr>
      <vt:lpstr>Demostración </vt:lpstr>
      <vt:lpstr>Referencias Bibliográficas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y Reconocimiento de Patrones de Señales  Biomédicas de Pacientes  con Epilepsia</dc:title>
  <dc:creator>María Angulo</dc:creator>
  <cp:lastModifiedBy>María Angulo</cp:lastModifiedBy>
  <cp:revision>32</cp:revision>
  <dcterms:created xsi:type="dcterms:W3CDTF">2020-12-10T16:57:01Z</dcterms:created>
  <dcterms:modified xsi:type="dcterms:W3CDTF">2021-01-18T19:23:57Z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3" name="ContentTypeId">
    <vt:lpwstr>0x01010055091D319A82134AA2E2B9FD82869BBE</vt:lpwstr>
  </property>
</Properties>
</file>